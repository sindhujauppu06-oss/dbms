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3e31ab4-6e7c-bc5e-5115-a1a5c9b932a3}">
          <p14:sldIdLst>
            <p14:sldId id="256"/>
            <p14:sldId id="257"/>
          </p14:sldIdLst>
        </p14:section>
        <p14:section name="Criterion 1 - Novelty" id="{a244821f-4887-6175-b9d6-7fd938af62d1}">
          <p14:sldIdLst>
            <p14:sldId id="258"/>
            <p14:sldId id="259"/>
          </p14:sldIdLst>
        </p14:section>
        <p14:section name="Criterion 2 - Adaptability" id="{65308c47-66c8-9f87-336e-0faa9241e890}">
          <p14:sldIdLst>
            <p14:sldId id="260"/>
            <p14:sldId id="261"/>
          </p14:sldIdLst>
        </p14:section>
        <p14:section name="Criterion 3 - Evaluation" id="{897aa292-277c-14d1-6085-de422d44e341}">
          <p14:sldIdLst>
            <p14:sldId id="262"/>
            <p14:sldId id="263"/>
            <p14:sldId id="264"/>
          </p14:sldIdLst>
        </p14:section>
        <p14:section name="Criterion 4 - Dissemination and Accessibility" id="{ec75d931-d08b-e421-f11d-8dfaefe86792}">
          <p14:sldIdLst>
            <p14:sldId id="265"/>
            <p14:sldId id="266"/>
          </p14:sldIdLst>
        </p14:section>
        <p14:section name="Criterion 5 - Presentation" id="{703012af-04c2-c10b-b5a4-5b337d0d2175}">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Review 3 for DockFlow. We present our methodology, how it can adapt, how we evaluate it, and how it is shared and made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our slides to the five criteria of the Review 3 marking scheme. Numbers in square brackets follow the reference list from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has five steps. First we classify each kind of data by its job. Then we pick the store that suits it: MySQL for stock and orders, MongoDB for delivery updates. Kafka connects the services with events. We build one staff website and then evaluate. Reference numbers follow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systems keep everything in one database and connect modules directly. Our method assigns each kind of data to the store that suits it, and connects services with events. The novelty is this combination for a clothing warehouse and its deliveries, which is the gap we identified in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each store and service has a narrow job, change stays local. A new category touches stock data. New delivery fields go into the flexible MongoDB records. A courier GPS feed, which is a future improvement, would enter as new events. These scenarios come from our design reasoning and have not yet been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 has costs. Three tools are more work than one. Data sits in two stores. Kafka can deliver an event twice, so updates must be safe to repeat. And GPS and payments are not part of this project. We accept these costs for a better fit per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 with five measures: functional correctness, data consistency, performance, event flow and usability. Each one checks a claim our methodology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objectives from Review 1 are implemented in our working course project. The limits are real courier GPS, payments, CI/CD and full C4 diagrams, which are future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holds our measured results for the five measures. Fill the last column with your own test results before presenting, and adjust the suggested targets if your supervisor sets different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DockFlow runs in a web browser, so staff need no installation. The workflow is three main tasks, and clothes are organised by category, size, color and location. The improvements in the bottom strip are suggestions for making it more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faculty, the demo and review slides are ready. The other channels are planned: a class demo, a code repository with a README and setup guide, and a short report or poster. Full C4 diagrams will help every audience understand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our methodology is novel in how it assigns data to stores, it adapts to change locally, it has a clear evaluation framework, and it is accessible and shareable.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cited in this review. Numbers match the full list from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1143000"/>
          </a:xfrm>
          <a:prstGeom prst="rect">
            <a:avLst/>
          </a:prstGeom>
          <a:noFill/>
          <a:ln/>
        </p:spPr>
        <p:txBody>
          <a:bodyPr wrap="square" rtlCol="0"/>
          <a:lstStyle>
            <a:lvl1pPr algn="l" indent="0" marL="0">
              <a:buNone/>
              <a:defRPr lang="en-US" sz="6200" b="1" dirty="0">
                <a:solidFill>
                  <a:schemeClr val="bg1"/>
                </a:solidFill>
              </a:defRPr>
            </a:lvl1pPr>
          </a:lstStyle>
          <a:p>
            <a:pPr algn="l" indent="0" marL="0">
              <a:buNone/>
            </a:pPr>
            <a:endParaRPr lang="en-US" sz="6200" dirty="0"/>
          </a:p>
        </p:txBody>
      </p:sp>
      <p:sp>
        <p:nvSpPr>
          <p:cNvPr id="3" name="Text 0"/>
          <p:cNvSpPr/>
          <p:nvPr>
            <p:ph idx="101" type="body" hasCustomPrompt="1"/>
          </p:nvPr>
        </p:nvSpPr>
        <p:spPr>
          <a:xfrm>
            <a:off x="731520" y="3017520"/>
            <a:ext cx="6583680" cy="822960"/>
          </a:xfrm>
          <a:prstGeom prst="rect">
            <a:avLst/>
          </a:prstGeom>
          <a:noFill/>
          <a:ln/>
        </p:spPr>
        <p:txBody>
          <a:bodyPr wrap="square" rtlCol="0"/>
          <a:lstStyle>
            <a:lvl1pPr algn="l" indent="0" marL="0">
              <a:buNone/>
              <a:defRPr lang="en-US" sz="2200" dirty="0">
                <a:solidFill>
                  <a:schemeClr val="accent4"/>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9436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DockFlow  |  Sec-13, Team-14  |  Database Systems Engineering  |  Review 3: Methodology &amp; Evaluation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94360"/>
            <a:ext cx="110642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DockFlow  |  Sec-13, Team-14  |  Database Systems Engineering  |  Review 3: Methodology &amp; Evaluation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280160"/>
            <a:ext cx="6858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DATABASE SYSTEMS ENGINEERING  |  REVIEW 3</a:t>
            </a:r>
            <a:endParaRPr lang="en-US" sz="1200" dirty="0"/>
          </a:p>
        </p:txBody>
      </p:sp>
      <p:sp>
        <p:nvSpPr>
          <p:cNvPr id="3" name="Text 0"/>
          <p:cNvSpPr/>
          <p:nvPr>
            <p:ph idx="100" type="title" hasCustomPrompt="1"/>
          </p:nvPr>
        </p:nvSpPr>
        <p:spPr>
          <a:xfrm>
            <a:off x="731520" y="1828800"/>
            <a:ext cx="6583680" cy="1143000"/>
          </a:xfrm>
          <a:prstGeom prst="rect">
            <a:avLst/>
          </a:prstGeom>
          <a:noFill/>
          <a:ln/>
        </p:spPr>
        <p:txBody>
          <a:bodyPr wrap="square" lIns="0" tIns="0" rIns="0" bIns="0" rtlCol="0" anchor="ctr"/>
          <a:lstStyle/>
          <a:p>
            <a:pPr algn="l" indent="0" marL="0">
              <a:buNone/>
            </a:pPr>
            <a:r>
              <a:rPr lang="en-US" sz="6200" b="1" dirty="0">
                <a:solidFill>
                  <a:schemeClr val="bg1"/>
                </a:solidFill>
              </a:rPr>
              <a:t>DockFlow</a:t>
            </a:r>
            <a:endParaRPr lang="en-US" sz="6200" dirty="0"/>
          </a:p>
        </p:txBody>
      </p:sp>
      <p:sp>
        <p:nvSpPr>
          <p:cNvPr id="4" name="Text 0"/>
          <p:cNvSpPr/>
          <p:nvPr>
            <p:ph idx="101" type="body" hasCustomPrompt="1"/>
          </p:nvPr>
        </p:nvSpPr>
        <p:spPr>
          <a:xfrm>
            <a:off x="731520" y="3017520"/>
            <a:ext cx="6583680" cy="822960"/>
          </a:xfrm>
          <a:prstGeom prst="rect">
            <a:avLst/>
          </a:prstGeom>
          <a:noFill/>
          <a:ln/>
        </p:spPr>
        <p:txBody>
          <a:bodyPr wrap="square" lIns="0" tIns="0" rIns="0" bIns="0" rtlCol="0" anchor="t"/>
          <a:lstStyle/>
          <a:p>
            <a:pPr algn="l" indent="0" marL="0">
              <a:buNone/>
            </a:pPr>
            <a:r>
              <a:rPr lang="en-US" sz="2200" dirty="0">
                <a:solidFill>
                  <a:schemeClr val="accent4"/>
                </a:solidFill>
              </a:rPr>
              <a:t>Methodology and Evaluation</a:t>
            </a:r>
            <a:endParaRPr lang="en-US" sz="2200" dirty="0"/>
          </a:p>
        </p:txBody>
      </p:sp>
      <p:sp>
        <p:nvSpPr>
          <p:cNvPr id="5" name="Text 3"/>
          <p:cNvSpPr txBox="1"/>
          <p:nvPr/>
        </p:nvSpPr>
        <p:spPr>
          <a:xfrm>
            <a:off x="731520" y="3657600"/>
            <a:ext cx="6400800" cy="365760"/>
          </a:xfrm>
          <a:prstGeom prst="rect">
            <a:avLst/>
          </a:prstGeom>
          <a:noFill/>
          <a:ln/>
        </p:spPr>
        <p:txBody>
          <a:bodyPr wrap="square" lIns="0" tIns="0" rIns="0" bIns="0" rtlCol="0" anchor="ctr"/>
          <a:lstStyle/>
          <a:p>
            <a:pPr indent="0" marL="0">
              <a:buNone/>
            </a:pPr>
            <a:r>
              <a:rPr lang="en-US" sz="1600" i="1" dirty="0">
                <a:solidFill>
                  <a:schemeClr val="accent5"/>
                </a:solidFill>
              </a:rPr>
              <a:t>Clothing Warehouse &amp; Delivery Management System</a:t>
            </a:r>
            <a:endParaRPr lang="en-US" sz="1600" dirty="0"/>
          </a:p>
        </p:txBody>
      </p:sp>
      <p:sp>
        <p:nvSpPr>
          <p:cNvPr id="6" name="Text 4"/>
          <p:cNvSpPr txBox="1"/>
          <p:nvPr/>
        </p:nvSpPr>
        <p:spPr>
          <a:xfrm>
            <a:off x="731520" y="4846320"/>
            <a:ext cx="6858000" cy="1005840"/>
          </a:xfrm>
          <a:prstGeom prst="rect">
            <a:avLst/>
          </a:prstGeom>
          <a:noFill/>
          <a:ln/>
        </p:spPr>
        <p:txBody>
          <a:bodyPr wrap="square" lIns="0" tIns="0" rIns="0" bIns="0" rtlCol="0" anchor="ctr"/>
          <a:lstStyle/>
          <a:p>
            <a:pPr indent="0" marL="0">
              <a:spcAft>
                <a:spcPts val="400"/>
              </a:spcAft>
              <a:buNone/>
            </a:pPr>
            <a:r>
              <a:rPr lang="en-US" sz="1500" b="1" dirty="0">
                <a:solidFill>
                  <a:schemeClr val="bg1"/>
                </a:solidFill>
              </a:rPr>
              <a:t>Sec No-13  |  Team No-14</a:t>
            </a:r>
            <a:endParaRPr lang="en-US" sz="1500" dirty="0"/>
          </a:p>
          <a:p>
            <a:pPr indent="0" marL="0">
              <a:spcAft>
                <a:spcPts val="400"/>
              </a:spcAft>
              <a:buNone/>
            </a:pPr>
            <a:r>
              <a:rPr lang="en-US" sz="1400" dirty="0">
                <a:solidFill>
                  <a:schemeClr val="accent4"/>
                </a:solidFill>
              </a:rPr>
              <a:t>U. Sindhuja  •  P. Bhagya Sri  •  S. Rishitha Reddy</a:t>
            </a:r>
            <a:endParaRPr lang="en-US" sz="1500" dirty="0"/>
          </a:p>
          <a:p>
            <a:pPr indent="0" marL="0">
              <a:spcAft>
                <a:spcPts val="400"/>
              </a:spcAft>
              <a:buNone/>
            </a:pPr>
            <a:r>
              <a:rPr lang="en-US" sz="1200" dirty="0">
                <a:solidFill>
                  <a:schemeClr val="accent5"/>
                </a:solidFill>
              </a:rPr>
              <a:t>Guided by Dr. M. Gayatri  |  Koneru Lakshmaiah Education Foundation</a:t>
            </a:r>
            <a:endParaRPr lang="en-US" sz="1500" dirty="0"/>
          </a:p>
        </p:txBody>
      </p:sp>
      <p:sp>
        <p:nvSpPr>
          <p:cNvPr id="7" name="Tile 1"/>
          <p:cNvSpPr/>
          <p:nvPr/>
        </p:nvSpPr>
        <p:spPr>
          <a:xfrm>
            <a:off x="8138160" y="1371600"/>
            <a:ext cx="1371600" cy="1371600"/>
          </a:xfrm>
          <a:prstGeom prst="roundRect">
            <a:avLst>
              <a:gd name="adj" fmla="val 6667"/>
            </a:avLst>
          </a:prstGeom>
          <a:solidFill>
            <a:schemeClr val="tx2"/>
          </a:solidFill>
          <a:ln w="12700">
            <a:solidFill>
              <a:schemeClr val="tx2"/>
            </a:solidFill>
            <a:prstDash val="solid"/>
          </a:ln>
        </p:spPr>
      </p:sp>
      <p:pic>
        <p:nvPicPr>
          <p:cNvPr id="8" name="Image 0" descr="FaProjectDiagram">    </p:cNvPr>
          <p:cNvPicPr>
            <a:picLocks noChangeAspect="1"/>
          </p:cNvPicPr>
          <p:nvPr/>
        </p:nvPicPr>
        <p:blipFill>
          <a:blip r:embed="rId1"/>
          <a:stretch>
            <a:fillRect/>
          </a:stretch>
        </p:blipFill>
        <p:spPr>
          <a:xfrm>
            <a:off x="8549640" y="1783080"/>
            <a:ext cx="548640" cy="548640"/>
          </a:xfrm>
          <a:prstGeom prst="rect">
            <a:avLst/>
          </a:prstGeom>
        </p:spPr>
      </p:pic>
      <p:sp>
        <p:nvSpPr>
          <p:cNvPr id="9" name="Tile 2"/>
          <p:cNvSpPr/>
          <p:nvPr/>
        </p:nvSpPr>
        <p:spPr>
          <a:xfrm>
            <a:off x="9738360" y="1371600"/>
            <a:ext cx="1371600" cy="1371600"/>
          </a:xfrm>
          <a:prstGeom prst="roundRect">
            <a:avLst>
              <a:gd name="adj" fmla="val 6667"/>
            </a:avLst>
          </a:prstGeom>
          <a:solidFill>
            <a:schemeClr val="tx2"/>
          </a:solidFill>
          <a:ln w="12700">
            <a:solidFill>
              <a:schemeClr val="tx2"/>
            </a:solidFill>
            <a:prstDash val="solid"/>
          </a:ln>
        </p:spPr>
      </p:sp>
      <p:pic>
        <p:nvPicPr>
          <p:cNvPr id="10" name="Image 1" descr="FaDatabase">    </p:cNvPr>
          <p:cNvPicPr>
            <a:picLocks noChangeAspect="1"/>
          </p:cNvPicPr>
          <p:nvPr/>
        </p:nvPicPr>
        <p:blipFill>
          <a:blip r:embed="rId2"/>
          <a:stretch>
            <a:fillRect/>
          </a:stretch>
        </p:blipFill>
        <p:spPr>
          <a:xfrm>
            <a:off x="10149840" y="1783080"/>
            <a:ext cx="548640" cy="548640"/>
          </a:xfrm>
          <a:prstGeom prst="rect">
            <a:avLst/>
          </a:prstGeom>
        </p:spPr>
      </p:pic>
      <p:sp>
        <p:nvSpPr>
          <p:cNvPr id="11" name="Tile 3"/>
          <p:cNvSpPr/>
          <p:nvPr/>
        </p:nvSpPr>
        <p:spPr>
          <a:xfrm>
            <a:off x="8138160" y="2971800"/>
            <a:ext cx="1371600" cy="1371600"/>
          </a:xfrm>
          <a:prstGeom prst="roundRect">
            <a:avLst>
              <a:gd name="adj" fmla="val 6667"/>
            </a:avLst>
          </a:prstGeom>
          <a:solidFill>
            <a:schemeClr val="tx2"/>
          </a:solidFill>
          <a:ln w="12700">
            <a:solidFill>
              <a:schemeClr val="tx2"/>
            </a:solidFill>
            <a:prstDash val="solid"/>
          </a:ln>
        </p:spPr>
      </p:sp>
      <p:pic>
        <p:nvPicPr>
          <p:cNvPr id="12" name="Image 2" descr="FaStream">    </p:cNvPr>
          <p:cNvPicPr>
            <a:picLocks noChangeAspect="1"/>
          </p:cNvPicPr>
          <p:nvPr/>
        </p:nvPicPr>
        <p:blipFill>
          <a:blip r:embed="rId3"/>
          <a:stretch>
            <a:fillRect/>
          </a:stretch>
        </p:blipFill>
        <p:spPr>
          <a:xfrm>
            <a:off x="8549640" y="3383280"/>
            <a:ext cx="548640" cy="548640"/>
          </a:xfrm>
          <a:prstGeom prst="rect">
            <a:avLst/>
          </a:prstGeom>
        </p:spPr>
      </p:pic>
      <p:sp>
        <p:nvSpPr>
          <p:cNvPr id="13" name="Tile 4"/>
          <p:cNvSpPr/>
          <p:nvPr/>
        </p:nvSpPr>
        <p:spPr>
          <a:xfrm>
            <a:off x="9738360" y="2971800"/>
            <a:ext cx="1371600" cy="1371600"/>
          </a:xfrm>
          <a:prstGeom prst="roundRect">
            <a:avLst>
              <a:gd name="adj" fmla="val 6667"/>
            </a:avLst>
          </a:prstGeom>
          <a:solidFill>
            <a:schemeClr val="tx2"/>
          </a:solidFill>
          <a:ln w="12700">
            <a:solidFill>
              <a:schemeClr val="tx2"/>
            </a:solidFill>
            <a:prstDash val="solid"/>
          </a:ln>
        </p:spPr>
      </p:sp>
      <p:pic>
        <p:nvPicPr>
          <p:cNvPr id="14" name="Image 3" descr="FaLaptopCode">    </p:cNvPr>
          <p:cNvPicPr>
            <a:picLocks noChangeAspect="1"/>
          </p:cNvPicPr>
          <p:nvPr/>
        </p:nvPicPr>
        <p:blipFill>
          <a:blip r:embed="rId4"/>
          <a:stretch>
            <a:fillRect/>
          </a:stretch>
        </p:blipFill>
        <p:spPr>
          <a:xfrm>
            <a:off x="10149840" y="3383280"/>
            <a:ext cx="548640" cy="548640"/>
          </a:xfrm>
          <a:prstGeom prst="rect">
            <a:avLst/>
          </a:prstGeom>
        </p:spPr>
      </p:pic>
      <p:sp>
        <p:nvSpPr>
          <p:cNvPr id="15" name="Tile 5"/>
          <p:cNvSpPr/>
          <p:nvPr/>
        </p:nvSpPr>
        <p:spPr>
          <a:xfrm>
            <a:off x="8138160" y="4572000"/>
            <a:ext cx="1371600" cy="1371600"/>
          </a:xfrm>
          <a:prstGeom prst="roundRect">
            <a:avLst>
              <a:gd name="adj" fmla="val 6667"/>
            </a:avLst>
          </a:prstGeom>
          <a:solidFill>
            <a:schemeClr val="tx2"/>
          </a:solidFill>
          <a:ln w="12700">
            <a:solidFill>
              <a:schemeClr val="tx2"/>
            </a:solidFill>
            <a:prstDash val="solid"/>
          </a:ln>
        </p:spPr>
      </p:sp>
      <p:pic>
        <p:nvPicPr>
          <p:cNvPr id="16" name="Image 4" descr="FaClipboardCheck">    </p:cNvPr>
          <p:cNvPicPr>
            <a:picLocks noChangeAspect="1"/>
          </p:cNvPicPr>
          <p:nvPr/>
        </p:nvPicPr>
        <p:blipFill>
          <a:blip r:embed="rId5"/>
          <a:stretch>
            <a:fillRect/>
          </a:stretch>
        </p:blipFill>
        <p:spPr>
          <a:xfrm>
            <a:off x="8549640" y="4983480"/>
            <a:ext cx="548640" cy="548640"/>
          </a:xfrm>
          <a:prstGeom prst="rect">
            <a:avLst/>
          </a:prstGeom>
        </p:spPr>
      </p:pic>
      <p:sp>
        <p:nvSpPr>
          <p:cNvPr id="17" name="Tile 6"/>
          <p:cNvSpPr/>
          <p:nvPr/>
        </p:nvSpPr>
        <p:spPr>
          <a:xfrm>
            <a:off x="9738360" y="4572000"/>
            <a:ext cx="1371600" cy="1371600"/>
          </a:xfrm>
          <a:prstGeom prst="roundRect">
            <a:avLst>
              <a:gd name="adj" fmla="val 6667"/>
            </a:avLst>
          </a:prstGeom>
          <a:solidFill>
            <a:schemeClr val="tx2"/>
          </a:solidFill>
          <a:ln w="12700">
            <a:solidFill>
              <a:schemeClr val="tx2"/>
            </a:solidFill>
            <a:prstDash val="solid"/>
          </a:ln>
        </p:spPr>
      </p:sp>
      <p:pic>
        <p:nvPicPr>
          <p:cNvPr id="18" name="Image 5" descr="FaShareAlt">    </p:cNvPr>
          <p:cNvPicPr>
            <a:picLocks noChangeAspect="1"/>
          </p:cNvPicPr>
          <p:nvPr/>
        </p:nvPicPr>
        <p:blipFill>
          <a:blip r:embed="rId6"/>
          <a:stretch>
            <a:fillRect/>
          </a:stretch>
        </p:blipFill>
        <p:spPr>
          <a:xfrm>
            <a:off x="10149840" y="498348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REVIEW 3  ·  PRESENTATION ROADMAP</a:t>
            </a:r>
            <a:endParaRPr lang="en-US" sz="1100" dirty="0"/>
          </a:p>
        </p:txBody>
      </p:sp>
      <p:sp>
        <p:nvSpPr>
          <p:cNvPr id="3"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How this review covers every criterion</a:t>
            </a:r>
            <a:endParaRPr lang="en-US" sz="3200" dirty="0"/>
          </a:p>
        </p:txBody>
      </p:sp>
      <p:sp>
        <p:nvSpPr>
          <p:cNvPr id="4" name="Criterion 1"/>
          <p:cNvSpPr/>
          <p:nvPr/>
        </p:nvSpPr>
        <p:spPr>
          <a:xfrm>
            <a:off x="54864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5" name="Novelty of Developed Methodology circle"/>
          <p:cNvSpPr/>
          <p:nvPr/>
        </p:nvSpPr>
        <p:spPr>
          <a:xfrm>
            <a:off x="1188720" y="1828800"/>
            <a:ext cx="777240" cy="777240"/>
          </a:xfrm>
          <a:prstGeom prst="ellipse">
            <a:avLst/>
          </a:prstGeom>
          <a:solidFill>
            <a:schemeClr val="tx1"/>
          </a:solidFill>
          <a:ln w="12700">
            <a:solidFill>
              <a:schemeClr val="tx1"/>
            </a:solidFill>
            <a:prstDash val="solid"/>
          </a:ln>
        </p:spPr>
      </p:sp>
      <p:pic>
        <p:nvPicPr>
          <p:cNvPr id="6" name="Image 0" descr="Novelty of Developed Methodology icon">    </p:cNvPr>
          <p:cNvPicPr>
            <a:picLocks noChangeAspect="1"/>
          </p:cNvPicPr>
          <p:nvPr/>
        </p:nvPicPr>
        <p:blipFill>
          <a:blip r:embed="rId1"/>
          <a:stretch>
            <a:fillRect/>
          </a:stretch>
        </p:blipFill>
        <p:spPr>
          <a:xfrm>
            <a:off x="1359713" y="1999793"/>
            <a:ext cx="435254" cy="435254"/>
          </a:xfrm>
          <a:prstGeom prst="rect">
            <a:avLst/>
          </a:prstGeom>
        </p:spPr>
      </p:pic>
      <p:sp>
        <p:nvSpPr>
          <p:cNvPr id="7" name="Text 4"/>
          <p:cNvSpPr txBox="1"/>
          <p:nvPr/>
        </p:nvSpPr>
        <p:spPr>
          <a:xfrm>
            <a:off x="685800" y="2743200"/>
            <a:ext cx="1783080" cy="777240"/>
          </a:xfrm>
          <a:prstGeom prst="rect">
            <a:avLst/>
          </a:prstGeom>
          <a:noFill/>
          <a:ln/>
        </p:spPr>
        <p:txBody>
          <a:bodyPr wrap="square" lIns="0" tIns="0" rIns="0" bIns="0" rtlCol="0" anchor="t"/>
          <a:lstStyle/>
          <a:p>
            <a:pPr algn="ctr" indent="0" marL="0">
              <a:buNone/>
            </a:pPr>
            <a:r>
              <a:rPr lang="en-US" sz="1500" b="1" dirty="0">
                <a:solidFill>
                  <a:schemeClr val="tx1"/>
                </a:solidFill>
              </a:rPr>
              <a:t>Novelty of Developed Methodology</a:t>
            </a:r>
            <a:endParaRPr lang="en-US" sz="1500" dirty="0"/>
          </a:p>
        </p:txBody>
      </p:sp>
      <p:sp>
        <p:nvSpPr>
          <p:cNvPr id="8" name="Text 5"/>
          <p:cNvSpPr txBox="1"/>
          <p:nvPr/>
        </p:nvSpPr>
        <p:spPr>
          <a:xfrm>
            <a:off x="731520" y="352044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9" name="Text 6"/>
          <p:cNvSpPr txBox="1"/>
          <p:nvPr/>
        </p:nvSpPr>
        <p:spPr>
          <a:xfrm>
            <a:off x="731520" y="406908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10" name="Text 7"/>
          <p:cNvSpPr txBox="1"/>
          <p:nvPr/>
        </p:nvSpPr>
        <p:spPr>
          <a:xfrm>
            <a:off x="73152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3-4</a:t>
            </a:r>
            <a:endParaRPr lang="en-US" sz="1300" dirty="0"/>
          </a:p>
        </p:txBody>
      </p:sp>
      <p:sp>
        <p:nvSpPr>
          <p:cNvPr id="11" name="Text 8"/>
          <p:cNvSpPr txBox="1"/>
          <p:nvPr/>
        </p:nvSpPr>
        <p:spPr>
          <a:xfrm>
            <a:off x="73152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Our method and what is new in it</a:t>
            </a:r>
            <a:endParaRPr lang="en-US" sz="1100" dirty="0"/>
          </a:p>
        </p:txBody>
      </p:sp>
      <p:sp>
        <p:nvSpPr>
          <p:cNvPr id="12" name="Criterion 2"/>
          <p:cNvSpPr/>
          <p:nvPr/>
        </p:nvSpPr>
        <p:spPr>
          <a:xfrm>
            <a:off x="278892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3" name="Adaptability of Methodology circle"/>
          <p:cNvSpPr/>
          <p:nvPr/>
        </p:nvSpPr>
        <p:spPr>
          <a:xfrm>
            <a:off x="3429000" y="1828800"/>
            <a:ext cx="777240" cy="777240"/>
          </a:xfrm>
          <a:prstGeom prst="ellipse">
            <a:avLst/>
          </a:prstGeom>
          <a:solidFill>
            <a:schemeClr val="tx1"/>
          </a:solidFill>
          <a:ln w="12700">
            <a:solidFill>
              <a:schemeClr val="tx1"/>
            </a:solidFill>
            <a:prstDash val="solid"/>
          </a:ln>
        </p:spPr>
      </p:sp>
      <p:pic>
        <p:nvPicPr>
          <p:cNvPr id="14" name="Image 1" descr="Adaptability of Methodology icon">    </p:cNvPr>
          <p:cNvPicPr>
            <a:picLocks noChangeAspect="1"/>
          </p:cNvPicPr>
          <p:nvPr/>
        </p:nvPicPr>
        <p:blipFill>
          <a:blip r:embed="rId2"/>
          <a:stretch>
            <a:fillRect/>
          </a:stretch>
        </p:blipFill>
        <p:spPr>
          <a:xfrm>
            <a:off x="3599993" y="1999793"/>
            <a:ext cx="435254" cy="435254"/>
          </a:xfrm>
          <a:prstGeom prst="rect">
            <a:avLst/>
          </a:prstGeom>
        </p:spPr>
      </p:pic>
      <p:sp>
        <p:nvSpPr>
          <p:cNvPr id="15" name="Text 11"/>
          <p:cNvSpPr txBox="1"/>
          <p:nvPr/>
        </p:nvSpPr>
        <p:spPr>
          <a:xfrm>
            <a:off x="2926080" y="2743200"/>
            <a:ext cx="1783080" cy="777240"/>
          </a:xfrm>
          <a:prstGeom prst="rect">
            <a:avLst/>
          </a:prstGeom>
          <a:noFill/>
          <a:ln/>
        </p:spPr>
        <p:txBody>
          <a:bodyPr wrap="square" lIns="0" tIns="0" rIns="0" bIns="0" rtlCol="0" anchor="t"/>
          <a:lstStyle/>
          <a:p>
            <a:pPr algn="ctr" indent="0" marL="0">
              <a:buNone/>
            </a:pPr>
            <a:r>
              <a:rPr lang="en-US" sz="1500" b="1" dirty="0">
                <a:solidFill>
                  <a:schemeClr val="tx1"/>
                </a:solidFill>
              </a:rPr>
              <a:t>Adaptability of Methodology</a:t>
            </a:r>
            <a:endParaRPr lang="en-US" sz="1500" dirty="0"/>
          </a:p>
        </p:txBody>
      </p:sp>
      <p:sp>
        <p:nvSpPr>
          <p:cNvPr id="16" name="Text 12"/>
          <p:cNvSpPr txBox="1"/>
          <p:nvPr/>
        </p:nvSpPr>
        <p:spPr>
          <a:xfrm>
            <a:off x="2971800" y="352044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17" name="Text 13"/>
          <p:cNvSpPr txBox="1"/>
          <p:nvPr/>
        </p:nvSpPr>
        <p:spPr>
          <a:xfrm>
            <a:off x="2971800" y="406908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18" name="Text 14"/>
          <p:cNvSpPr txBox="1"/>
          <p:nvPr/>
        </p:nvSpPr>
        <p:spPr>
          <a:xfrm>
            <a:off x="297180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5-6</a:t>
            </a:r>
            <a:endParaRPr lang="en-US" sz="1300" dirty="0"/>
          </a:p>
        </p:txBody>
      </p:sp>
      <p:sp>
        <p:nvSpPr>
          <p:cNvPr id="19" name="Text 15"/>
          <p:cNvSpPr txBox="1"/>
          <p:nvPr/>
        </p:nvSpPr>
        <p:spPr>
          <a:xfrm>
            <a:off x="297180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Change scenarios and trade-offs</a:t>
            </a:r>
            <a:endParaRPr lang="en-US" sz="1100" dirty="0"/>
          </a:p>
        </p:txBody>
      </p:sp>
      <p:sp>
        <p:nvSpPr>
          <p:cNvPr id="20" name="Criterion 3"/>
          <p:cNvSpPr/>
          <p:nvPr/>
        </p:nvSpPr>
        <p:spPr>
          <a:xfrm>
            <a:off x="502920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1" name="Methodology Evaluation circle"/>
          <p:cNvSpPr/>
          <p:nvPr/>
        </p:nvSpPr>
        <p:spPr>
          <a:xfrm>
            <a:off x="5669280" y="1828800"/>
            <a:ext cx="777240" cy="777240"/>
          </a:xfrm>
          <a:prstGeom prst="ellipse">
            <a:avLst/>
          </a:prstGeom>
          <a:solidFill>
            <a:schemeClr val="tx1"/>
          </a:solidFill>
          <a:ln w="12700">
            <a:solidFill>
              <a:schemeClr val="tx1"/>
            </a:solidFill>
            <a:prstDash val="solid"/>
          </a:ln>
        </p:spPr>
      </p:sp>
      <p:pic>
        <p:nvPicPr>
          <p:cNvPr id="22" name="Image 2" descr="Methodology Evaluation icon">    </p:cNvPr>
          <p:cNvPicPr>
            <a:picLocks noChangeAspect="1"/>
          </p:cNvPicPr>
          <p:nvPr/>
        </p:nvPicPr>
        <p:blipFill>
          <a:blip r:embed="rId3"/>
          <a:stretch>
            <a:fillRect/>
          </a:stretch>
        </p:blipFill>
        <p:spPr>
          <a:xfrm>
            <a:off x="5840273" y="1999793"/>
            <a:ext cx="435254" cy="435254"/>
          </a:xfrm>
          <a:prstGeom prst="rect">
            <a:avLst/>
          </a:prstGeom>
        </p:spPr>
      </p:pic>
      <p:sp>
        <p:nvSpPr>
          <p:cNvPr id="23" name="Text 18"/>
          <p:cNvSpPr txBox="1"/>
          <p:nvPr/>
        </p:nvSpPr>
        <p:spPr>
          <a:xfrm>
            <a:off x="5166360" y="2743200"/>
            <a:ext cx="1783080" cy="777240"/>
          </a:xfrm>
          <a:prstGeom prst="rect">
            <a:avLst/>
          </a:prstGeom>
          <a:noFill/>
          <a:ln/>
        </p:spPr>
        <p:txBody>
          <a:bodyPr wrap="square" lIns="0" tIns="0" rIns="0" bIns="0" rtlCol="0" anchor="t"/>
          <a:lstStyle/>
          <a:p>
            <a:pPr algn="ctr" indent="0" marL="0">
              <a:buNone/>
            </a:pPr>
            <a:r>
              <a:rPr lang="en-US" sz="1500" b="1" dirty="0">
                <a:solidFill>
                  <a:schemeClr val="tx1"/>
                </a:solidFill>
              </a:rPr>
              <a:t>Methodology Evaluation</a:t>
            </a:r>
            <a:endParaRPr lang="en-US" sz="1500" dirty="0"/>
          </a:p>
        </p:txBody>
      </p:sp>
      <p:sp>
        <p:nvSpPr>
          <p:cNvPr id="24" name="Text 19"/>
          <p:cNvSpPr txBox="1"/>
          <p:nvPr/>
        </p:nvSpPr>
        <p:spPr>
          <a:xfrm>
            <a:off x="5212080" y="352044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25" name="Text 20"/>
          <p:cNvSpPr txBox="1"/>
          <p:nvPr/>
        </p:nvSpPr>
        <p:spPr>
          <a:xfrm>
            <a:off x="5212080" y="406908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26" name="Text 21"/>
          <p:cNvSpPr txBox="1"/>
          <p:nvPr/>
        </p:nvSpPr>
        <p:spPr>
          <a:xfrm>
            <a:off x="521208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7-9</a:t>
            </a:r>
            <a:endParaRPr lang="en-US" sz="1300" dirty="0"/>
          </a:p>
        </p:txBody>
      </p:sp>
      <p:sp>
        <p:nvSpPr>
          <p:cNvPr id="27" name="Text 22"/>
          <p:cNvSpPr txBox="1"/>
          <p:nvPr/>
        </p:nvSpPr>
        <p:spPr>
          <a:xfrm>
            <a:off x="521208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Framework, objectives and results</a:t>
            </a:r>
            <a:endParaRPr lang="en-US" sz="1100" dirty="0"/>
          </a:p>
        </p:txBody>
      </p:sp>
      <p:sp>
        <p:nvSpPr>
          <p:cNvPr id="28" name="Criterion 4"/>
          <p:cNvSpPr/>
          <p:nvPr/>
        </p:nvSpPr>
        <p:spPr>
          <a:xfrm>
            <a:off x="726948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9" name="Dissemination &amp; Accessibility circle"/>
          <p:cNvSpPr/>
          <p:nvPr/>
        </p:nvSpPr>
        <p:spPr>
          <a:xfrm>
            <a:off x="7909560" y="1828800"/>
            <a:ext cx="777240" cy="777240"/>
          </a:xfrm>
          <a:prstGeom prst="ellipse">
            <a:avLst/>
          </a:prstGeom>
          <a:solidFill>
            <a:schemeClr val="tx1"/>
          </a:solidFill>
          <a:ln w="12700">
            <a:solidFill>
              <a:schemeClr val="tx1"/>
            </a:solidFill>
            <a:prstDash val="solid"/>
          </a:ln>
        </p:spPr>
      </p:sp>
      <p:pic>
        <p:nvPicPr>
          <p:cNvPr id="30" name="Image 3" descr="Dissemination &amp; Accessibility icon">    </p:cNvPr>
          <p:cNvPicPr>
            <a:picLocks noChangeAspect="1"/>
          </p:cNvPicPr>
          <p:nvPr/>
        </p:nvPicPr>
        <p:blipFill>
          <a:blip r:embed="rId4"/>
          <a:stretch>
            <a:fillRect/>
          </a:stretch>
        </p:blipFill>
        <p:spPr>
          <a:xfrm>
            <a:off x="8080553" y="1999793"/>
            <a:ext cx="435254" cy="435254"/>
          </a:xfrm>
          <a:prstGeom prst="rect">
            <a:avLst/>
          </a:prstGeom>
        </p:spPr>
      </p:pic>
      <p:sp>
        <p:nvSpPr>
          <p:cNvPr id="31" name="Text 25"/>
          <p:cNvSpPr txBox="1"/>
          <p:nvPr/>
        </p:nvSpPr>
        <p:spPr>
          <a:xfrm>
            <a:off x="7406640" y="2743200"/>
            <a:ext cx="1783080" cy="777240"/>
          </a:xfrm>
          <a:prstGeom prst="rect">
            <a:avLst/>
          </a:prstGeom>
          <a:noFill/>
          <a:ln/>
        </p:spPr>
        <p:txBody>
          <a:bodyPr wrap="square" lIns="0" tIns="0" rIns="0" bIns="0" rtlCol="0" anchor="t"/>
          <a:lstStyle/>
          <a:p>
            <a:pPr algn="ctr" indent="0" marL="0">
              <a:buNone/>
            </a:pPr>
            <a:r>
              <a:rPr lang="en-US" sz="1500" b="1" dirty="0">
                <a:solidFill>
                  <a:schemeClr val="tx1"/>
                </a:solidFill>
              </a:rPr>
              <a:t>Dissemination &amp; Accessibility</a:t>
            </a:r>
            <a:endParaRPr lang="en-US" sz="1500" dirty="0"/>
          </a:p>
        </p:txBody>
      </p:sp>
      <p:sp>
        <p:nvSpPr>
          <p:cNvPr id="32" name="Text 26"/>
          <p:cNvSpPr txBox="1"/>
          <p:nvPr/>
        </p:nvSpPr>
        <p:spPr>
          <a:xfrm>
            <a:off x="7452360" y="352044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33" name="Text 27"/>
          <p:cNvSpPr txBox="1"/>
          <p:nvPr/>
        </p:nvSpPr>
        <p:spPr>
          <a:xfrm>
            <a:off x="7452360" y="406908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34" name="Text 28"/>
          <p:cNvSpPr txBox="1"/>
          <p:nvPr/>
        </p:nvSpPr>
        <p:spPr>
          <a:xfrm>
            <a:off x="745236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10-11</a:t>
            </a:r>
            <a:endParaRPr lang="en-US" sz="1300" dirty="0"/>
          </a:p>
        </p:txBody>
      </p:sp>
      <p:sp>
        <p:nvSpPr>
          <p:cNvPr id="35" name="Text 29"/>
          <p:cNvSpPr txBox="1"/>
          <p:nvPr/>
        </p:nvSpPr>
        <p:spPr>
          <a:xfrm>
            <a:off x="745236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Who can use it and how it is shared</a:t>
            </a:r>
            <a:endParaRPr lang="en-US" sz="1100" dirty="0"/>
          </a:p>
        </p:txBody>
      </p:sp>
      <p:sp>
        <p:nvSpPr>
          <p:cNvPr id="36" name="Criterion 5"/>
          <p:cNvSpPr/>
          <p:nvPr/>
        </p:nvSpPr>
        <p:spPr>
          <a:xfrm>
            <a:off x="9509760" y="1600200"/>
            <a:ext cx="2057400" cy="356616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37" name="Presentation Skills circle"/>
          <p:cNvSpPr/>
          <p:nvPr/>
        </p:nvSpPr>
        <p:spPr>
          <a:xfrm>
            <a:off x="10149840" y="1828800"/>
            <a:ext cx="777240" cy="777240"/>
          </a:xfrm>
          <a:prstGeom prst="ellipse">
            <a:avLst/>
          </a:prstGeom>
          <a:solidFill>
            <a:schemeClr val="tx1"/>
          </a:solidFill>
          <a:ln w="12700">
            <a:solidFill>
              <a:schemeClr val="tx1"/>
            </a:solidFill>
            <a:prstDash val="solid"/>
          </a:ln>
        </p:spPr>
      </p:sp>
      <p:pic>
        <p:nvPicPr>
          <p:cNvPr id="38" name="Image 4" descr="Presentation Skills icon">    </p:cNvPr>
          <p:cNvPicPr>
            <a:picLocks noChangeAspect="1"/>
          </p:cNvPicPr>
          <p:nvPr/>
        </p:nvPicPr>
        <p:blipFill>
          <a:blip r:embed="rId5"/>
          <a:stretch>
            <a:fillRect/>
          </a:stretch>
        </p:blipFill>
        <p:spPr>
          <a:xfrm>
            <a:off x="10320833" y="1999793"/>
            <a:ext cx="435254" cy="435254"/>
          </a:xfrm>
          <a:prstGeom prst="rect">
            <a:avLst/>
          </a:prstGeom>
        </p:spPr>
      </p:pic>
      <p:sp>
        <p:nvSpPr>
          <p:cNvPr id="39" name="Text 32"/>
          <p:cNvSpPr txBox="1"/>
          <p:nvPr/>
        </p:nvSpPr>
        <p:spPr>
          <a:xfrm>
            <a:off x="9646920" y="2743200"/>
            <a:ext cx="1783080" cy="777240"/>
          </a:xfrm>
          <a:prstGeom prst="rect">
            <a:avLst/>
          </a:prstGeom>
          <a:noFill/>
          <a:ln/>
        </p:spPr>
        <p:txBody>
          <a:bodyPr wrap="square" lIns="0" tIns="0" rIns="0" bIns="0" rtlCol="0" anchor="t"/>
          <a:lstStyle/>
          <a:p>
            <a:pPr algn="ctr" indent="0" marL="0">
              <a:buNone/>
            </a:pPr>
            <a:r>
              <a:rPr lang="en-US" sz="1500" b="1" dirty="0">
                <a:solidFill>
                  <a:schemeClr val="tx1"/>
                </a:solidFill>
              </a:rPr>
              <a:t>Presentation Skills</a:t>
            </a:r>
            <a:endParaRPr lang="en-US" sz="1500" dirty="0"/>
          </a:p>
        </p:txBody>
      </p:sp>
      <p:sp>
        <p:nvSpPr>
          <p:cNvPr id="40" name="Text 33"/>
          <p:cNvSpPr txBox="1"/>
          <p:nvPr/>
        </p:nvSpPr>
        <p:spPr>
          <a:xfrm>
            <a:off x="9692640" y="3520440"/>
            <a:ext cx="1691640" cy="5486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41" name="Text 34"/>
          <p:cNvSpPr txBox="1"/>
          <p:nvPr/>
        </p:nvSpPr>
        <p:spPr>
          <a:xfrm>
            <a:off x="9692640" y="4069080"/>
            <a:ext cx="1691640" cy="228600"/>
          </a:xfrm>
          <a:prstGeom prst="rect">
            <a:avLst/>
          </a:prstGeom>
          <a:noFill/>
          <a:ln/>
        </p:spPr>
        <p:txBody>
          <a:bodyPr wrap="square" lIns="0" tIns="0" rIns="0" bIns="0" rtlCol="0" anchor="ctr"/>
          <a:lstStyle/>
          <a:p>
            <a:pPr algn="ctr" indent="0" marL="0">
              <a:buNone/>
            </a:pPr>
            <a:r>
              <a:rPr lang="en-US" sz="1000" b="1" spc="300" kern="0" dirty="0">
                <a:solidFill>
                  <a:schemeClr val="accent3"/>
                </a:solidFill>
              </a:rPr>
              <a:t>MARKS</a:t>
            </a:r>
            <a:endParaRPr lang="en-US" sz="1000" dirty="0"/>
          </a:p>
        </p:txBody>
      </p:sp>
      <p:sp>
        <p:nvSpPr>
          <p:cNvPr id="42" name="Text 35"/>
          <p:cNvSpPr txBox="1"/>
          <p:nvPr/>
        </p:nvSpPr>
        <p:spPr>
          <a:xfrm>
            <a:off x="9692640" y="4389120"/>
            <a:ext cx="1691640" cy="274320"/>
          </a:xfrm>
          <a:prstGeom prst="rect">
            <a:avLst/>
          </a:prstGeom>
          <a:noFill/>
          <a:ln/>
        </p:spPr>
        <p:txBody>
          <a:bodyPr wrap="square" lIns="0" tIns="0" rIns="0" bIns="0" rtlCol="0" anchor="ctr"/>
          <a:lstStyle/>
          <a:p>
            <a:pPr algn="ctr" indent="0" marL="0">
              <a:buNone/>
            </a:pPr>
            <a:r>
              <a:rPr lang="en-US" sz="1300" b="1" dirty="0">
                <a:solidFill>
                  <a:schemeClr val="tx2"/>
                </a:solidFill>
              </a:rPr>
              <a:t>Slides 1-13</a:t>
            </a:r>
            <a:endParaRPr lang="en-US" sz="1300" dirty="0"/>
          </a:p>
        </p:txBody>
      </p:sp>
      <p:sp>
        <p:nvSpPr>
          <p:cNvPr id="43" name="Text 36"/>
          <p:cNvSpPr txBox="1"/>
          <p:nvPr/>
        </p:nvSpPr>
        <p:spPr>
          <a:xfrm>
            <a:off x="9692640" y="4663440"/>
            <a:ext cx="1691640" cy="457200"/>
          </a:xfrm>
          <a:prstGeom prst="rect">
            <a:avLst/>
          </a:prstGeom>
          <a:noFill/>
          <a:ln/>
        </p:spPr>
        <p:txBody>
          <a:bodyPr wrap="square" lIns="0" tIns="0" rIns="0" bIns="0" rtlCol="0" anchor="t"/>
          <a:lstStyle/>
          <a:p>
            <a:pPr algn="ctr" indent="0" marL="0">
              <a:buNone/>
            </a:pPr>
            <a:r>
              <a:rPr lang="en-US" sz="1100" dirty="0">
                <a:solidFill>
                  <a:schemeClr val="accent3"/>
                </a:solidFill>
              </a:rPr>
              <a:t>Clear flow, summary and references</a:t>
            </a:r>
            <a:endParaRPr lang="en-US" sz="1100" dirty="0"/>
          </a:p>
        </p:txBody>
      </p:sp>
      <p:sp>
        <p:nvSpPr>
          <p:cNvPr id="44" name="Total bar"/>
          <p:cNvSpPr/>
          <p:nvPr/>
        </p:nvSpPr>
        <p:spPr>
          <a:xfrm>
            <a:off x="548640" y="5440680"/>
            <a:ext cx="11064240" cy="685800"/>
          </a:xfrm>
          <a:prstGeom prst="roundRect">
            <a:avLst>
              <a:gd name="adj" fmla="val 13333"/>
            </a:avLst>
          </a:prstGeom>
          <a:solidFill>
            <a:schemeClr val="tx1"/>
          </a:solidFill>
          <a:ln w="12700">
            <a:solidFill>
              <a:schemeClr val="tx1"/>
            </a:solidFill>
            <a:prstDash val="solid"/>
          </a:ln>
        </p:spPr>
      </p:sp>
      <p:sp>
        <p:nvSpPr>
          <p:cNvPr id="45" name="Text 38"/>
          <p:cNvSpPr txBox="1"/>
          <p:nvPr/>
        </p:nvSpPr>
        <p:spPr>
          <a:xfrm>
            <a:off x="914400" y="5440680"/>
            <a:ext cx="3657600" cy="685800"/>
          </a:xfrm>
          <a:prstGeom prst="rect">
            <a:avLst/>
          </a:prstGeom>
          <a:noFill/>
          <a:ln/>
        </p:spPr>
        <p:txBody>
          <a:bodyPr wrap="square" lIns="0" tIns="0" rIns="0" bIns="0" rtlCol="0" anchor="ctr"/>
          <a:lstStyle/>
          <a:p>
            <a:pPr indent="0" marL="0">
              <a:buNone/>
            </a:pPr>
            <a:r>
              <a:rPr lang="en-US" sz="1600" b="1" spc="300" kern="0" dirty="0">
                <a:solidFill>
                  <a:schemeClr val="accent1"/>
                </a:solidFill>
              </a:rPr>
              <a:t>REVIEW 3 TOTAL</a:t>
            </a:r>
            <a:endParaRPr lang="en-US" sz="1600" dirty="0"/>
          </a:p>
        </p:txBody>
      </p:sp>
      <p:sp>
        <p:nvSpPr>
          <p:cNvPr id="46" name="Text 39"/>
          <p:cNvSpPr txBox="1"/>
          <p:nvPr/>
        </p:nvSpPr>
        <p:spPr>
          <a:xfrm>
            <a:off x="5486400" y="5440680"/>
            <a:ext cx="5852160" cy="685800"/>
          </a:xfrm>
          <a:prstGeom prst="rect">
            <a:avLst/>
          </a:prstGeom>
          <a:noFill/>
          <a:ln/>
        </p:spPr>
        <p:txBody>
          <a:bodyPr wrap="square" lIns="0" tIns="0" rIns="0" bIns="0" rtlCol="0" anchor="ctr"/>
          <a:lstStyle/>
          <a:p>
            <a:pPr algn="r" indent="0" marL="0">
              <a:buNone/>
            </a:pPr>
            <a:r>
              <a:rPr lang="en-US" sz="2200" b="1" dirty="0">
                <a:solidFill>
                  <a:schemeClr val="bg1"/>
                </a:solidFill>
              </a:rPr>
              <a:t>5 criteria  x  10 marks  =  50</a:t>
            </a:r>
            <a:endParaRPr lang="en-US" sz="2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1  ·  NOVELTY OF DEVELOPED METHODOLOGY</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Our methodology: choose storage by job</a:t>
            </a:r>
            <a:endParaRPr lang="en-US" sz="3200" dirty="0"/>
          </a:p>
        </p:txBody>
      </p:sp>
      <p:sp>
        <p:nvSpPr>
          <p:cNvPr id="6" name="Step 1"/>
          <p:cNvSpPr/>
          <p:nvPr/>
        </p:nvSpPr>
        <p:spPr>
          <a:xfrm>
            <a:off x="548640" y="1554480"/>
            <a:ext cx="2057400" cy="329184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7" name="Step number 1"/>
          <p:cNvSpPr/>
          <p:nvPr/>
        </p:nvSpPr>
        <p:spPr>
          <a:xfrm>
            <a:off x="777240" y="178308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777240"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9" name="Classify data by job circle"/>
          <p:cNvSpPr/>
          <p:nvPr/>
        </p:nvSpPr>
        <p:spPr>
          <a:xfrm>
            <a:off x="1737360" y="1737360"/>
            <a:ext cx="594360" cy="594360"/>
          </a:xfrm>
          <a:prstGeom prst="ellipse">
            <a:avLst/>
          </a:prstGeom>
          <a:solidFill>
            <a:schemeClr val="tx1"/>
          </a:solidFill>
          <a:ln w="12700">
            <a:solidFill>
              <a:schemeClr val="tx1"/>
            </a:solidFill>
            <a:prstDash val="solid"/>
          </a:ln>
        </p:spPr>
      </p:sp>
      <p:pic>
        <p:nvPicPr>
          <p:cNvPr id="10" name="Image 0" descr="Classify data by job icon">    </p:cNvPr>
          <p:cNvPicPr>
            <a:picLocks noChangeAspect="1"/>
          </p:cNvPicPr>
          <p:nvPr/>
        </p:nvPicPr>
        <p:blipFill>
          <a:blip r:embed="rId1"/>
          <a:stretch>
            <a:fillRect/>
          </a:stretch>
        </p:blipFill>
        <p:spPr>
          <a:xfrm>
            <a:off x="1868119" y="1868119"/>
            <a:ext cx="332842" cy="332842"/>
          </a:xfrm>
          <a:prstGeom prst="rect">
            <a:avLst/>
          </a:prstGeom>
        </p:spPr>
      </p:pic>
      <p:sp>
        <p:nvSpPr>
          <p:cNvPr id="11" name="Text 8"/>
          <p:cNvSpPr txBox="1"/>
          <p:nvPr/>
        </p:nvSpPr>
        <p:spPr>
          <a:xfrm>
            <a:off x="777240" y="2514600"/>
            <a:ext cx="1645920" cy="594360"/>
          </a:xfrm>
          <a:prstGeom prst="rect">
            <a:avLst/>
          </a:prstGeom>
          <a:noFill/>
          <a:ln/>
        </p:spPr>
        <p:txBody>
          <a:bodyPr wrap="square" lIns="0" tIns="0" rIns="0" bIns="0" rtlCol="0" anchor="t"/>
          <a:lstStyle/>
          <a:p>
            <a:pPr indent="0" marL="0">
              <a:buNone/>
            </a:pPr>
            <a:r>
              <a:rPr lang="en-US" sz="1500" b="1" dirty="0">
                <a:solidFill>
                  <a:schemeClr val="tx1"/>
                </a:solidFill>
              </a:rPr>
              <a:t>Classify data by job</a:t>
            </a:r>
            <a:endParaRPr lang="en-US" sz="1500" dirty="0"/>
          </a:p>
        </p:txBody>
      </p:sp>
      <p:sp>
        <p:nvSpPr>
          <p:cNvPr id="12" name="Text 9"/>
          <p:cNvSpPr txBox="1"/>
          <p:nvPr/>
        </p:nvSpPr>
        <p:spPr>
          <a:xfrm>
            <a:off x="777240" y="3154680"/>
            <a:ext cx="1645920" cy="1600200"/>
          </a:xfrm>
          <a:prstGeom prst="rect">
            <a:avLst/>
          </a:prstGeom>
          <a:noFill/>
          <a:ln/>
        </p:spPr>
        <p:txBody>
          <a:bodyPr wrap="square" lIns="0" tIns="0" rIns="0" bIns="0" rtlCol="0" anchor="t"/>
          <a:lstStyle/>
          <a:p>
            <a:pPr indent="0" marL="0">
              <a:buNone/>
            </a:pPr>
            <a:r>
              <a:rPr lang="en-US" sz="1200" dirty="0">
                <a:solidFill>
                  <a:schemeClr val="accent3"/>
                </a:solidFill>
              </a:rPr>
              <a:t>Stock and orders are structured and related. Delivery updates vary in shape. Shipment changes are events.</a:t>
            </a:r>
            <a:endParaRPr lang="en-US" sz="1200" dirty="0"/>
          </a:p>
        </p:txBody>
      </p:sp>
      <p:sp>
        <p:nvSpPr>
          <p:cNvPr id="13" name="Shape 10"/>
          <p:cNvSpPr/>
          <p:nvPr/>
        </p:nvSpPr>
        <p:spPr>
          <a:xfrm>
            <a:off x="2624328" y="3200400"/>
            <a:ext cx="155448" cy="0"/>
          </a:xfrm>
          <a:prstGeom prst="line">
            <a:avLst/>
          </a:prstGeom>
          <a:noFill/>
          <a:ln w="28575">
            <a:solidFill>
              <a:srgbClr val="F2A541"/>
            </a:solidFill>
            <a:prstDash val="solid"/>
            <a:tailEnd type="triangle"/>
          </a:ln>
        </p:spPr>
      </p:sp>
      <p:sp>
        <p:nvSpPr>
          <p:cNvPr id="14" name="Step 2"/>
          <p:cNvSpPr/>
          <p:nvPr/>
        </p:nvSpPr>
        <p:spPr>
          <a:xfrm>
            <a:off x="2788920" y="1554480"/>
            <a:ext cx="2057400" cy="329184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5" name="Step number 2"/>
          <p:cNvSpPr/>
          <p:nvPr/>
        </p:nvSpPr>
        <p:spPr>
          <a:xfrm>
            <a:off x="3017520" y="1783080"/>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3017520"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7" name="Assign the right store circle"/>
          <p:cNvSpPr/>
          <p:nvPr/>
        </p:nvSpPr>
        <p:spPr>
          <a:xfrm>
            <a:off x="3977640" y="1737360"/>
            <a:ext cx="594360" cy="594360"/>
          </a:xfrm>
          <a:prstGeom prst="ellipse">
            <a:avLst/>
          </a:prstGeom>
          <a:solidFill>
            <a:schemeClr val="tx1"/>
          </a:solidFill>
          <a:ln w="12700">
            <a:solidFill>
              <a:schemeClr val="tx1"/>
            </a:solidFill>
            <a:prstDash val="solid"/>
          </a:ln>
        </p:spPr>
      </p:sp>
      <p:pic>
        <p:nvPicPr>
          <p:cNvPr id="18" name="Image 1" descr="Assign the right store icon">    </p:cNvPr>
          <p:cNvPicPr>
            <a:picLocks noChangeAspect="1"/>
          </p:cNvPicPr>
          <p:nvPr/>
        </p:nvPicPr>
        <p:blipFill>
          <a:blip r:embed="rId2"/>
          <a:stretch>
            <a:fillRect/>
          </a:stretch>
        </p:blipFill>
        <p:spPr>
          <a:xfrm>
            <a:off x="4108399" y="1868119"/>
            <a:ext cx="332842" cy="332842"/>
          </a:xfrm>
          <a:prstGeom prst="rect">
            <a:avLst/>
          </a:prstGeom>
        </p:spPr>
      </p:pic>
      <p:sp>
        <p:nvSpPr>
          <p:cNvPr id="19" name="Text 15"/>
          <p:cNvSpPr txBox="1"/>
          <p:nvPr/>
        </p:nvSpPr>
        <p:spPr>
          <a:xfrm>
            <a:off x="3017520" y="2514600"/>
            <a:ext cx="1645920" cy="594360"/>
          </a:xfrm>
          <a:prstGeom prst="rect">
            <a:avLst/>
          </a:prstGeom>
          <a:noFill/>
          <a:ln/>
        </p:spPr>
        <p:txBody>
          <a:bodyPr wrap="square" lIns="0" tIns="0" rIns="0" bIns="0" rtlCol="0" anchor="t"/>
          <a:lstStyle/>
          <a:p>
            <a:pPr indent="0" marL="0">
              <a:buNone/>
            </a:pPr>
            <a:r>
              <a:rPr lang="en-US" sz="1500" b="1" dirty="0">
                <a:solidFill>
                  <a:schemeClr val="tx1"/>
                </a:solidFill>
              </a:rPr>
              <a:t>Assign the right store</a:t>
            </a:r>
            <a:endParaRPr lang="en-US" sz="1500" dirty="0"/>
          </a:p>
        </p:txBody>
      </p:sp>
      <p:sp>
        <p:nvSpPr>
          <p:cNvPr id="20" name="Text 16"/>
          <p:cNvSpPr txBox="1"/>
          <p:nvPr/>
        </p:nvSpPr>
        <p:spPr>
          <a:xfrm>
            <a:off x="3017520" y="3154680"/>
            <a:ext cx="1645920" cy="1600200"/>
          </a:xfrm>
          <a:prstGeom prst="rect">
            <a:avLst/>
          </a:prstGeom>
          <a:noFill/>
          <a:ln/>
        </p:spPr>
        <p:txBody>
          <a:bodyPr wrap="square" lIns="0" tIns="0" rIns="0" bIns="0" rtlCol="0" anchor="t"/>
          <a:lstStyle/>
          <a:p>
            <a:pPr indent="0" marL="0">
              <a:buNone/>
            </a:pPr>
            <a:r>
              <a:rPr lang="en-US" sz="1200" dirty="0">
                <a:solidFill>
                  <a:schemeClr val="accent3"/>
                </a:solidFill>
              </a:rPr>
              <a:t>MySQL for stock and orders. MongoDB for flexible delivery updates.</a:t>
            </a:r>
            <a:endParaRPr lang="en-US" sz="1200" dirty="0"/>
          </a:p>
        </p:txBody>
      </p:sp>
      <p:sp>
        <p:nvSpPr>
          <p:cNvPr id="21" name="Shape 17"/>
          <p:cNvSpPr/>
          <p:nvPr/>
        </p:nvSpPr>
        <p:spPr>
          <a:xfrm>
            <a:off x="4864608" y="3200400"/>
            <a:ext cx="155448" cy="0"/>
          </a:xfrm>
          <a:prstGeom prst="line">
            <a:avLst/>
          </a:prstGeom>
          <a:noFill/>
          <a:ln w="28575">
            <a:solidFill>
              <a:srgbClr val="F2A541"/>
            </a:solidFill>
            <a:prstDash val="solid"/>
            <a:tailEnd type="triangle"/>
          </a:ln>
        </p:spPr>
      </p:sp>
      <p:sp>
        <p:nvSpPr>
          <p:cNvPr id="22" name="Step 3"/>
          <p:cNvSpPr/>
          <p:nvPr/>
        </p:nvSpPr>
        <p:spPr>
          <a:xfrm>
            <a:off x="5029200" y="1554480"/>
            <a:ext cx="2057400" cy="329184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3" name="Step number 3"/>
          <p:cNvSpPr/>
          <p:nvPr/>
        </p:nvSpPr>
        <p:spPr>
          <a:xfrm>
            <a:off x="5257800" y="1783080"/>
            <a:ext cx="457200" cy="457200"/>
          </a:xfrm>
          <a:prstGeom prst="ellipse">
            <a:avLst/>
          </a:prstGeom>
          <a:solidFill>
            <a:schemeClr val="accent1"/>
          </a:solidFill>
          <a:ln w="12700">
            <a:solidFill>
              <a:schemeClr val="accent1"/>
            </a:solidFill>
            <a:prstDash val="solid"/>
          </a:ln>
        </p:spPr>
      </p:sp>
      <p:sp>
        <p:nvSpPr>
          <p:cNvPr id="24" name="Text 20"/>
          <p:cNvSpPr txBox="1"/>
          <p:nvPr/>
        </p:nvSpPr>
        <p:spPr>
          <a:xfrm>
            <a:off x="5257800"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5" name="Connect with events circle"/>
          <p:cNvSpPr/>
          <p:nvPr/>
        </p:nvSpPr>
        <p:spPr>
          <a:xfrm>
            <a:off x="6217920" y="1737360"/>
            <a:ext cx="594360" cy="594360"/>
          </a:xfrm>
          <a:prstGeom prst="ellipse">
            <a:avLst/>
          </a:prstGeom>
          <a:solidFill>
            <a:schemeClr val="tx1"/>
          </a:solidFill>
          <a:ln w="12700">
            <a:solidFill>
              <a:schemeClr val="tx1"/>
            </a:solidFill>
            <a:prstDash val="solid"/>
          </a:ln>
        </p:spPr>
      </p:sp>
      <p:pic>
        <p:nvPicPr>
          <p:cNvPr id="26" name="Image 2" descr="Connect with events icon">    </p:cNvPr>
          <p:cNvPicPr>
            <a:picLocks noChangeAspect="1"/>
          </p:cNvPicPr>
          <p:nvPr/>
        </p:nvPicPr>
        <p:blipFill>
          <a:blip r:embed="rId3"/>
          <a:stretch>
            <a:fillRect/>
          </a:stretch>
        </p:blipFill>
        <p:spPr>
          <a:xfrm>
            <a:off x="6348679" y="1868119"/>
            <a:ext cx="332842" cy="332842"/>
          </a:xfrm>
          <a:prstGeom prst="rect">
            <a:avLst/>
          </a:prstGeom>
        </p:spPr>
      </p:pic>
      <p:sp>
        <p:nvSpPr>
          <p:cNvPr id="27" name="Text 22"/>
          <p:cNvSpPr txBox="1"/>
          <p:nvPr/>
        </p:nvSpPr>
        <p:spPr>
          <a:xfrm>
            <a:off x="5257800" y="2514600"/>
            <a:ext cx="1645920" cy="594360"/>
          </a:xfrm>
          <a:prstGeom prst="rect">
            <a:avLst/>
          </a:prstGeom>
          <a:noFill/>
          <a:ln/>
        </p:spPr>
        <p:txBody>
          <a:bodyPr wrap="square" lIns="0" tIns="0" rIns="0" bIns="0" rtlCol="0" anchor="t"/>
          <a:lstStyle/>
          <a:p>
            <a:pPr indent="0" marL="0">
              <a:buNone/>
            </a:pPr>
            <a:r>
              <a:rPr lang="en-US" sz="1500" b="1" dirty="0">
                <a:solidFill>
                  <a:schemeClr val="tx1"/>
                </a:solidFill>
              </a:rPr>
              <a:t>Connect with events</a:t>
            </a:r>
            <a:endParaRPr lang="en-US" sz="1500" dirty="0"/>
          </a:p>
        </p:txBody>
      </p:sp>
      <p:sp>
        <p:nvSpPr>
          <p:cNvPr id="28" name="Text 23"/>
          <p:cNvSpPr txBox="1"/>
          <p:nvPr/>
        </p:nvSpPr>
        <p:spPr>
          <a:xfrm>
            <a:off x="5257800" y="3154680"/>
            <a:ext cx="1645920" cy="1600200"/>
          </a:xfrm>
          <a:prstGeom prst="rect">
            <a:avLst/>
          </a:prstGeom>
          <a:noFill/>
          <a:ln/>
        </p:spPr>
        <p:txBody>
          <a:bodyPr wrap="square" lIns="0" tIns="0" rIns="0" bIns="0" rtlCol="0" anchor="t"/>
          <a:lstStyle/>
          <a:p>
            <a:pPr indent="0" marL="0">
              <a:buNone/>
            </a:pPr>
            <a:r>
              <a:rPr lang="en-US" sz="1200" dirty="0">
                <a:solidFill>
                  <a:schemeClr val="accent3"/>
                </a:solidFill>
              </a:rPr>
              <a:t>Kafka passes shipment events between the order and delivery services.</a:t>
            </a:r>
            <a:endParaRPr lang="en-US" sz="1200" dirty="0"/>
          </a:p>
        </p:txBody>
      </p:sp>
      <p:sp>
        <p:nvSpPr>
          <p:cNvPr id="29" name="Shape 24"/>
          <p:cNvSpPr/>
          <p:nvPr/>
        </p:nvSpPr>
        <p:spPr>
          <a:xfrm>
            <a:off x="7104888" y="3200400"/>
            <a:ext cx="155448" cy="0"/>
          </a:xfrm>
          <a:prstGeom prst="line">
            <a:avLst/>
          </a:prstGeom>
          <a:noFill/>
          <a:ln w="28575">
            <a:solidFill>
              <a:srgbClr val="F2A541"/>
            </a:solidFill>
            <a:prstDash val="solid"/>
            <a:tailEnd type="triangle"/>
          </a:ln>
        </p:spPr>
      </p:sp>
      <p:sp>
        <p:nvSpPr>
          <p:cNvPr id="30" name="Step 4"/>
          <p:cNvSpPr/>
          <p:nvPr/>
        </p:nvSpPr>
        <p:spPr>
          <a:xfrm>
            <a:off x="7269480" y="1554480"/>
            <a:ext cx="2057400" cy="329184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31" name="Step number 4"/>
          <p:cNvSpPr/>
          <p:nvPr/>
        </p:nvSpPr>
        <p:spPr>
          <a:xfrm>
            <a:off x="7498080" y="1783080"/>
            <a:ext cx="457200" cy="457200"/>
          </a:xfrm>
          <a:prstGeom prst="ellipse">
            <a:avLst/>
          </a:prstGeom>
          <a:solidFill>
            <a:schemeClr val="accent1"/>
          </a:solidFill>
          <a:ln w="12700">
            <a:solidFill>
              <a:schemeClr val="accent1"/>
            </a:solidFill>
            <a:prstDash val="solid"/>
          </a:ln>
        </p:spPr>
      </p:sp>
      <p:sp>
        <p:nvSpPr>
          <p:cNvPr id="32" name="Text 27"/>
          <p:cNvSpPr txBox="1"/>
          <p:nvPr/>
        </p:nvSpPr>
        <p:spPr>
          <a:xfrm>
            <a:off x="7498080"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33" name="Build the staff website circle"/>
          <p:cNvSpPr/>
          <p:nvPr/>
        </p:nvSpPr>
        <p:spPr>
          <a:xfrm>
            <a:off x="8458200" y="1737360"/>
            <a:ext cx="594360" cy="594360"/>
          </a:xfrm>
          <a:prstGeom prst="ellipse">
            <a:avLst/>
          </a:prstGeom>
          <a:solidFill>
            <a:schemeClr val="tx1"/>
          </a:solidFill>
          <a:ln w="12700">
            <a:solidFill>
              <a:schemeClr val="tx1"/>
            </a:solidFill>
            <a:prstDash val="solid"/>
          </a:ln>
        </p:spPr>
      </p:sp>
      <p:pic>
        <p:nvPicPr>
          <p:cNvPr id="34" name="Image 3" descr="Build the staff website icon">    </p:cNvPr>
          <p:cNvPicPr>
            <a:picLocks noChangeAspect="1"/>
          </p:cNvPicPr>
          <p:nvPr/>
        </p:nvPicPr>
        <p:blipFill>
          <a:blip r:embed="rId4"/>
          <a:stretch>
            <a:fillRect/>
          </a:stretch>
        </p:blipFill>
        <p:spPr>
          <a:xfrm>
            <a:off x="8588959" y="1868119"/>
            <a:ext cx="332842" cy="332842"/>
          </a:xfrm>
          <a:prstGeom prst="rect">
            <a:avLst/>
          </a:prstGeom>
        </p:spPr>
      </p:pic>
      <p:sp>
        <p:nvSpPr>
          <p:cNvPr id="35" name="Text 29"/>
          <p:cNvSpPr txBox="1"/>
          <p:nvPr/>
        </p:nvSpPr>
        <p:spPr>
          <a:xfrm>
            <a:off x="7498080" y="2514600"/>
            <a:ext cx="1645920" cy="594360"/>
          </a:xfrm>
          <a:prstGeom prst="rect">
            <a:avLst/>
          </a:prstGeom>
          <a:noFill/>
          <a:ln/>
        </p:spPr>
        <p:txBody>
          <a:bodyPr wrap="square" lIns="0" tIns="0" rIns="0" bIns="0" rtlCol="0" anchor="t"/>
          <a:lstStyle/>
          <a:p>
            <a:pPr indent="0" marL="0">
              <a:buNone/>
            </a:pPr>
            <a:r>
              <a:rPr lang="en-US" sz="1500" b="1" dirty="0">
                <a:solidFill>
                  <a:schemeClr val="tx1"/>
                </a:solidFill>
              </a:rPr>
              <a:t>Build the staff website</a:t>
            </a:r>
            <a:endParaRPr lang="en-US" sz="1500" dirty="0"/>
          </a:p>
        </p:txBody>
      </p:sp>
      <p:sp>
        <p:nvSpPr>
          <p:cNvPr id="36" name="Text 30"/>
          <p:cNvSpPr txBox="1"/>
          <p:nvPr/>
        </p:nvSpPr>
        <p:spPr>
          <a:xfrm>
            <a:off x="7498080" y="3154680"/>
            <a:ext cx="1645920" cy="1600200"/>
          </a:xfrm>
          <a:prstGeom prst="rect">
            <a:avLst/>
          </a:prstGeom>
          <a:noFill/>
          <a:ln/>
        </p:spPr>
        <p:txBody>
          <a:bodyPr wrap="square" lIns="0" tIns="0" rIns="0" bIns="0" rtlCol="0" anchor="t"/>
          <a:lstStyle/>
          <a:p>
            <a:pPr indent="0" marL="0">
              <a:buNone/>
            </a:pPr>
            <a:r>
              <a:rPr lang="en-US" sz="1200" dirty="0">
                <a:solidFill>
                  <a:schemeClr val="accent3"/>
                </a:solidFill>
              </a:rPr>
              <a:t>One website to add stock, create orders and update deliveries.</a:t>
            </a:r>
            <a:endParaRPr lang="en-US" sz="1200" dirty="0"/>
          </a:p>
        </p:txBody>
      </p:sp>
      <p:sp>
        <p:nvSpPr>
          <p:cNvPr id="37" name="Shape 31"/>
          <p:cNvSpPr/>
          <p:nvPr/>
        </p:nvSpPr>
        <p:spPr>
          <a:xfrm>
            <a:off x="9345168" y="3200400"/>
            <a:ext cx="155448" cy="0"/>
          </a:xfrm>
          <a:prstGeom prst="line">
            <a:avLst/>
          </a:prstGeom>
          <a:noFill/>
          <a:ln w="28575">
            <a:solidFill>
              <a:srgbClr val="F2A541"/>
            </a:solidFill>
            <a:prstDash val="solid"/>
            <a:tailEnd type="triangle"/>
          </a:ln>
        </p:spPr>
      </p:sp>
      <p:sp>
        <p:nvSpPr>
          <p:cNvPr id="38" name="Step 5"/>
          <p:cNvSpPr/>
          <p:nvPr/>
        </p:nvSpPr>
        <p:spPr>
          <a:xfrm>
            <a:off x="9509760" y="1554480"/>
            <a:ext cx="2057400" cy="3291840"/>
          </a:xfrm>
          <a:prstGeom prst="roundRect">
            <a:avLst>
              <a:gd name="adj" fmla="val 4444"/>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39" name="Step number 5"/>
          <p:cNvSpPr/>
          <p:nvPr/>
        </p:nvSpPr>
        <p:spPr>
          <a:xfrm>
            <a:off x="9738360" y="1783080"/>
            <a:ext cx="457200" cy="457200"/>
          </a:xfrm>
          <a:prstGeom prst="ellipse">
            <a:avLst/>
          </a:prstGeom>
          <a:solidFill>
            <a:schemeClr val="accent1"/>
          </a:solidFill>
          <a:ln w="12700">
            <a:solidFill>
              <a:schemeClr val="accent1"/>
            </a:solidFill>
            <a:prstDash val="solid"/>
          </a:ln>
        </p:spPr>
      </p:sp>
      <p:sp>
        <p:nvSpPr>
          <p:cNvPr id="40" name="Text 34"/>
          <p:cNvSpPr txBox="1"/>
          <p:nvPr/>
        </p:nvSpPr>
        <p:spPr>
          <a:xfrm>
            <a:off x="9738360"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41" name="Evaluate and improve circle"/>
          <p:cNvSpPr/>
          <p:nvPr/>
        </p:nvSpPr>
        <p:spPr>
          <a:xfrm>
            <a:off x="10698480" y="1737360"/>
            <a:ext cx="594360" cy="594360"/>
          </a:xfrm>
          <a:prstGeom prst="ellipse">
            <a:avLst/>
          </a:prstGeom>
          <a:solidFill>
            <a:schemeClr val="tx1"/>
          </a:solidFill>
          <a:ln w="12700">
            <a:solidFill>
              <a:schemeClr val="tx1"/>
            </a:solidFill>
            <a:prstDash val="solid"/>
          </a:ln>
        </p:spPr>
      </p:sp>
      <p:pic>
        <p:nvPicPr>
          <p:cNvPr id="42" name="Image 4" descr="Evaluate and improve icon">    </p:cNvPr>
          <p:cNvPicPr>
            <a:picLocks noChangeAspect="1"/>
          </p:cNvPicPr>
          <p:nvPr/>
        </p:nvPicPr>
        <p:blipFill>
          <a:blip r:embed="rId5"/>
          <a:stretch>
            <a:fillRect/>
          </a:stretch>
        </p:blipFill>
        <p:spPr>
          <a:xfrm>
            <a:off x="10829239" y="1868119"/>
            <a:ext cx="332842" cy="332842"/>
          </a:xfrm>
          <a:prstGeom prst="rect">
            <a:avLst/>
          </a:prstGeom>
        </p:spPr>
      </p:pic>
      <p:sp>
        <p:nvSpPr>
          <p:cNvPr id="43" name="Text 36"/>
          <p:cNvSpPr txBox="1"/>
          <p:nvPr/>
        </p:nvSpPr>
        <p:spPr>
          <a:xfrm>
            <a:off x="9738360" y="2514600"/>
            <a:ext cx="1645920" cy="594360"/>
          </a:xfrm>
          <a:prstGeom prst="rect">
            <a:avLst/>
          </a:prstGeom>
          <a:noFill/>
          <a:ln/>
        </p:spPr>
        <p:txBody>
          <a:bodyPr wrap="square" lIns="0" tIns="0" rIns="0" bIns="0" rtlCol="0" anchor="t"/>
          <a:lstStyle/>
          <a:p>
            <a:pPr indent="0" marL="0">
              <a:buNone/>
            </a:pPr>
            <a:r>
              <a:rPr lang="en-US" sz="1500" b="1" dirty="0">
                <a:solidFill>
                  <a:schemeClr val="tx1"/>
                </a:solidFill>
              </a:rPr>
              <a:t>Evaluate and improve</a:t>
            </a:r>
            <a:endParaRPr lang="en-US" sz="1500" dirty="0"/>
          </a:p>
        </p:txBody>
      </p:sp>
      <p:sp>
        <p:nvSpPr>
          <p:cNvPr id="44" name="Text 37"/>
          <p:cNvSpPr txBox="1"/>
          <p:nvPr/>
        </p:nvSpPr>
        <p:spPr>
          <a:xfrm>
            <a:off x="9738360" y="3154680"/>
            <a:ext cx="1645920" cy="1600200"/>
          </a:xfrm>
          <a:prstGeom prst="rect">
            <a:avLst/>
          </a:prstGeom>
          <a:noFill/>
          <a:ln/>
        </p:spPr>
        <p:txBody>
          <a:bodyPr wrap="square" lIns="0" tIns="0" rIns="0" bIns="0" rtlCol="0" anchor="t"/>
          <a:lstStyle/>
          <a:p>
            <a:pPr indent="0" marL="0">
              <a:buNone/>
            </a:pPr>
            <a:r>
              <a:rPr lang="en-US" sz="1200" dirty="0">
                <a:solidFill>
                  <a:schemeClr val="accent3"/>
                </a:solidFill>
              </a:rPr>
              <a:t>Test workflows, consistency, speed and usability. Record gaps as future work.</a:t>
            </a:r>
            <a:endParaRPr lang="en-US" sz="1200" dirty="0"/>
          </a:p>
        </p:txBody>
      </p:sp>
      <p:sp>
        <p:nvSpPr>
          <p:cNvPr id="45" name="Literature strip"/>
          <p:cNvSpPr/>
          <p:nvPr/>
        </p:nvSpPr>
        <p:spPr>
          <a:xfrm>
            <a:off x="548640" y="5120640"/>
            <a:ext cx="11064240" cy="1005840"/>
          </a:xfrm>
          <a:prstGeom prst="roundRect">
            <a:avLst>
              <a:gd name="adj" fmla="val 9091"/>
            </a:avLst>
          </a:prstGeom>
          <a:solidFill>
            <a:schemeClr val="tx1"/>
          </a:solidFill>
          <a:ln w="12700">
            <a:solidFill>
              <a:schemeClr val="tx1"/>
            </a:solidFill>
            <a:prstDash val="solid"/>
          </a:ln>
        </p:spPr>
      </p:sp>
      <p:sp>
        <p:nvSpPr>
          <p:cNvPr id="46" name="Text 39"/>
          <p:cNvSpPr txBox="1"/>
          <p:nvPr/>
        </p:nvSpPr>
        <p:spPr>
          <a:xfrm>
            <a:off x="914400" y="5230368"/>
            <a:ext cx="4572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GUIDED BY THE LITERATURE</a:t>
            </a:r>
            <a:endParaRPr lang="en-US" sz="1200" dirty="0"/>
          </a:p>
        </p:txBody>
      </p:sp>
      <p:sp>
        <p:nvSpPr>
          <p:cNvPr id="47" name="Text 40"/>
          <p:cNvSpPr txBox="1"/>
          <p:nvPr/>
        </p:nvSpPr>
        <p:spPr>
          <a:xfrm>
            <a:off x="914400" y="5532120"/>
            <a:ext cx="10332720" cy="457200"/>
          </a:xfrm>
          <a:prstGeom prst="rect">
            <a:avLst/>
          </a:prstGeom>
          <a:noFill/>
          <a:ln/>
        </p:spPr>
        <p:txBody>
          <a:bodyPr wrap="square" lIns="0" tIns="0" rIns="0" bIns="0" rtlCol="0" anchor="t"/>
          <a:lstStyle/>
          <a:p>
            <a:pPr indent="0" marL="0">
              <a:buNone/>
            </a:pPr>
            <a:r>
              <a:rPr lang="en-US" sz="1500" dirty="0">
                <a:solidFill>
                  <a:schemeClr val="bg1"/>
                </a:solidFill>
              </a:rPr>
              <a:t>Pick storage by workload [6]. Use events between services [1]. Keep the cost of several databases under control [5].</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1  ·  NOVELTY OF DEVELOPED METHODOLOGY</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What is new in our methodology</a:t>
            </a:r>
            <a:endParaRPr lang="en-US" sz="3200" dirty="0"/>
          </a:p>
        </p:txBody>
      </p:sp>
      <p:graphicFrame>
        <p:nvGraphicFramePr>
          <p:cNvPr id="5" name="Novelty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560320"/>
                <a:gridCol w="4023360"/>
                <a:gridCol w="4480560"/>
              </a:tblGrid>
              <a:tr h="457200">
                <a:tc>
                  <a:txBody>
                    <a:bodyPr/>
                    <a:lstStyle/>
                    <a:p>
                      <a:pPr algn="l" indent="0" marL="0">
                        <a:buNone/>
                      </a:pPr>
                      <a:r>
                        <a:rPr lang="en-US" sz="1400" b="1" dirty="0">
                          <a:solidFill>
                            <a:srgbClr val="FFFFFF"/>
                          </a:solidFill>
                        </a:rPr>
                        <a:t>Aspect</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algn="l" indent="0" marL="0">
                        <a:buNone/>
                      </a:pPr>
                      <a:r>
                        <a:rPr lang="en-US" sz="1400" b="1" dirty="0">
                          <a:solidFill>
                            <a:srgbClr val="FFFFFF"/>
                          </a:solidFill>
                        </a:rPr>
                        <a:t>Typical approach</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algn="l" indent="0" marL="0">
                        <a:buNone/>
                      </a:pPr>
                      <a:r>
                        <a:rPr lang="en-US" sz="1400" b="1" dirty="0">
                          <a:solidFill>
                            <a:srgbClr val="1B2A41"/>
                          </a:solidFill>
                        </a:rPr>
                        <a:t>DockFlow methodology</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2A541"/>
                    </a:solidFill>
                  </a:tcPr>
                </a:tc>
              </a:tr>
              <a:tr h="685800">
                <a:tc>
                  <a:txBody>
                    <a:bodyPr/>
                    <a:lstStyle/>
                    <a:p>
                      <a:pPr indent="0" marL="0">
                        <a:buNone/>
                      </a:pPr>
                      <a:r>
                        <a:rPr lang="en-US" sz="1350" b="1" dirty="0">
                          <a:solidFill>
                            <a:srgbClr val="1B2A41"/>
                          </a:solidFill>
                        </a:rPr>
                        <a:t>How data is stored</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One database for every kind of data</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Each data type goes to the store that suits its job</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685800">
                <a:tc>
                  <a:txBody>
                    <a:bodyPr/>
                    <a:lstStyle/>
                    <a:p>
                      <a:pPr indent="0" marL="0">
                        <a:buNone/>
                      </a:pPr>
                      <a:r>
                        <a:rPr lang="en-US" sz="1350" b="1" dirty="0">
                          <a:solidFill>
                            <a:srgbClr val="1B2A41"/>
                          </a:solidFill>
                        </a:rPr>
                        <a:t>Delivery updates</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Fixed table columns</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Flexible documents in MongoDB</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685800">
                <a:tc>
                  <a:txBody>
                    <a:bodyPr/>
                    <a:lstStyle/>
                    <a:p>
                      <a:pPr indent="0" marL="0">
                        <a:buNone/>
                      </a:pPr>
                      <a:r>
                        <a:rPr lang="en-US" sz="1350" b="1" dirty="0">
                          <a:solidFill>
                            <a:srgbClr val="1B2A41"/>
                          </a:solidFill>
                        </a:rPr>
                        <a:t>Service communication</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Direct calls between modules</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Shipment events through Kafka</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685800">
                <a:tc>
                  <a:txBody>
                    <a:bodyPr/>
                    <a:lstStyle/>
                    <a:p>
                      <a:pPr indent="0" marL="0">
                        <a:buNone/>
                      </a:pPr>
                      <a:r>
                        <a:rPr lang="en-US" sz="1350" b="1" dirty="0">
                          <a:solidFill>
                            <a:srgbClr val="1B2A41"/>
                          </a:solidFill>
                        </a:rPr>
                        <a:t>Choice of tools</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Chosen by habit or convenience</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Chosen by workload, guided by the literature [5] [6]</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685800">
                <a:tc>
                  <a:txBody>
                    <a:bodyPr/>
                    <a:lstStyle/>
                    <a:p>
                      <a:pPr indent="0" marL="0">
                        <a:buNone/>
                      </a:pPr>
                      <a:r>
                        <a:rPr lang="en-US" sz="1350" b="1" dirty="0">
                          <a:solidFill>
                            <a:srgbClr val="1B2A41"/>
                          </a:solidFill>
                        </a:rPr>
                        <a:t>Scope</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Often only stock, or only delivery</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Stock, orders and deliveries in one website</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bl>
          </a:graphicData>
        </a:graphic>
      </p:graphicFrame>
      <p:sp>
        <p:nvSpPr>
          <p:cNvPr id="7" name="Novelty strip"/>
          <p:cNvSpPr/>
          <p:nvPr/>
        </p:nvSpPr>
        <p:spPr>
          <a:xfrm>
            <a:off x="548640" y="5440680"/>
            <a:ext cx="11064240" cy="731520"/>
          </a:xfrm>
          <a:prstGeom prst="roundRect">
            <a:avLst>
              <a:gd name="adj" fmla="val 12500"/>
            </a:avLst>
          </a:prstGeom>
          <a:solidFill>
            <a:schemeClr val="accent1"/>
          </a:solidFill>
          <a:ln w="12700">
            <a:solidFill>
              <a:schemeClr val="accent1"/>
            </a:solidFill>
            <a:prstDash val="solid"/>
          </a:ln>
        </p:spPr>
      </p:sp>
      <p:sp>
        <p:nvSpPr>
          <p:cNvPr id="8" name="Text 5"/>
          <p:cNvSpPr txBox="1"/>
          <p:nvPr/>
        </p:nvSpPr>
        <p:spPr>
          <a:xfrm>
            <a:off x="868680" y="5440680"/>
            <a:ext cx="10424160" cy="731520"/>
          </a:xfrm>
          <a:prstGeom prst="rect">
            <a:avLst/>
          </a:prstGeom>
          <a:noFill/>
          <a:ln/>
        </p:spPr>
        <p:txBody>
          <a:bodyPr wrap="square" lIns="0" tIns="0" rIns="0" bIns="0" rtlCol="0" anchor="ctr"/>
          <a:lstStyle/>
          <a:p>
            <a:pPr indent="0" marL="0">
              <a:buNone/>
            </a:pPr>
            <a:r>
              <a:rPr lang="en-US" sz="1600" b="1" dirty="0">
                <a:solidFill>
                  <a:schemeClr val="tx1"/>
                </a:solidFill>
              </a:rPr>
              <a:t>The novelty is the combination, applied to a clothing warehouse and its deliveries: the gap found in Review 2.</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2  ·  ADAPTABILITY OF METHODOLOGY</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How the methodology adapts to change</a:t>
            </a:r>
            <a:endParaRPr lang="en-US" sz="3200" dirty="0"/>
          </a:p>
        </p:txBody>
      </p:sp>
      <p:sp>
        <p:nvSpPr>
          <p:cNvPr id="6" name="Scenario 1"/>
          <p:cNvSpPr/>
          <p:nvPr/>
        </p:nvSpPr>
        <p:spPr>
          <a:xfrm>
            <a:off x="548640" y="1508760"/>
            <a:ext cx="5440680" cy="2148840"/>
          </a:xfrm>
          <a:prstGeom prst="roundRect">
            <a:avLst>
              <a:gd name="adj" fmla="val 4255"/>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7" name="New clothing category circle"/>
          <p:cNvSpPr/>
          <p:nvPr/>
        </p:nvSpPr>
        <p:spPr>
          <a:xfrm>
            <a:off x="822960" y="1737360"/>
            <a:ext cx="640080" cy="640080"/>
          </a:xfrm>
          <a:prstGeom prst="ellipse">
            <a:avLst/>
          </a:prstGeom>
          <a:solidFill>
            <a:schemeClr val="tx1"/>
          </a:solidFill>
          <a:ln w="12700">
            <a:solidFill>
              <a:schemeClr val="tx1"/>
            </a:solidFill>
            <a:prstDash val="solid"/>
          </a:ln>
        </p:spPr>
      </p:sp>
      <p:pic>
        <p:nvPicPr>
          <p:cNvPr id="8" name="Image 0" descr="New clothing category icon">    </p:cNvPr>
          <p:cNvPicPr>
            <a:picLocks noChangeAspect="1"/>
          </p:cNvPicPr>
          <p:nvPr/>
        </p:nvPicPr>
        <p:blipFill>
          <a:blip r:embed="rId1"/>
          <a:stretch>
            <a:fillRect/>
          </a:stretch>
        </p:blipFill>
        <p:spPr>
          <a:xfrm>
            <a:off x="963778" y="1878178"/>
            <a:ext cx="358445" cy="358445"/>
          </a:xfrm>
          <a:prstGeom prst="rect">
            <a:avLst/>
          </a:prstGeom>
        </p:spPr>
      </p:pic>
      <p:sp>
        <p:nvSpPr>
          <p:cNvPr id="9" name="Text 6"/>
          <p:cNvSpPr txBox="1"/>
          <p:nvPr/>
        </p:nvSpPr>
        <p:spPr>
          <a:xfrm>
            <a:off x="1645920" y="1737360"/>
            <a:ext cx="4114800" cy="640080"/>
          </a:xfrm>
          <a:prstGeom prst="rect">
            <a:avLst/>
          </a:prstGeom>
          <a:noFill/>
          <a:ln/>
        </p:spPr>
        <p:txBody>
          <a:bodyPr wrap="square" lIns="0" tIns="0" rIns="0" bIns="0" rtlCol="0" anchor="ctr"/>
          <a:lstStyle/>
          <a:p>
            <a:pPr indent="0" marL="0">
              <a:buNone/>
            </a:pPr>
            <a:r>
              <a:rPr lang="en-US" sz="1800" b="1" dirty="0">
                <a:solidFill>
                  <a:schemeClr val="tx1"/>
                </a:solidFill>
              </a:rPr>
              <a:t>New clothing category</a:t>
            </a:r>
            <a:endParaRPr lang="en-US" sz="1800" dirty="0"/>
          </a:p>
        </p:txBody>
      </p:sp>
      <p:sp>
        <p:nvSpPr>
          <p:cNvPr id="10" name="Text 7"/>
          <p:cNvSpPr txBox="1"/>
          <p:nvPr/>
        </p:nvSpPr>
        <p:spPr>
          <a:xfrm>
            <a:off x="822960" y="2514600"/>
            <a:ext cx="22860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WHAT CHANGES</a:t>
            </a:r>
            <a:endParaRPr lang="en-US" sz="1050" dirty="0"/>
          </a:p>
        </p:txBody>
      </p:sp>
      <p:sp>
        <p:nvSpPr>
          <p:cNvPr id="11" name="Text 8"/>
          <p:cNvSpPr txBox="1"/>
          <p:nvPr/>
        </p:nvSpPr>
        <p:spPr>
          <a:xfrm>
            <a:off x="822960" y="2770632"/>
            <a:ext cx="4892040" cy="320040"/>
          </a:xfrm>
          <a:prstGeom prst="rect">
            <a:avLst/>
          </a:prstGeom>
          <a:noFill/>
          <a:ln/>
        </p:spPr>
        <p:txBody>
          <a:bodyPr wrap="square" lIns="0" tIns="0" rIns="0" bIns="0" rtlCol="0" anchor="t"/>
          <a:lstStyle/>
          <a:p>
            <a:pPr indent="0" marL="0">
              <a:buNone/>
            </a:pPr>
            <a:r>
              <a:rPr lang="en-US" sz="1300" dirty="0">
                <a:solidFill>
                  <a:schemeClr val="tx1"/>
                </a:solidFill>
              </a:rPr>
              <a:t>Add the category and its sizes to the stock data.</a:t>
            </a:r>
            <a:endParaRPr lang="en-US" sz="1300" dirty="0"/>
          </a:p>
        </p:txBody>
      </p:sp>
      <p:sp>
        <p:nvSpPr>
          <p:cNvPr id="12" name="Text 9"/>
          <p:cNvSpPr txBox="1"/>
          <p:nvPr/>
        </p:nvSpPr>
        <p:spPr>
          <a:xfrm>
            <a:off x="822960" y="3108960"/>
            <a:ext cx="2286000" cy="228600"/>
          </a:xfrm>
          <a:prstGeom prst="rect">
            <a:avLst/>
          </a:prstGeom>
          <a:noFill/>
          <a:ln/>
        </p:spPr>
        <p:txBody>
          <a:bodyPr wrap="square" lIns="0" tIns="0" rIns="0" bIns="0" rtlCol="0" anchor="ctr"/>
          <a:lstStyle/>
          <a:p>
            <a:pPr indent="0" marL="0">
              <a:buNone/>
            </a:pPr>
            <a:r>
              <a:rPr lang="en-US" sz="1050" b="1" spc="200" kern="0" dirty="0">
                <a:solidFill>
                  <a:schemeClr val="tx2"/>
                </a:solidFill>
              </a:rPr>
              <a:t>WHAT STAYS</a:t>
            </a:r>
            <a:endParaRPr lang="en-US" sz="1050" dirty="0"/>
          </a:p>
        </p:txBody>
      </p:sp>
      <p:sp>
        <p:nvSpPr>
          <p:cNvPr id="13" name="Text 10"/>
          <p:cNvSpPr txBox="1"/>
          <p:nvPr/>
        </p:nvSpPr>
        <p:spPr>
          <a:xfrm>
            <a:off x="822960" y="3337560"/>
            <a:ext cx="4892040" cy="274320"/>
          </a:xfrm>
          <a:prstGeom prst="rect">
            <a:avLst/>
          </a:prstGeom>
          <a:noFill/>
          <a:ln/>
        </p:spPr>
        <p:txBody>
          <a:bodyPr wrap="square" lIns="0" tIns="0" rIns="0" bIns="0" rtlCol="0" anchor="t"/>
          <a:lstStyle/>
          <a:p>
            <a:pPr indent="0" marL="0">
              <a:buNone/>
            </a:pPr>
            <a:r>
              <a:rPr lang="en-US" sz="1300" dirty="0">
                <a:solidFill>
                  <a:schemeClr val="accent3"/>
                </a:solidFill>
              </a:rPr>
              <a:t>Order and delivery flow.</a:t>
            </a:r>
            <a:endParaRPr lang="en-US" sz="1300" dirty="0"/>
          </a:p>
        </p:txBody>
      </p:sp>
      <p:sp>
        <p:nvSpPr>
          <p:cNvPr id="14" name="Scenario 2"/>
          <p:cNvSpPr/>
          <p:nvPr/>
        </p:nvSpPr>
        <p:spPr>
          <a:xfrm>
            <a:off x="6172200" y="1508760"/>
            <a:ext cx="5440680" cy="2148840"/>
          </a:xfrm>
          <a:prstGeom prst="roundRect">
            <a:avLst>
              <a:gd name="adj" fmla="val 4255"/>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5" name="New delivery details circle"/>
          <p:cNvSpPr/>
          <p:nvPr/>
        </p:nvSpPr>
        <p:spPr>
          <a:xfrm>
            <a:off x="6446520" y="1737360"/>
            <a:ext cx="640080" cy="640080"/>
          </a:xfrm>
          <a:prstGeom prst="ellipse">
            <a:avLst/>
          </a:prstGeom>
          <a:solidFill>
            <a:schemeClr val="tx1"/>
          </a:solidFill>
          <a:ln w="12700">
            <a:solidFill>
              <a:schemeClr val="tx1"/>
            </a:solidFill>
            <a:prstDash val="solid"/>
          </a:ln>
        </p:spPr>
      </p:sp>
      <p:pic>
        <p:nvPicPr>
          <p:cNvPr id="16" name="Image 1" descr="New delivery details icon">    </p:cNvPr>
          <p:cNvPicPr>
            <a:picLocks noChangeAspect="1"/>
          </p:cNvPicPr>
          <p:nvPr/>
        </p:nvPicPr>
        <p:blipFill>
          <a:blip r:embed="rId2"/>
          <a:stretch>
            <a:fillRect/>
          </a:stretch>
        </p:blipFill>
        <p:spPr>
          <a:xfrm>
            <a:off x="6587338" y="1878178"/>
            <a:ext cx="358445" cy="358445"/>
          </a:xfrm>
          <a:prstGeom prst="rect">
            <a:avLst/>
          </a:prstGeom>
        </p:spPr>
      </p:pic>
      <p:sp>
        <p:nvSpPr>
          <p:cNvPr id="17" name="Text 13"/>
          <p:cNvSpPr txBox="1"/>
          <p:nvPr/>
        </p:nvSpPr>
        <p:spPr>
          <a:xfrm>
            <a:off x="7269480" y="1737360"/>
            <a:ext cx="4114800" cy="640080"/>
          </a:xfrm>
          <a:prstGeom prst="rect">
            <a:avLst/>
          </a:prstGeom>
          <a:noFill/>
          <a:ln/>
        </p:spPr>
        <p:txBody>
          <a:bodyPr wrap="square" lIns="0" tIns="0" rIns="0" bIns="0" rtlCol="0" anchor="ctr"/>
          <a:lstStyle/>
          <a:p>
            <a:pPr indent="0" marL="0">
              <a:buNone/>
            </a:pPr>
            <a:r>
              <a:rPr lang="en-US" sz="1800" b="1" dirty="0">
                <a:solidFill>
                  <a:schemeClr val="tx1"/>
                </a:solidFill>
              </a:rPr>
              <a:t>New delivery details</a:t>
            </a:r>
            <a:endParaRPr lang="en-US" sz="1800" dirty="0"/>
          </a:p>
        </p:txBody>
      </p:sp>
      <p:sp>
        <p:nvSpPr>
          <p:cNvPr id="18" name="Text 14"/>
          <p:cNvSpPr txBox="1"/>
          <p:nvPr/>
        </p:nvSpPr>
        <p:spPr>
          <a:xfrm>
            <a:off x="6446520" y="2514600"/>
            <a:ext cx="22860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WHAT CHANGES</a:t>
            </a:r>
            <a:endParaRPr lang="en-US" sz="1050" dirty="0"/>
          </a:p>
        </p:txBody>
      </p:sp>
      <p:sp>
        <p:nvSpPr>
          <p:cNvPr id="19" name="Text 15"/>
          <p:cNvSpPr txBox="1"/>
          <p:nvPr/>
        </p:nvSpPr>
        <p:spPr>
          <a:xfrm>
            <a:off x="6446520" y="2770632"/>
            <a:ext cx="4892040" cy="320040"/>
          </a:xfrm>
          <a:prstGeom prst="rect">
            <a:avLst/>
          </a:prstGeom>
          <a:noFill/>
          <a:ln/>
        </p:spPr>
        <p:txBody>
          <a:bodyPr wrap="square" lIns="0" tIns="0" rIns="0" bIns="0" rtlCol="0" anchor="t"/>
          <a:lstStyle/>
          <a:p>
            <a:pPr indent="0" marL="0">
              <a:buNone/>
            </a:pPr>
            <a:r>
              <a:rPr lang="en-US" sz="1300" dirty="0">
                <a:solidFill>
                  <a:schemeClr val="tx1"/>
                </a:solidFill>
              </a:rPr>
              <a:t>Add fields to the flexible delivery updates in MongoDB.</a:t>
            </a:r>
            <a:endParaRPr lang="en-US" sz="1300" dirty="0"/>
          </a:p>
        </p:txBody>
      </p:sp>
      <p:sp>
        <p:nvSpPr>
          <p:cNvPr id="20" name="Text 16"/>
          <p:cNvSpPr txBox="1"/>
          <p:nvPr/>
        </p:nvSpPr>
        <p:spPr>
          <a:xfrm>
            <a:off x="6446520" y="3108960"/>
            <a:ext cx="2286000" cy="228600"/>
          </a:xfrm>
          <a:prstGeom prst="rect">
            <a:avLst/>
          </a:prstGeom>
          <a:noFill/>
          <a:ln/>
        </p:spPr>
        <p:txBody>
          <a:bodyPr wrap="square" lIns="0" tIns="0" rIns="0" bIns="0" rtlCol="0" anchor="ctr"/>
          <a:lstStyle/>
          <a:p>
            <a:pPr indent="0" marL="0">
              <a:buNone/>
            </a:pPr>
            <a:r>
              <a:rPr lang="en-US" sz="1050" b="1" spc="200" kern="0" dirty="0">
                <a:solidFill>
                  <a:schemeClr val="tx2"/>
                </a:solidFill>
              </a:rPr>
              <a:t>WHAT STAYS</a:t>
            </a:r>
            <a:endParaRPr lang="en-US" sz="1050" dirty="0"/>
          </a:p>
        </p:txBody>
      </p:sp>
      <p:sp>
        <p:nvSpPr>
          <p:cNvPr id="21" name="Text 17"/>
          <p:cNvSpPr txBox="1"/>
          <p:nvPr/>
        </p:nvSpPr>
        <p:spPr>
          <a:xfrm>
            <a:off x="6446520" y="3337560"/>
            <a:ext cx="4892040" cy="274320"/>
          </a:xfrm>
          <a:prstGeom prst="rect">
            <a:avLst/>
          </a:prstGeom>
          <a:noFill/>
          <a:ln/>
        </p:spPr>
        <p:txBody>
          <a:bodyPr wrap="square" lIns="0" tIns="0" rIns="0" bIns="0" rtlCol="0" anchor="t"/>
          <a:lstStyle/>
          <a:p>
            <a:pPr indent="0" marL="0">
              <a:buNone/>
            </a:pPr>
            <a:r>
              <a:rPr lang="en-US" sz="1300" dirty="0">
                <a:solidFill>
                  <a:schemeClr val="accent3"/>
                </a:solidFill>
              </a:rPr>
              <a:t>Stock and order tables in MySQL.</a:t>
            </a:r>
            <a:endParaRPr lang="en-US" sz="1300" dirty="0"/>
          </a:p>
        </p:txBody>
      </p:sp>
      <p:sp>
        <p:nvSpPr>
          <p:cNvPr id="22" name="Scenario 3"/>
          <p:cNvSpPr/>
          <p:nvPr/>
        </p:nvSpPr>
        <p:spPr>
          <a:xfrm>
            <a:off x="548640" y="3840480"/>
            <a:ext cx="5440680" cy="2148840"/>
          </a:xfrm>
          <a:prstGeom prst="roundRect">
            <a:avLst>
              <a:gd name="adj" fmla="val 4255"/>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3" name="Courier GPS feed (future) circle"/>
          <p:cNvSpPr/>
          <p:nvPr/>
        </p:nvSpPr>
        <p:spPr>
          <a:xfrm>
            <a:off x="822960" y="4069080"/>
            <a:ext cx="640080" cy="640080"/>
          </a:xfrm>
          <a:prstGeom prst="ellipse">
            <a:avLst/>
          </a:prstGeom>
          <a:solidFill>
            <a:schemeClr val="tx1"/>
          </a:solidFill>
          <a:ln w="12700">
            <a:solidFill>
              <a:schemeClr val="tx1"/>
            </a:solidFill>
            <a:prstDash val="solid"/>
          </a:ln>
        </p:spPr>
      </p:sp>
      <p:pic>
        <p:nvPicPr>
          <p:cNvPr id="24" name="Image 2" descr="Courier GPS feed (future) icon">    </p:cNvPr>
          <p:cNvPicPr>
            <a:picLocks noChangeAspect="1"/>
          </p:cNvPicPr>
          <p:nvPr/>
        </p:nvPicPr>
        <p:blipFill>
          <a:blip r:embed="rId3"/>
          <a:stretch>
            <a:fillRect/>
          </a:stretch>
        </p:blipFill>
        <p:spPr>
          <a:xfrm>
            <a:off x="963778" y="4209898"/>
            <a:ext cx="358445" cy="358445"/>
          </a:xfrm>
          <a:prstGeom prst="rect">
            <a:avLst/>
          </a:prstGeom>
        </p:spPr>
      </p:pic>
      <p:sp>
        <p:nvSpPr>
          <p:cNvPr id="25" name="Text 20"/>
          <p:cNvSpPr txBox="1"/>
          <p:nvPr/>
        </p:nvSpPr>
        <p:spPr>
          <a:xfrm>
            <a:off x="1645920" y="4069080"/>
            <a:ext cx="4114800" cy="640080"/>
          </a:xfrm>
          <a:prstGeom prst="rect">
            <a:avLst/>
          </a:prstGeom>
          <a:noFill/>
          <a:ln/>
        </p:spPr>
        <p:txBody>
          <a:bodyPr wrap="square" lIns="0" tIns="0" rIns="0" bIns="0" rtlCol="0" anchor="ctr"/>
          <a:lstStyle/>
          <a:p>
            <a:pPr indent="0" marL="0">
              <a:buNone/>
            </a:pPr>
            <a:r>
              <a:rPr lang="en-US" sz="1800" b="1" dirty="0">
                <a:solidFill>
                  <a:schemeClr val="tx1"/>
                </a:solidFill>
              </a:rPr>
              <a:t>Courier GPS feed (future)</a:t>
            </a:r>
            <a:endParaRPr lang="en-US" sz="1800" dirty="0"/>
          </a:p>
        </p:txBody>
      </p:sp>
      <p:sp>
        <p:nvSpPr>
          <p:cNvPr id="26" name="Text 21"/>
          <p:cNvSpPr txBox="1"/>
          <p:nvPr/>
        </p:nvSpPr>
        <p:spPr>
          <a:xfrm>
            <a:off x="822960" y="4846320"/>
            <a:ext cx="22860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WHAT CHANGES</a:t>
            </a:r>
            <a:endParaRPr lang="en-US" sz="1050" dirty="0"/>
          </a:p>
        </p:txBody>
      </p:sp>
      <p:sp>
        <p:nvSpPr>
          <p:cNvPr id="27" name="Text 22"/>
          <p:cNvSpPr txBox="1"/>
          <p:nvPr/>
        </p:nvSpPr>
        <p:spPr>
          <a:xfrm>
            <a:off x="822960" y="5102352"/>
            <a:ext cx="4892040" cy="320040"/>
          </a:xfrm>
          <a:prstGeom prst="rect">
            <a:avLst/>
          </a:prstGeom>
          <a:noFill/>
          <a:ln/>
        </p:spPr>
        <p:txBody>
          <a:bodyPr wrap="square" lIns="0" tIns="0" rIns="0" bIns="0" rtlCol="0" anchor="t"/>
          <a:lstStyle/>
          <a:p>
            <a:pPr indent="0" marL="0">
              <a:buNone/>
            </a:pPr>
            <a:r>
              <a:rPr lang="en-US" sz="1300" dirty="0">
                <a:solidFill>
                  <a:schemeClr val="tx1"/>
                </a:solidFill>
              </a:rPr>
              <a:t>Add a new source of shipment events through Kafka.</a:t>
            </a:r>
            <a:endParaRPr lang="en-US" sz="1300" dirty="0"/>
          </a:p>
        </p:txBody>
      </p:sp>
      <p:sp>
        <p:nvSpPr>
          <p:cNvPr id="28" name="Text 23"/>
          <p:cNvSpPr txBox="1"/>
          <p:nvPr/>
        </p:nvSpPr>
        <p:spPr>
          <a:xfrm>
            <a:off x="822960" y="5440680"/>
            <a:ext cx="2286000" cy="228600"/>
          </a:xfrm>
          <a:prstGeom prst="rect">
            <a:avLst/>
          </a:prstGeom>
          <a:noFill/>
          <a:ln/>
        </p:spPr>
        <p:txBody>
          <a:bodyPr wrap="square" lIns="0" tIns="0" rIns="0" bIns="0" rtlCol="0" anchor="ctr"/>
          <a:lstStyle/>
          <a:p>
            <a:pPr indent="0" marL="0">
              <a:buNone/>
            </a:pPr>
            <a:r>
              <a:rPr lang="en-US" sz="1050" b="1" spc="200" kern="0" dirty="0">
                <a:solidFill>
                  <a:schemeClr val="tx2"/>
                </a:solidFill>
              </a:rPr>
              <a:t>WHAT STAYS</a:t>
            </a:r>
            <a:endParaRPr lang="en-US" sz="1050" dirty="0"/>
          </a:p>
        </p:txBody>
      </p:sp>
      <p:sp>
        <p:nvSpPr>
          <p:cNvPr id="29" name="Text 24"/>
          <p:cNvSpPr txBox="1"/>
          <p:nvPr/>
        </p:nvSpPr>
        <p:spPr>
          <a:xfrm>
            <a:off x="822960" y="5669280"/>
            <a:ext cx="4892040" cy="274320"/>
          </a:xfrm>
          <a:prstGeom prst="rect">
            <a:avLst/>
          </a:prstGeom>
          <a:noFill/>
          <a:ln/>
        </p:spPr>
        <p:txBody>
          <a:bodyPr wrap="square" lIns="0" tIns="0" rIns="0" bIns="0" rtlCol="0" anchor="t"/>
          <a:lstStyle/>
          <a:p>
            <a:pPr indent="0" marL="0">
              <a:buNone/>
            </a:pPr>
            <a:r>
              <a:rPr lang="en-US" sz="1300" dirty="0">
                <a:solidFill>
                  <a:schemeClr val="accent3"/>
                </a:solidFill>
              </a:rPr>
              <a:t>Existing services and tables.</a:t>
            </a:r>
            <a:endParaRPr lang="en-US" sz="1300" dirty="0"/>
          </a:p>
        </p:txBody>
      </p:sp>
      <p:sp>
        <p:nvSpPr>
          <p:cNvPr id="30" name="Scenario 4"/>
          <p:cNvSpPr/>
          <p:nvPr/>
        </p:nvSpPr>
        <p:spPr>
          <a:xfrm>
            <a:off x="6172200" y="3840480"/>
            <a:ext cx="5440680" cy="2148840"/>
          </a:xfrm>
          <a:prstGeom prst="roundRect">
            <a:avLst>
              <a:gd name="adj" fmla="val 4255"/>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31" name="New service, such as notifications circle"/>
          <p:cNvSpPr/>
          <p:nvPr/>
        </p:nvSpPr>
        <p:spPr>
          <a:xfrm>
            <a:off x="6446520" y="4069080"/>
            <a:ext cx="640080" cy="640080"/>
          </a:xfrm>
          <a:prstGeom prst="ellipse">
            <a:avLst/>
          </a:prstGeom>
          <a:solidFill>
            <a:schemeClr val="tx1"/>
          </a:solidFill>
          <a:ln w="12700">
            <a:solidFill>
              <a:schemeClr val="tx1"/>
            </a:solidFill>
            <a:prstDash val="solid"/>
          </a:ln>
        </p:spPr>
      </p:sp>
      <p:pic>
        <p:nvPicPr>
          <p:cNvPr id="32" name="Image 3" descr="New service, such as notifications icon">    </p:cNvPr>
          <p:cNvPicPr>
            <a:picLocks noChangeAspect="1"/>
          </p:cNvPicPr>
          <p:nvPr/>
        </p:nvPicPr>
        <p:blipFill>
          <a:blip r:embed="rId4"/>
          <a:stretch>
            <a:fillRect/>
          </a:stretch>
        </p:blipFill>
        <p:spPr>
          <a:xfrm>
            <a:off x="6587338" y="4209898"/>
            <a:ext cx="358445" cy="358445"/>
          </a:xfrm>
          <a:prstGeom prst="rect">
            <a:avLst/>
          </a:prstGeom>
        </p:spPr>
      </p:pic>
      <p:sp>
        <p:nvSpPr>
          <p:cNvPr id="33" name="Text 27"/>
          <p:cNvSpPr txBox="1"/>
          <p:nvPr/>
        </p:nvSpPr>
        <p:spPr>
          <a:xfrm>
            <a:off x="7269480" y="4069080"/>
            <a:ext cx="4114800" cy="640080"/>
          </a:xfrm>
          <a:prstGeom prst="rect">
            <a:avLst/>
          </a:prstGeom>
          <a:noFill/>
          <a:ln/>
        </p:spPr>
        <p:txBody>
          <a:bodyPr wrap="square" lIns="0" tIns="0" rIns="0" bIns="0" rtlCol="0" anchor="ctr"/>
          <a:lstStyle/>
          <a:p>
            <a:pPr indent="0" marL="0">
              <a:buNone/>
            </a:pPr>
            <a:r>
              <a:rPr lang="en-US" sz="1800" b="1" dirty="0">
                <a:solidFill>
                  <a:schemeClr val="tx1"/>
                </a:solidFill>
              </a:rPr>
              <a:t>New service, such as notifications</a:t>
            </a:r>
            <a:endParaRPr lang="en-US" sz="1800" dirty="0"/>
          </a:p>
        </p:txBody>
      </p:sp>
      <p:sp>
        <p:nvSpPr>
          <p:cNvPr id="34" name="Text 28"/>
          <p:cNvSpPr txBox="1"/>
          <p:nvPr/>
        </p:nvSpPr>
        <p:spPr>
          <a:xfrm>
            <a:off x="6446520" y="4846320"/>
            <a:ext cx="2286000" cy="228600"/>
          </a:xfrm>
          <a:prstGeom prst="rect">
            <a:avLst/>
          </a:prstGeom>
          <a:noFill/>
          <a:ln/>
        </p:spPr>
        <p:txBody>
          <a:bodyPr wrap="square" lIns="0" tIns="0" rIns="0" bIns="0" rtlCol="0" anchor="ctr"/>
          <a:lstStyle/>
          <a:p>
            <a:pPr indent="0" marL="0">
              <a:buNone/>
            </a:pPr>
            <a:r>
              <a:rPr lang="en-US" sz="1050" b="1" spc="200" kern="0" dirty="0">
                <a:solidFill>
                  <a:schemeClr val="accent1"/>
                </a:solidFill>
              </a:rPr>
              <a:t>WHAT CHANGES</a:t>
            </a:r>
            <a:endParaRPr lang="en-US" sz="1050" dirty="0"/>
          </a:p>
        </p:txBody>
      </p:sp>
      <p:sp>
        <p:nvSpPr>
          <p:cNvPr id="35" name="Text 29"/>
          <p:cNvSpPr txBox="1"/>
          <p:nvPr/>
        </p:nvSpPr>
        <p:spPr>
          <a:xfrm>
            <a:off x="6446520" y="5102352"/>
            <a:ext cx="4892040" cy="320040"/>
          </a:xfrm>
          <a:prstGeom prst="rect">
            <a:avLst/>
          </a:prstGeom>
          <a:noFill/>
          <a:ln/>
        </p:spPr>
        <p:txBody>
          <a:bodyPr wrap="square" lIns="0" tIns="0" rIns="0" bIns="0" rtlCol="0" anchor="t"/>
          <a:lstStyle/>
          <a:p>
            <a:pPr indent="0" marL="0">
              <a:buNone/>
            </a:pPr>
            <a:r>
              <a:rPr lang="en-US" sz="1300" dirty="0">
                <a:solidFill>
                  <a:schemeClr val="tx1"/>
                </a:solidFill>
              </a:rPr>
              <a:t>Add a new service that listens to shipment events.</a:t>
            </a:r>
            <a:endParaRPr lang="en-US" sz="1300" dirty="0"/>
          </a:p>
        </p:txBody>
      </p:sp>
      <p:sp>
        <p:nvSpPr>
          <p:cNvPr id="36" name="Text 30"/>
          <p:cNvSpPr txBox="1"/>
          <p:nvPr/>
        </p:nvSpPr>
        <p:spPr>
          <a:xfrm>
            <a:off x="6446520" y="5440680"/>
            <a:ext cx="2286000" cy="228600"/>
          </a:xfrm>
          <a:prstGeom prst="rect">
            <a:avLst/>
          </a:prstGeom>
          <a:noFill/>
          <a:ln/>
        </p:spPr>
        <p:txBody>
          <a:bodyPr wrap="square" lIns="0" tIns="0" rIns="0" bIns="0" rtlCol="0" anchor="ctr"/>
          <a:lstStyle/>
          <a:p>
            <a:pPr indent="0" marL="0">
              <a:buNone/>
            </a:pPr>
            <a:r>
              <a:rPr lang="en-US" sz="1050" b="1" spc="200" kern="0" dirty="0">
                <a:solidFill>
                  <a:schemeClr val="tx2"/>
                </a:solidFill>
              </a:rPr>
              <a:t>WHAT STAYS</a:t>
            </a:r>
            <a:endParaRPr lang="en-US" sz="1050" dirty="0"/>
          </a:p>
        </p:txBody>
      </p:sp>
      <p:sp>
        <p:nvSpPr>
          <p:cNvPr id="37" name="Text 31"/>
          <p:cNvSpPr txBox="1"/>
          <p:nvPr/>
        </p:nvSpPr>
        <p:spPr>
          <a:xfrm>
            <a:off x="6446520" y="5669280"/>
            <a:ext cx="4892040" cy="274320"/>
          </a:xfrm>
          <a:prstGeom prst="rect">
            <a:avLst/>
          </a:prstGeom>
          <a:noFill/>
          <a:ln/>
        </p:spPr>
        <p:txBody>
          <a:bodyPr wrap="square" lIns="0" tIns="0" rIns="0" bIns="0" rtlCol="0" anchor="t"/>
          <a:lstStyle/>
          <a:p>
            <a:pPr indent="0" marL="0">
              <a:buNone/>
            </a:pPr>
            <a:r>
              <a:rPr lang="en-US" sz="1300" dirty="0">
                <a:solidFill>
                  <a:schemeClr val="accent3"/>
                </a:solidFill>
              </a:rPr>
              <a:t>Services already running.</a:t>
            </a:r>
            <a:endParaRPr lang="en-US" sz="1300" dirty="0"/>
          </a:p>
        </p:txBody>
      </p:sp>
      <p:sp>
        <p:nvSpPr>
          <p:cNvPr id="38" name="Text 32"/>
          <p:cNvSpPr txBox="1"/>
          <p:nvPr/>
        </p:nvSpPr>
        <p:spPr>
          <a:xfrm>
            <a:off x="548640" y="6172200"/>
            <a:ext cx="10058400" cy="228600"/>
          </a:xfrm>
          <a:prstGeom prst="rect">
            <a:avLst/>
          </a:prstGeom>
          <a:noFill/>
          <a:ln/>
        </p:spPr>
        <p:txBody>
          <a:bodyPr wrap="square" lIns="0" tIns="0" rIns="0" bIns="0" rtlCol="0" anchor="ctr"/>
          <a:lstStyle/>
          <a:p>
            <a:pPr indent="0" marL="0">
              <a:buNone/>
            </a:pPr>
            <a:r>
              <a:rPr lang="en-US" sz="1100" i="1" dirty="0">
                <a:solidFill>
                  <a:schemeClr val="accent3"/>
                </a:solidFill>
              </a:rPr>
              <a:t>Design reasoning for these scenarios; they have not yet been tested in DockFlow.</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2  ·  ADAPTABILITY OF METHODOLOGY</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Trade-offs and how we manage them</a:t>
            </a:r>
            <a:endParaRPr lang="en-US" sz="3200" dirty="0"/>
          </a:p>
        </p:txBody>
      </p:sp>
      <p:graphicFrame>
        <p:nvGraphicFramePr>
          <p:cNvPr id="7" name="Trade-off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651760"/>
                <a:gridCol w="4389120"/>
                <a:gridCol w="4023360"/>
              </a:tblGrid>
              <a:tr h="457200">
                <a:tc>
                  <a:txBody>
                    <a:bodyPr/>
                    <a:lstStyle/>
                    <a:p>
                      <a:pPr algn="l" indent="0" marL="0">
                        <a:buNone/>
                      </a:pPr>
                      <a:r>
                        <a:rPr lang="en-US" sz="1400" b="1" dirty="0">
                          <a:solidFill>
                            <a:srgbClr val="FFFFFF"/>
                          </a:solidFill>
                        </a:rPr>
                        <a:t>Trade-off</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algn="l" indent="0" marL="0">
                        <a:buNone/>
                      </a:pPr>
                      <a:r>
                        <a:rPr lang="en-US" sz="1400" b="1" dirty="0">
                          <a:solidFill>
                            <a:srgbClr val="FFFFFF"/>
                          </a:solidFill>
                        </a:rPr>
                        <a:t>Why it happens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algn="l" indent="0" marL="0">
                        <a:buNone/>
                      </a:pPr>
                      <a:r>
                        <a:rPr lang="en-US" sz="1400" b="1" dirty="0">
                          <a:solidFill>
                            <a:srgbClr val="1B2A41"/>
                          </a:solidFill>
                        </a:rPr>
                        <a:t>How we manage it</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2A541"/>
                    </a:solidFill>
                  </a:tcPr>
                </a:tc>
              </a:tr>
              <a:tr h="868680">
                <a:tc>
                  <a:txBody>
                    <a:bodyPr/>
                    <a:lstStyle/>
                    <a:p>
                      <a:pPr indent="0" marL="0">
                        <a:buNone/>
                      </a:pPr>
                      <a:r>
                        <a:rPr lang="en-US" sz="1350" b="1" dirty="0">
                          <a:solidFill>
                            <a:srgbClr val="1B2A41"/>
                          </a:solidFill>
                        </a:rPr>
                        <a:t>Three tools to run</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MySQL, MongoDB and Kafka each need setup and care.</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Give each tool one narrow job.</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868680">
                <a:tc>
                  <a:txBody>
                    <a:bodyPr/>
                    <a:lstStyle/>
                    <a:p>
                      <a:pPr indent="0" marL="0">
                        <a:buNone/>
                      </a:pPr>
                      <a:r>
                        <a:rPr lang="en-US" sz="1350" b="1" dirty="0">
                          <a:solidFill>
                            <a:srgbClr val="1B2A41"/>
                          </a:solidFill>
                        </a:rPr>
                        <a:t>Data in two stores</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Orders live in MySQL and delivery updates in MongoDB.</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Keep records linked by an order reference.</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868680">
                <a:tc>
                  <a:txBody>
                    <a:bodyPr/>
                    <a:lstStyle/>
                    <a:p>
                      <a:pPr indent="0" marL="0">
                        <a:buNone/>
                      </a:pPr>
                      <a:r>
                        <a:rPr lang="en-US" sz="1350" b="1" dirty="0">
                          <a:solidFill>
                            <a:srgbClr val="1B2A41"/>
                          </a:solidFill>
                        </a:rPr>
                        <a:t>Repeated events</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Kafka delivery is at-least-once, so an event can arrive twice [1].</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Make delivery updates safe to repeat.</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868680">
                <a:tc>
                  <a:txBody>
                    <a:bodyPr/>
                    <a:lstStyle/>
                    <a:p>
                      <a:pPr indent="0" marL="0">
                        <a:buNone/>
                      </a:pPr>
                      <a:r>
                        <a:rPr lang="en-US" sz="1350" b="1" dirty="0">
                          <a:solidFill>
                            <a:srgbClr val="1B2A41"/>
                          </a:solidFill>
                        </a:rPr>
                        <a:t>No GPS or payments</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Out of scope for this course project.</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Planned as new events and services later.</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bl>
          </a:graphicData>
        </a:graphic>
      </p:graphicFrame>
      <p:sp>
        <p:nvSpPr>
          <p:cNvPr id="7" name="Trade-off strip"/>
          <p:cNvSpPr/>
          <p:nvPr/>
        </p:nvSpPr>
        <p:spPr>
          <a:xfrm>
            <a:off x="548640" y="5532120"/>
            <a:ext cx="11064240" cy="640080"/>
          </a:xfrm>
          <a:prstGeom prst="roundRect">
            <a:avLst>
              <a:gd name="adj" fmla="val 14286"/>
            </a:avLst>
          </a:prstGeom>
          <a:solidFill>
            <a:schemeClr val="tx2"/>
          </a:solidFill>
          <a:ln w="12700">
            <a:solidFill>
              <a:schemeClr val="tx2"/>
            </a:solidFill>
            <a:prstDash val="solid"/>
          </a:ln>
        </p:spPr>
      </p:sp>
      <p:sp>
        <p:nvSpPr>
          <p:cNvPr id="8" name="Text 5"/>
          <p:cNvSpPr txBox="1"/>
          <p:nvPr/>
        </p:nvSpPr>
        <p:spPr>
          <a:xfrm>
            <a:off x="868680" y="5532120"/>
            <a:ext cx="10424160" cy="640080"/>
          </a:xfrm>
          <a:prstGeom prst="rect">
            <a:avLst/>
          </a:prstGeom>
          <a:noFill/>
          <a:ln/>
        </p:spPr>
        <p:txBody>
          <a:bodyPr wrap="square" lIns="0" tIns="0" rIns="0" bIns="0" rtlCol="0" anchor="ctr"/>
          <a:lstStyle/>
          <a:p>
            <a:pPr indent="0" marL="0">
              <a:buNone/>
            </a:pPr>
            <a:r>
              <a:rPr lang="en-US" sz="1450" dirty="0">
                <a:solidFill>
                  <a:schemeClr val="bg1"/>
                </a:solidFill>
              </a:rPr>
              <a:t>Review 2 [5] also found that polyglot persistence adds complexity. We accept this cost for a better fit per job.</a:t>
            </a:r>
            <a:endParaRPr lang="en-US" sz="14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3  ·  METHODOLOGY EVALUATION</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Evaluation framework: five measures</a:t>
            </a:r>
            <a:endParaRPr lang="en-US" sz="3200" dirty="0"/>
          </a:p>
        </p:txBody>
      </p:sp>
      <p:graphicFrame>
        <p:nvGraphicFramePr>
          <p:cNvPr id="8" name="Evaluation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651760"/>
                <a:gridCol w="5669280"/>
                <a:gridCol w="2743200"/>
              </a:tblGrid>
              <a:tr h="457200">
                <a:tc>
                  <a:txBody>
                    <a:bodyPr/>
                    <a:lstStyle/>
                    <a:p>
                      <a:pPr algn="l" indent="0" marL="0">
                        <a:buNone/>
                      </a:pPr>
                      <a:r>
                        <a:rPr lang="en-US" sz="1300" b="1" dirty="0">
                          <a:solidFill>
                            <a:srgbClr val="FFFFFF"/>
                          </a:solidFill>
                        </a:rPr>
                        <a:t>Criterion</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300" b="1" dirty="0">
                          <a:solidFill>
                            <a:srgbClr val="FFFFFF"/>
                          </a:solidFill>
                        </a:rPr>
                        <a:t>How it is tested</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300" b="1" dirty="0">
                          <a:solidFill>
                            <a:srgbClr val="FFFFFF"/>
                          </a:solidFill>
                        </a:rPr>
                        <a:t>Measure</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r>
              <a:tr h="749808">
                <a:tc>
                  <a:txBody>
                    <a:bodyPr/>
                    <a:lstStyle/>
                    <a:p>
                      <a:pPr indent="0" marL="0">
                        <a:buNone/>
                      </a:pPr>
                      <a:r>
                        <a:rPr lang="en-US" sz="1400" b="1" dirty="0">
                          <a:solidFill>
                            <a:srgbClr val="1B2A41"/>
                          </a:solidFill>
                        </a:rPr>
                        <a:t>Functional correctness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Run each staff workflow: add stock, create an order, update a delivery</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Test cases passed</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49808">
                <a:tc>
                  <a:txBody>
                    <a:bodyPr/>
                    <a:lstStyle/>
                    <a:p>
                      <a:pPr indent="0" marL="0">
                        <a:buNone/>
                      </a:pPr>
                      <a:r>
                        <a:rPr lang="en-US" sz="1400" b="1" dirty="0">
                          <a:solidFill>
                            <a:srgbClr val="1B2A41"/>
                          </a:solidFill>
                        </a:rPr>
                        <a:t>Data consistency</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Compare stock counts with orders; check delivery updates match their orders</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Mismatches found</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49808">
                <a:tc>
                  <a:txBody>
                    <a:bodyPr/>
                    <a:lstStyle/>
                    <a:p>
                      <a:pPr indent="0" marL="0">
                        <a:buNone/>
                      </a:pPr>
                      <a:r>
                        <a:rPr lang="en-US" sz="1400" b="1" dirty="0">
                          <a:solidFill>
                            <a:srgbClr val="1B2A41"/>
                          </a:solidFill>
                        </a:rPr>
                        <a:t>Performance</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Time common actions on MySQL (stock, orders) and MongoDB (delivery updates)</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Response time per action</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49808">
                <a:tc>
                  <a:txBody>
                    <a:bodyPr/>
                    <a:lstStyle/>
                    <a:p>
                      <a:pPr indent="0" marL="0">
                        <a:buNone/>
                      </a:pPr>
                      <a:r>
                        <a:rPr lang="en-US" sz="1400" b="1" dirty="0">
                          <a:solidFill>
                            <a:srgbClr val="1B2A41"/>
                          </a:solidFill>
                        </a:rPr>
                        <a:t>Event flow</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Send shipment events through Kafka and check the delivery side</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Events received; repeats handled</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49808">
                <a:tc>
                  <a:txBody>
                    <a:bodyPr/>
                    <a:lstStyle/>
                    <a:p>
                      <a:pPr indent="0" marL="0">
                        <a:buNone/>
                      </a:pPr>
                      <a:r>
                        <a:rPr lang="en-US" sz="1400" b="1" dirty="0">
                          <a:solidFill>
                            <a:srgbClr val="1B2A41"/>
                          </a:solidFill>
                        </a:rPr>
                        <a:t>Usability</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350" dirty="0">
                          <a:solidFill>
                            <a:srgbClr val="1B2A41"/>
                          </a:solidFill>
                        </a:rPr>
                        <a:t>Ask users to complete the three staff tasks</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b="1" dirty="0">
                          <a:solidFill>
                            <a:srgbClr val="1B2A41"/>
                          </a:solidFill>
                        </a:rPr>
                        <a:t>Tasks completed; time taken</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bl>
          </a:graphicData>
        </a:graphic>
      </p:graphicFrame>
      <p:sp>
        <p:nvSpPr>
          <p:cNvPr id="7" name="Text 4"/>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250" i="1" dirty="0">
                <a:solidFill>
                  <a:schemeClr val="accent3"/>
                </a:solidFill>
              </a:rPr>
              <a:t>Each measure checks one claim of the methodology: right store for each job, consistent data, working events and usable workflows.</a:t>
            </a:r>
            <a:endParaRPr lang="en-US" sz="12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3  ·  METHODOLOGY EVALUATION</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Outcome against our Review 1 objectives</a:t>
            </a:r>
            <a:endParaRPr lang="en-US" sz="3200" dirty="0"/>
          </a:p>
        </p:txBody>
      </p:sp>
      <p:sp>
        <p:nvSpPr>
          <p:cNvPr id="6" name="Objective 1"/>
          <p:cNvSpPr/>
          <p:nvPr/>
        </p:nvSpPr>
        <p:spPr>
          <a:xfrm>
            <a:off x="548640" y="1508760"/>
            <a:ext cx="6949440" cy="1024128"/>
          </a:xfrm>
          <a:prstGeom prst="roundRect">
            <a:avLst>
              <a:gd name="adj" fmla="val 8929"/>
            </a:avLst>
          </a:prstGeom>
          <a:solidFill>
            <a:schemeClr val="tx2"/>
          </a:solidFill>
          <a:ln w="12700">
            <a:solidFill>
              <a:schemeClr val="tx2"/>
            </a:solidFill>
            <a:prstDash val="solid"/>
          </a:ln>
        </p:spPr>
      </p:sp>
      <p:sp>
        <p:nvSpPr>
          <p:cNvPr id="7" name="Number 1"/>
          <p:cNvSpPr/>
          <p:nvPr/>
        </p:nvSpPr>
        <p:spPr>
          <a:xfrm>
            <a:off x="777240" y="1728216"/>
            <a:ext cx="585216" cy="585216"/>
          </a:xfrm>
          <a:prstGeom prst="ellipse">
            <a:avLst/>
          </a:prstGeom>
          <a:solidFill>
            <a:schemeClr val="accent1"/>
          </a:solidFill>
          <a:ln w="12700">
            <a:solidFill>
              <a:schemeClr val="accent1"/>
            </a:solidFill>
            <a:prstDash val="solid"/>
          </a:ln>
        </p:spPr>
      </p:sp>
      <p:sp>
        <p:nvSpPr>
          <p:cNvPr id="8" name="Text 6"/>
          <p:cNvSpPr txBox="1"/>
          <p:nvPr/>
        </p:nvSpPr>
        <p:spPr>
          <a:xfrm>
            <a:off x="777240" y="1728216"/>
            <a:ext cx="585216" cy="585216"/>
          </a:xfrm>
          <a:prstGeom prst="rect">
            <a:avLst/>
          </a:prstGeom>
          <a:noFill/>
          <a:ln/>
        </p:spPr>
        <p:txBody>
          <a:bodyPr wrap="square" lIns="0" tIns="0" rIns="0" bIns="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1</a:t>
            </a:r>
            <a:endParaRPr lang="en-US" sz="2000" dirty="0"/>
          </a:p>
        </p:txBody>
      </p:sp>
      <p:sp>
        <p:nvSpPr>
          <p:cNvPr id="9" name="Text 7"/>
          <p:cNvSpPr txBox="1"/>
          <p:nvPr/>
        </p:nvSpPr>
        <p:spPr>
          <a:xfrm>
            <a:off x="1600200" y="1581912"/>
            <a:ext cx="4297680" cy="877824"/>
          </a:xfrm>
          <a:prstGeom prst="rect">
            <a:avLst/>
          </a:prstGeom>
          <a:noFill/>
          <a:ln/>
        </p:spPr>
        <p:txBody>
          <a:bodyPr wrap="square" lIns="0" tIns="0" rIns="0" bIns="0" rtlCol="0" anchor="ctr"/>
          <a:lstStyle/>
          <a:p>
            <a:pPr indent="0" marL="0">
              <a:buNone/>
            </a:pPr>
            <a:r>
              <a:rPr lang="en-US" sz="1400" dirty="0">
                <a:solidFill>
                  <a:schemeClr val="bg1"/>
                </a:solidFill>
              </a:rPr>
              <a:t>Track men's, women's and kids' clothes by size, color and location</a:t>
            </a:r>
            <a:endParaRPr lang="en-US" sz="1400" dirty="0"/>
          </a:p>
        </p:txBody>
      </p:sp>
      <p:sp>
        <p:nvSpPr>
          <p:cNvPr id="10" name="Pill IMPLEMENTED"/>
          <p:cNvSpPr/>
          <p:nvPr/>
        </p:nvSpPr>
        <p:spPr>
          <a:xfrm>
            <a:off x="6126480" y="1874520"/>
            <a:ext cx="1188720" cy="292608"/>
          </a:xfrm>
          <a:prstGeom prst="roundRect">
            <a:avLst>
              <a:gd name="adj" fmla="val 50000"/>
            </a:avLst>
          </a:prstGeom>
          <a:solidFill>
            <a:schemeClr val="accent1"/>
          </a:solidFill>
          <a:ln w="12700">
            <a:solidFill>
              <a:schemeClr val="accent1"/>
            </a:solidFill>
            <a:prstDash val="solid"/>
          </a:ln>
        </p:spPr>
      </p:sp>
      <p:sp>
        <p:nvSpPr>
          <p:cNvPr id="11" name="Text 9"/>
          <p:cNvSpPr txBox="1"/>
          <p:nvPr/>
        </p:nvSpPr>
        <p:spPr>
          <a:xfrm>
            <a:off x="6126480" y="1874520"/>
            <a:ext cx="1188720" cy="292608"/>
          </a:xfrm>
          <a:prstGeom prst="rect">
            <a:avLst/>
          </a:prstGeom>
          <a:noFill/>
          <a:ln/>
        </p:spPr>
        <p:txBody>
          <a:bodyPr wrap="square" lIns="0" tIns="0" rIns="0" bIns="0" rtlCol="0" anchor="ctr"/>
          <a:lstStyle/>
          <a:p>
            <a:pPr algn="ctr" indent="0" marL="0">
              <a:buNone/>
            </a:pPr>
            <a:r>
              <a:rPr lang="en-US" sz="1100" b="1" dirty="0">
                <a:solidFill>
                  <a:srgbClr val="1B2A41"/>
                </a:solidFill>
              </a:rPr>
              <a:t>IMPLEMENTED</a:t>
            </a:r>
            <a:endParaRPr lang="en-US" sz="1100" dirty="0"/>
          </a:p>
        </p:txBody>
      </p:sp>
      <p:sp>
        <p:nvSpPr>
          <p:cNvPr id="12" name="Objective 2"/>
          <p:cNvSpPr/>
          <p:nvPr/>
        </p:nvSpPr>
        <p:spPr>
          <a:xfrm>
            <a:off x="548640" y="2679192"/>
            <a:ext cx="6949440" cy="1024128"/>
          </a:xfrm>
          <a:prstGeom prst="roundRect">
            <a:avLst>
              <a:gd name="adj" fmla="val 8929"/>
            </a:avLst>
          </a:prstGeom>
          <a:solidFill>
            <a:schemeClr val="tx2"/>
          </a:solidFill>
          <a:ln w="12700">
            <a:solidFill>
              <a:schemeClr val="tx2"/>
            </a:solidFill>
            <a:prstDash val="solid"/>
          </a:ln>
        </p:spPr>
      </p:sp>
      <p:sp>
        <p:nvSpPr>
          <p:cNvPr id="13" name="Number 2"/>
          <p:cNvSpPr/>
          <p:nvPr/>
        </p:nvSpPr>
        <p:spPr>
          <a:xfrm>
            <a:off x="777240" y="2898648"/>
            <a:ext cx="585216" cy="585216"/>
          </a:xfrm>
          <a:prstGeom prst="ellipse">
            <a:avLst/>
          </a:prstGeom>
          <a:solidFill>
            <a:schemeClr val="accent1"/>
          </a:solidFill>
          <a:ln w="12700">
            <a:solidFill>
              <a:schemeClr val="accent1"/>
            </a:solidFill>
            <a:prstDash val="solid"/>
          </a:ln>
        </p:spPr>
      </p:sp>
      <p:sp>
        <p:nvSpPr>
          <p:cNvPr id="14" name="Text 12"/>
          <p:cNvSpPr txBox="1"/>
          <p:nvPr/>
        </p:nvSpPr>
        <p:spPr>
          <a:xfrm>
            <a:off x="777240" y="2898648"/>
            <a:ext cx="585216" cy="585216"/>
          </a:xfrm>
          <a:prstGeom prst="rect">
            <a:avLst/>
          </a:prstGeom>
          <a:noFill/>
          <a:ln/>
        </p:spPr>
        <p:txBody>
          <a:bodyPr wrap="square" lIns="0" tIns="0" rIns="0" bIns="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2</a:t>
            </a:r>
            <a:endParaRPr lang="en-US" sz="2000" dirty="0"/>
          </a:p>
        </p:txBody>
      </p:sp>
      <p:sp>
        <p:nvSpPr>
          <p:cNvPr id="15" name="Text 13"/>
          <p:cNvSpPr txBox="1"/>
          <p:nvPr/>
        </p:nvSpPr>
        <p:spPr>
          <a:xfrm>
            <a:off x="1600200" y="2752344"/>
            <a:ext cx="4297680" cy="877824"/>
          </a:xfrm>
          <a:prstGeom prst="rect">
            <a:avLst/>
          </a:prstGeom>
          <a:noFill/>
          <a:ln/>
        </p:spPr>
        <p:txBody>
          <a:bodyPr wrap="square" lIns="0" tIns="0" rIns="0" bIns="0" rtlCol="0" anchor="ctr"/>
          <a:lstStyle/>
          <a:p>
            <a:pPr indent="0" marL="0">
              <a:buNone/>
            </a:pPr>
            <a:r>
              <a:rPr lang="en-US" sz="1400" dirty="0">
                <a:solidFill>
                  <a:schemeClr val="bg1"/>
                </a:solidFill>
              </a:rPr>
              <a:t>Let staff add stock and create orders from one website</a:t>
            </a:r>
            <a:endParaRPr lang="en-US" sz="1400" dirty="0"/>
          </a:p>
        </p:txBody>
      </p:sp>
      <p:sp>
        <p:nvSpPr>
          <p:cNvPr id="16" name="Pill IMPLEMENTED"/>
          <p:cNvSpPr/>
          <p:nvPr/>
        </p:nvSpPr>
        <p:spPr>
          <a:xfrm>
            <a:off x="6126480" y="3044952"/>
            <a:ext cx="1188720" cy="292608"/>
          </a:xfrm>
          <a:prstGeom prst="roundRect">
            <a:avLst>
              <a:gd name="adj" fmla="val 50000"/>
            </a:avLst>
          </a:prstGeom>
          <a:solidFill>
            <a:schemeClr val="accent1"/>
          </a:solidFill>
          <a:ln w="12700">
            <a:solidFill>
              <a:schemeClr val="accent1"/>
            </a:solidFill>
            <a:prstDash val="solid"/>
          </a:ln>
        </p:spPr>
      </p:sp>
      <p:sp>
        <p:nvSpPr>
          <p:cNvPr id="17" name="Text 15"/>
          <p:cNvSpPr txBox="1"/>
          <p:nvPr/>
        </p:nvSpPr>
        <p:spPr>
          <a:xfrm>
            <a:off x="6126480" y="3044952"/>
            <a:ext cx="1188720" cy="292608"/>
          </a:xfrm>
          <a:prstGeom prst="rect">
            <a:avLst/>
          </a:prstGeom>
          <a:noFill/>
          <a:ln/>
        </p:spPr>
        <p:txBody>
          <a:bodyPr wrap="square" lIns="0" tIns="0" rIns="0" bIns="0" rtlCol="0" anchor="ctr"/>
          <a:lstStyle/>
          <a:p>
            <a:pPr algn="ctr" indent="0" marL="0">
              <a:buNone/>
            </a:pPr>
            <a:r>
              <a:rPr lang="en-US" sz="1100" b="1" dirty="0">
                <a:solidFill>
                  <a:srgbClr val="1B2A41"/>
                </a:solidFill>
              </a:rPr>
              <a:t>IMPLEMENTED</a:t>
            </a:r>
            <a:endParaRPr lang="en-US" sz="1100" dirty="0"/>
          </a:p>
        </p:txBody>
      </p:sp>
      <p:sp>
        <p:nvSpPr>
          <p:cNvPr id="18" name="Objective 3"/>
          <p:cNvSpPr/>
          <p:nvPr/>
        </p:nvSpPr>
        <p:spPr>
          <a:xfrm>
            <a:off x="548640" y="3849624"/>
            <a:ext cx="6949440" cy="1024128"/>
          </a:xfrm>
          <a:prstGeom prst="roundRect">
            <a:avLst>
              <a:gd name="adj" fmla="val 8929"/>
            </a:avLst>
          </a:prstGeom>
          <a:solidFill>
            <a:schemeClr val="tx2"/>
          </a:solidFill>
          <a:ln w="12700">
            <a:solidFill>
              <a:schemeClr val="tx2"/>
            </a:solidFill>
            <a:prstDash val="solid"/>
          </a:ln>
        </p:spPr>
      </p:sp>
      <p:sp>
        <p:nvSpPr>
          <p:cNvPr id="19" name="Number 3"/>
          <p:cNvSpPr/>
          <p:nvPr/>
        </p:nvSpPr>
        <p:spPr>
          <a:xfrm>
            <a:off x="777240" y="4069080"/>
            <a:ext cx="585216" cy="585216"/>
          </a:xfrm>
          <a:prstGeom prst="ellipse">
            <a:avLst/>
          </a:prstGeom>
          <a:solidFill>
            <a:schemeClr val="accent1"/>
          </a:solidFill>
          <a:ln w="12700">
            <a:solidFill>
              <a:schemeClr val="accent1"/>
            </a:solidFill>
            <a:prstDash val="solid"/>
          </a:ln>
        </p:spPr>
      </p:sp>
      <p:sp>
        <p:nvSpPr>
          <p:cNvPr id="20" name="Text 18"/>
          <p:cNvSpPr txBox="1"/>
          <p:nvPr/>
        </p:nvSpPr>
        <p:spPr>
          <a:xfrm>
            <a:off x="777240" y="4069080"/>
            <a:ext cx="585216" cy="585216"/>
          </a:xfrm>
          <a:prstGeom prst="rect">
            <a:avLst/>
          </a:prstGeom>
          <a:noFill/>
          <a:ln/>
        </p:spPr>
        <p:txBody>
          <a:bodyPr wrap="square" lIns="0" tIns="0" rIns="0" bIns="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3</a:t>
            </a:r>
            <a:endParaRPr lang="en-US" sz="2000" dirty="0"/>
          </a:p>
        </p:txBody>
      </p:sp>
      <p:sp>
        <p:nvSpPr>
          <p:cNvPr id="21" name="Text 19"/>
          <p:cNvSpPr txBox="1"/>
          <p:nvPr/>
        </p:nvSpPr>
        <p:spPr>
          <a:xfrm>
            <a:off x="1600200" y="3922776"/>
            <a:ext cx="4297680" cy="877824"/>
          </a:xfrm>
          <a:prstGeom prst="rect">
            <a:avLst/>
          </a:prstGeom>
          <a:noFill/>
          <a:ln/>
        </p:spPr>
        <p:txBody>
          <a:bodyPr wrap="square" lIns="0" tIns="0" rIns="0" bIns="0" rtlCol="0" anchor="ctr"/>
          <a:lstStyle/>
          <a:p>
            <a:pPr indent="0" marL="0">
              <a:buNone/>
            </a:pPr>
            <a:r>
              <a:rPr lang="en-US" sz="1400" dirty="0">
                <a:solidFill>
                  <a:schemeClr val="bg1"/>
                </a:solidFill>
              </a:rPr>
              <a:t>Record delivery updates and keep them easy to follow</a:t>
            </a:r>
            <a:endParaRPr lang="en-US" sz="1400" dirty="0"/>
          </a:p>
        </p:txBody>
      </p:sp>
      <p:sp>
        <p:nvSpPr>
          <p:cNvPr id="22" name="Pill IMPLEMENTED"/>
          <p:cNvSpPr/>
          <p:nvPr/>
        </p:nvSpPr>
        <p:spPr>
          <a:xfrm>
            <a:off x="6126480" y="4215384"/>
            <a:ext cx="1188720" cy="292608"/>
          </a:xfrm>
          <a:prstGeom prst="roundRect">
            <a:avLst>
              <a:gd name="adj" fmla="val 50000"/>
            </a:avLst>
          </a:prstGeom>
          <a:solidFill>
            <a:schemeClr val="accent1"/>
          </a:solidFill>
          <a:ln w="12700">
            <a:solidFill>
              <a:schemeClr val="accent1"/>
            </a:solidFill>
            <a:prstDash val="solid"/>
          </a:ln>
        </p:spPr>
      </p:sp>
      <p:sp>
        <p:nvSpPr>
          <p:cNvPr id="23" name="Text 21"/>
          <p:cNvSpPr txBox="1"/>
          <p:nvPr/>
        </p:nvSpPr>
        <p:spPr>
          <a:xfrm>
            <a:off x="6126480" y="4215384"/>
            <a:ext cx="1188720" cy="292608"/>
          </a:xfrm>
          <a:prstGeom prst="rect">
            <a:avLst/>
          </a:prstGeom>
          <a:noFill/>
          <a:ln/>
        </p:spPr>
        <p:txBody>
          <a:bodyPr wrap="square" lIns="0" tIns="0" rIns="0" bIns="0" rtlCol="0" anchor="ctr"/>
          <a:lstStyle/>
          <a:p>
            <a:pPr algn="ctr" indent="0" marL="0">
              <a:buNone/>
            </a:pPr>
            <a:r>
              <a:rPr lang="en-US" sz="1100" b="1" dirty="0">
                <a:solidFill>
                  <a:srgbClr val="1B2A41"/>
                </a:solidFill>
              </a:rPr>
              <a:t>IMPLEMENTED</a:t>
            </a:r>
            <a:endParaRPr lang="en-US" sz="1100" dirty="0"/>
          </a:p>
        </p:txBody>
      </p:sp>
      <p:sp>
        <p:nvSpPr>
          <p:cNvPr id="24" name="Objective 4"/>
          <p:cNvSpPr/>
          <p:nvPr/>
        </p:nvSpPr>
        <p:spPr>
          <a:xfrm>
            <a:off x="548640" y="5020056"/>
            <a:ext cx="6949440" cy="1024128"/>
          </a:xfrm>
          <a:prstGeom prst="roundRect">
            <a:avLst>
              <a:gd name="adj" fmla="val 8929"/>
            </a:avLst>
          </a:prstGeom>
          <a:solidFill>
            <a:schemeClr val="tx2"/>
          </a:solidFill>
          <a:ln w="12700">
            <a:solidFill>
              <a:schemeClr val="tx2"/>
            </a:solidFill>
            <a:prstDash val="solid"/>
          </a:ln>
        </p:spPr>
      </p:sp>
      <p:sp>
        <p:nvSpPr>
          <p:cNvPr id="25" name="Number 4"/>
          <p:cNvSpPr/>
          <p:nvPr/>
        </p:nvSpPr>
        <p:spPr>
          <a:xfrm>
            <a:off x="777240" y="5239512"/>
            <a:ext cx="585216" cy="585216"/>
          </a:xfrm>
          <a:prstGeom prst="ellipse">
            <a:avLst/>
          </a:prstGeom>
          <a:solidFill>
            <a:schemeClr val="accent1"/>
          </a:solidFill>
          <a:ln w="12700">
            <a:solidFill>
              <a:schemeClr val="accent1"/>
            </a:solidFill>
            <a:prstDash val="solid"/>
          </a:ln>
        </p:spPr>
      </p:sp>
      <p:sp>
        <p:nvSpPr>
          <p:cNvPr id="26" name="Text 24"/>
          <p:cNvSpPr txBox="1"/>
          <p:nvPr/>
        </p:nvSpPr>
        <p:spPr>
          <a:xfrm>
            <a:off x="777240" y="5239512"/>
            <a:ext cx="585216" cy="585216"/>
          </a:xfrm>
          <a:prstGeom prst="rect">
            <a:avLst/>
          </a:prstGeom>
          <a:noFill/>
          <a:ln/>
        </p:spPr>
        <p:txBody>
          <a:bodyPr wrap="square" lIns="0" tIns="0" rIns="0" bIns="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4</a:t>
            </a:r>
            <a:endParaRPr lang="en-US" sz="2000" dirty="0"/>
          </a:p>
        </p:txBody>
      </p:sp>
      <p:sp>
        <p:nvSpPr>
          <p:cNvPr id="27" name="Text 25"/>
          <p:cNvSpPr txBox="1"/>
          <p:nvPr/>
        </p:nvSpPr>
        <p:spPr>
          <a:xfrm>
            <a:off x="1600200" y="5093208"/>
            <a:ext cx="4297680" cy="877824"/>
          </a:xfrm>
          <a:prstGeom prst="rect">
            <a:avLst/>
          </a:prstGeom>
          <a:noFill/>
          <a:ln/>
        </p:spPr>
        <p:txBody>
          <a:bodyPr wrap="square" lIns="0" tIns="0" rIns="0" bIns="0" rtlCol="0" anchor="ctr"/>
          <a:lstStyle/>
          <a:p>
            <a:pPr indent="0" marL="0">
              <a:buNone/>
            </a:pPr>
            <a:r>
              <a:rPr lang="en-US" sz="1400" dirty="0">
                <a:solidFill>
                  <a:schemeClr val="bg1"/>
                </a:solidFill>
              </a:rPr>
              <a:t>Use the right database for each job: MySQL, MongoDB and Kafka</a:t>
            </a:r>
            <a:endParaRPr lang="en-US" sz="1400" dirty="0"/>
          </a:p>
        </p:txBody>
      </p:sp>
      <p:sp>
        <p:nvSpPr>
          <p:cNvPr id="28" name="Pill IMPLEMENTED"/>
          <p:cNvSpPr/>
          <p:nvPr/>
        </p:nvSpPr>
        <p:spPr>
          <a:xfrm>
            <a:off x="6126480" y="5385816"/>
            <a:ext cx="1188720" cy="292608"/>
          </a:xfrm>
          <a:prstGeom prst="roundRect">
            <a:avLst>
              <a:gd name="adj" fmla="val 50000"/>
            </a:avLst>
          </a:prstGeom>
          <a:solidFill>
            <a:schemeClr val="accent1"/>
          </a:solidFill>
          <a:ln w="12700">
            <a:solidFill>
              <a:schemeClr val="accent1"/>
            </a:solidFill>
            <a:prstDash val="solid"/>
          </a:ln>
        </p:spPr>
      </p:sp>
      <p:sp>
        <p:nvSpPr>
          <p:cNvPr id="29" name="Text 27"/>
          <p:cNvSpPr txBox="1"/>
          <p:nvPr/>
        </p:nvSpPr>
        <p:spPr>
          <a:xfrm>
            <a:off x="6126480" y="5385816"/>
            <a:ext cx="1188720" cy="292608"/>
          </a:xfrm>
          <a:prstGeom prst="rect">
            <a:avLst/>
          </a:prstGeom>
          <a:noFill/>
          <a:ln/>
        </p:spPr>
        <p:txBody>
          <a:bodyPr wrap="square" lIns="0" tIns="0" rIns="0" bIns="0" rtlCol="0" anchor="ctr"/>
          <a:lstStyle/>
          <a:p>
            <a:pPr algn="ctr" indent="0" marL="0">
              <a:buNone/>
            </a:pPr>
            <a:r>
              <a:rPr lang="en-US" sz="1100" b="1" dirty="0">
                <a:solidFill>
                  <a:srgbClr val="1B2A41"/>
                </a:solidFill>
              </a:rPr>
              <a:t>IMPLEMENTED</a:t>
            </a:r>
            <a:endParaRPr lang="en-US" sz="1100" dirty="0"/>
          </a:p>
        </p:txBody>
      </p:sp>
      <p:sp>
        <p:nvSpPr>
          <p:cNvPr id="30" name="Limits panel"/>
          <p:cNvSpPr/>
          <p:nvPr/>
        </p:nvSpPr>
        <p:spPr>
          <a:xfrm>
            <a:off x="7772400" y="1508760"/>
            <a:ext cx="3840480" cy="4535424"/>
          </a:xfrm>
          <a:prstGeom prst="roundRect">
            <a:avLst>
              <a:gd name="adj" fmla="val 2381"/>
            </a:avLst>
          </a:prstGeom>
          <a:solidFill>
            <a:schemeClr val="bg2"/>
          </a:solidFill>
          <a:ln w="12700">
            <a:solidFill>
              <a:schemeClr val="bg2"/>
            </a:solidFill>
            <a:prstDash val="solid"/>
          </a:ln>
        </p:spPr>
      </p:sp>
      <p:sp>
        <p:nvSpPr>
          <p:cNvPr id="31" name="Limits circle"/>
          <p:cNvSpPr/>
          <p:nvPr/>
        </p:nvSpPr>
        <p:spPr>
          <a:xfrm>
            <a:off x="8046720" y="1737360"/>
            <a:ext cx="640080" cy="640080"/>
          </a:xfrm>
          <a:prstGeom prst="ellipse">
            <a:avLst/>
          </a:prstGeom>
          <a:solidFill>
            <a:schemeClr val="tx1"/>
          </a:solidFill>
          <a:ln w="12700">
            <a:solidFill>
              <a:schemeClr val="tx1"/>
            </a:solidFill>
            <a:prstDash val="solid"/>
          </a:ln>
        </p:spPr>
      </p:sp>
      <p:pic>
        <p:nvPicPr>
          <p:cNvPr id="32" name="Image 0" descr="Limits icon">    </p:cNvPr>
          <p:cNvPicPr>
            <a:picLocks noChangeAspect="1"/>
          </p:cNvPicPr>
          <p:nvPr/>
        </p:nvPicPr>
        <p:blipFill>
          <a:blip r:embed="rId1"/>
          <a:stretch>
            <a:fillRect/>
          </a:stretch>
        </p:blipFill>
        <p:spPr>
          <a:xfrm>
            <a:off x="8187538" y="1878178"/>
            <a:ext cx="358445" cy="358445"/>
          </a:xfrm>
          <a:prstGeom prst="rect">
            <a:avLst/>
          </a:prstGeom>
        </p:spPr>
      </p:pic>
      <p:sp>
        <p:nvSpPr>
          <p:cNvPr id="33" name="Text 30"/>
          <p:cNvSpPr txBox="1"/>
          <p:nvPr/>
        </p:nvSpPr>
        <p:spPr>
          <a:xfrm>
            <a:off x="8869680" y="1737360"/>
            <a:ext cx="2560320" cy="640080"/>
          </a:xfrm>
          <a:prstGeom prst="rect">
            <a:avLst/>
          </a:prstGeom>
          <a:noFill/>
          <a:ln/>
        </p:spPr>
        <p:txBody>
          <a:bodyPr wrap="square" lIns="0" tIns="0" rIns="0" bIns="0" rtlCol="0" anchor="ctr"/>
          <a:lstStyle/>
          <a:p>
            <a:pPr indent="0" marL="0">
              <a:buNone/>
            </a:pPr>
            <a:r>
              <a:rPr lang="en-US" sz="1900" b="1" dirty="0">
                <a:solidFill>
                  <a:schemeClr val="tx1"/>
                </a:solidFill>
              </a:rPr>
              <a:t>Known limits</a:t>
            </a:r>
            <a:endParaRPr lang="en-US" sz="1900" dirty="0"/>
          </a:p>
        </p:txBody>
      </p:sp>
      <p:sp>
        <p:nvSpPr>
          <p:cNvPr id="34" name="Text 31"/>
          <p:cNvSpPr txBox="1"/>
          <p:nvPr/>
        </p:nvSpPr>
        <p:spPr>
          <a:xfrm>
            <a:off x="8092440" y="2697480"/>
            <a:ext cx="3291840" cy="310896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accent3"/>
                </a:solidFill>
              </a:rPr>
              <a:t>Does not connect to real courier GPS</a:t>
            </a:r>
            <a:endParaRPr lang="en-US" sz="1400" dirty="0"/>
          </a:p>
          <a:p>
            <a:pPr marL="203200" indent="-203200">
              <a:spcAft>
                <a:spcPts val="900"/>
              </a:spcAft>
              <a:buSzPct val="100000"/>
              <a:buChar char="•"/>
            </a:pPr>
            <a:r>
              <a:rPr lang="en-US" sz="1400" dirty="0">
                <a:solidFill>
                  <a:schemeClr val="accent3"/>
                </a:solidFill>
              </a:rPr>
              <a:t>Does not handle payments</a:t>
            </a:r>
            <a:endParaRPr lang="en-US" sz="1400" dirty="0"/>
          </a:p>
          <a:p>
            <a:pPr marL="203200" indent="-203200">
              <a:spcAft>
                <a:spcPts val="900"/>
              </a:spcAft>
              <a:buSzPct val="100000"/>
              <a:buChar char="•"/>
            </a:pPr>
            <a:r>
              <a:rPr lang="en-US" sz="1400" dirty="0">
                <a:solidFill>
                  <a:schemeClr val="accent3"/>
                </a:solidFill>
              </a:rPr>
              <a:t>CI/CD is not yet in place</a:t>
            </a:r>
            <a:endParaRPr lang="en-US" sz="1400" dirty="0"/>
          </a:p>
          <a:p>
            <a:pPr marL="203200" indent="-203200">
              <a:spcAft>
                <a:spcPts val="900"/>
              </a:spcAft>
              <a:buSzPct val="100000"/>
              <a:buChar char="•"/>
            </a:pPr>
            <a:r>
              <a:rPr lang="en-US" sz="1400" dirty="0">
                <a:solidFill>
                  <a:schemeClr val="accent3"/>
                </a:solidFill>
              </a:rPr>
              <a:t>Full C4 diagrams still to be drawn</a:t>
            </a:r>
            <a:endParaRPr lang="en-US" sz="1400" dirty="0"/>
          </a:p>
          <a:p>
            <a:pPr marL="203200" indent="-203200">
              <a:spcAft>
                <a:spcPts val="900"/>
              </a:spcAft>
              <a:buSzPct val="100000"/>
              <a:buChar char="•"/>
            </a:pPr>
            <a:r>
              <a:rPr lang="en-US" sz="1400" dirty="0">
                <a:solidFill>
                  <a:schemeClr val="accent3"/>
                </a:solidFill>
              </a:rPr>
              <a:t>Measured results are on the next slide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3  ·  METHODOLOGY EVALUATION</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Measured results</a:t>
            </a:r>
            <a:endParaRPr lang="en-US" sz="3200" dirty="0"/>
          </a:p>
        </p:txBody>
      </p:sp>
      <p:graphicFrame>
        <p:nvGraphicFramePr>
          <p:cNvPr id="10" name="Results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5120640"/>
                <a:gridCol w="2743200"/>
                <a:gridCol w="3200400"/>
              </a:tblGrid>
              <a:tr h="457200">
                <a:tc>
                  <a:txBody>
                    <a:bodyPr/>
                    <a:lstStyle/>
                    <a:p>
                      <a:pPr algn="l" indent="0" marL="0">
                        <a:buNone/>
                      </a:pPr>
                      <a:r>
                        <a:rPr lang="en-US" sz="1300" b="1" dirty="0">
                          <a:solidFill>
                            <a:srgbClr val="FFFFFF"/>
                          </a:solidFill>
                        </a:rPr>
                        <a:t>Measure</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300" b="1" dirty="0">
                          <a:solidFill>
                            <a:srgbClr val="FFFFFF"/>
                          </a:solidFill>
                        </a:rPr>
                        <a:t>Suggested target</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1B2A41"/>
                    </a:solidFill>
                  </a:tcPr>
                </a:tc>
                <a:tc>
                  <a:txBody>
                    <a:bodyPr/>
                    <a:lstStyle/>
                    <a:p>
                      <a:pPr algn="l" indent="0" marL="0">
                        <a:buNone/>
                      </a:pPr>
                      <a:r>
                        <a:rPr lang="en-US" sz="1300" b="1" dirty="0">
                          <a:solidFill>
                            <a:srgbClr val="1B2A41"/>
                          </a:solidFill>
                        </a:rPr>
                        <a:t>Measured result</a:t>
                      </a:r>
                      <a:endParaRPr lang="en-US" sz="13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2A541"/>
                    </a:solidFill>
                  </a:tcPr>
                </a:tc>
              </a:tr>
              <a:tr h="713232">
                <a:tc>
                  <a:txBody>
                    <a:bodyPr/>
                    <a:lstStyle/>
                    <a:p>
                      <a:pPr indent="0" marL="0">
                        <a:buNone/>
                      </a:pPr>
                      <a:r>
                        <a:rPr lang="en-US" sz="1400" b="1" dirty="0">
                          <a:solidFill>
                            <a:srgbClr val="1B2A41"/>
                          </a:solidFill>
                        </a:rPr>
                        <a:t>Workflow test cases passed</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400" dirty="0">
                          <a:solidFill>
                            <a:srgbClr val="1B2A41"/>
                          </a:solidFill>
                        </a:rPr>
                        <a:t>All cases pass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i="1" dirty="0">
                          <a:solidFill>
                            <a:srgbClr val="5C6B7A"/>
                          </a:solidFill>
                        </a:rPr>
                        <a:t>Add result</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13232">
                <a:tc>
                  <a:txBody>
                    <a:bodyPr/>
                    <a:lstStyle/>
                    <a:p>
                      <a:pPr indent="0" marL="0">
                        <a:buNone/>
                      </a:pPr>
                      <a:r>
                        <a:rPr lang="en-US" sz="1400" b="1" dirty="0">
                          <a:solidFill>
                            <a:srgbClr val="1B2A41"/>
                          </a:solidFill>
                        </a:rPr>
                        <a:t>Stock vs order mismatches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400" dirty="0">
                          <a:solidFill>
                            <a:srgbClr val="1B2A41"/>
                          </a:solidFill>
                        </a:rPr>
                        <a:t>None</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i="1" dirty="0">
                          <a:solidFill>
                            <a:srgbClr val="5C6B7A"/>
                          </a:solidFill>
                        </a:rPr>
                        <a:t>Add result</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13232">
                <a:tc>
                  <a:txBody>
                    <a:bodyPr/>
                    <a:lstStyle/>
                    <a:p>
                      <a:pPr indent="0" marL="0">
                        <a:buNone/>
                      </a:pPr>
                      <a:r>
                        <a:rPr lang="en-US" sz="1400" b="1" dirty="0">
                          <a:solidFill>
                            <a:srgbClr val="1B2A41"/>
                          </a:solidFill>
                        </a:rPr>
                        <a:t>Response time: stock and order actions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400" dirty="0">
                          <a:solidFill>
                            <a:srgbClr val="1B2A41"/>
                          </a:solidFill>
                        </a:rPr>
                        <a:t>Under 1 second</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i="1" dirty="0">
                          <a:solidFill>
                            <a:srgbClr val="5C6B7A"/>
                          </a:solidFill>
                        </a:rPr>
                        <a:t>Add result</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13232">
                <a:tc>
                  <a:txBody>
                    <a:bodyPr/>
                    <a:lstStyle/>
                    <a:p>
                      <a:pPr indent="0" marL="0">
                        <a:buNone/>
                      </a:pPr>
                      <a:r>
                        <a:rPr lang="en-US" sz="1400" b="1" dirty="0">
                          <a:solidFill>
                            <a:srgbClr val="1B2A41"/>
                          </a:solidFill>
                        </a:rPr>
                        <a:t>Delivery update saved after a shipment event</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400" dirty="0">
                          <a:solidFill>
                            <a:srgbClr val="1B2A41"/>
                          </a:solidFill>
                        </a:rPr>
                        <a:t>Every event</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i="1" dirty="0">
                          <a:solidFill>
                            <a:srgbClr val="5C6B7A"/>
                          </a:solidFill>
                        </a:rPr>
                        <a:t>Add result</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13232">
                <a:tc>
                  <a:txBody>
                    <a:bodyPr/>
                    <a:lstStyle/>
                    <a:p>
                      <a:pPr indent="0" marL="0">
                        <a:buNone/>
                      </a:pPr>
                      <a:r>
                        <a:rPr lang="en-US" sz="1400" b="1" dirty="0">
                          <a:solidFill>
                            <a:srgbClr val="1B2A41"/>
                          </a:solidFill>
                        </a:rPr>
                        <a:t>Users completing the three staff tasks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400" dirty="0">
                          <a:solidFill>
                            <a:srgbClr val="1B2A41"/>
                          </a:solidFill>
                        </a:rPr>
                        <a:t>All users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350" i="1" dirty="0">
                          <a:solidFill>
                            <a:srgbClr val="5C6B7A"/>
                          </a:solidFill>
                        </a:rPr>
                        <a:t>Add result</a:t>
                      </a:r>
                      <a:endParaRPr lang="en-US" sz="135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bl>
          </a:graphicData>
        </a:graphic>
      </p:graphicFrame>
      <p:sp>
        <p:nvSpPr>
          <p:cNvPr id="7" name="Result note"/>
          <p:cNvSpPr/>
          <p:nvPr/>
        </p:nvSpPr>
        <p:spPr>
          <a:xfrm>
            <a:off x="548640" y="5486400"/>
            <a:ext cx="11064240" cy="685800"/>
          </a:xfrm>
          <a:prstGeom prst="roundRect">
            <a:avLst>
              <a:gd name="adj" fmla="val 13333"/>
            </a:avLst>
          </a:prstGeom>
          <a:solidFill>
            <a:schemeClr val="tx1"/>
          </a:solidFill>
          <a:ln w="12700">
            <a:solidFill>
              <a:schemeClr val="tx1"/>
            </a:solidFill>
            <a:prstDash val="solid"/>
          </a:ln>
        </p:spPr>
      </p:sp>
      <p:sp>
        <p:nvSpPr>
          <p:cNvPr id="8" name="Text 5"/>
          <p:cNvSpPr txBox="1"/>
          <p:nvPr/>
        </p:nvSpPr>
        <p:spPr>
          <a:xfrm>
            <a:off x="868680" y="5486400"/>
            <a:ext cx="10424160" cy="685800"/>
          </a:xfrm>
          <a:prstGeom prst="rect">
            <a:avLst/>
          </a:prstGeom>
          <a:noFill/>
          <a:ln/>
        </p:spPr>
        <p:txBody>
          <a:bodyPr wrap="square" lIns="0" tIns="0" rIns="0" bIns="0" rtlCol="0" anchor="ctr"/>
          <a:lstStyle/>
          <a:p>
            <a:pPr indent="0" marL="0">
              <a:buNone/>
            </a:pPr>
            <a:r>
              <a:rPr lang="en-US" sz="1450" dirty="0">
                <a:solidFill>
                  <a:schemeClr val="bg1"/>
                </a:solidFill>
              </a:rPr>
              <a:t>Results come from running the five measures on the working system; limits of testing are stated openly.</a:t>
            </a:r>
            <a:endParaRPr lang="en-US" sz="14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4  ·  DISSEMINATION AND ACCESSIBILITY</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Accessibility: easy for staff to use</a:t>
            </a:r>
            <a:endParaRPr lang="en-US" sz="3200" dirty="0"/>
          </a:p>
        </p:txBody>
      </p:sp>
      <p:sp>
        <p:nvSpPr>
          <p:cNvPr id="6" name="Access 1"/>
          <p:cNvSpPr/>
          <p:nvPr/>
        </p:nvSpPr>
        <p:spPr>
          <a:xfrm>
            <a:off x="548640" y="1554480"/>
            <a:ext cx="2560320" cy="2834640"/>
          </a:xfrm>
          <a:prstGeom prst="roundRect">
            <a:avLst>
              <a:gd name="adj" fmla="val 3571"/>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7" name="Browser-based circle"/>
          <p:cNvSpPr/>
          <p:nvPr/>
        </p:nvSpPr>
        <p:spPr>
          <a:xfrm>
            <a:off x="822960" y="1783080"/>
            <a:ext cx="685800" cy="685800"/>
          </a:xfrm>
          <a:prstGeom prst="ellipse">
            <a:avLst/>
          </a:prstGeom>
          <a:solidFill>
            <a:schemeClr val="tx1"/>
          </a:solidFill>
          <a:ln w="12700">
            <a:solidFill>
              <a:schemeClr val="tx1"/>
            </a:solidFill>
            <a:prstDash val="solid"/>
          </a:ln>
        </p:spPr>
      </p:sp>
      <p:pic>
        <p:nvPicPr>
          <p:cNvPr id="8" name="Image 0" descr="Browser-based icon">    </p:cNvPr>
          <p:cNvPicPr>
            <a:picLocks noChangeAspect="1"/>
          </p:cNvPicPr>
          <p:nvPr/>
        </p:nvPicPr>
        <p:blipFill>
          <a:blip r:embed="rId1"/>
          <a:stretch>
            <a:fillRect/>
          </a:stretch>
        </p:blipFill>
        <p:spPr>
          <a:xfrm>
            <a:off x="973836" y="1933956"/>
            <a:ext cx="384048" cy="384048"/>
          </a:xfrm>
          <a:prstGeom prst="rect">
            <a:avLst/>
          </a:prstGeom>
        </p:spPr>
      </p:pic>
      <p:sp>
        <p:nvSpPr>
          <p:cNvPr id="9" name="Text 6"/>
          <p:cNvSpPr txBox="1"/>
          <p:nvPr/>
        </p:nvSpPr>
        <p:spPr>
          <a:xfrm>
            <a:off x="822960" y="2697480"/>
            <a:ext cx="2057400" cy="457200"/>
          </a:xfrm>
          <a:prstGeom prst="rect">
            <a:avLst/>
          </a:prstGeom>
          <a:noFill/>
          <a:ln/>
        </p:spPr>
        <p:txBody>
          <a:bodyPr wrap="square" lIns="0" tIns="0" rIns="0" bIns="0" rtlCol="0" anchor="ctr"/>
          <a:lstStyle/>
          <a:p>
            <a:pPr indent="0" marL="0">
              <a:buNone/>
            </a:pPr>
            <a:r>
              <a:rPr lang="en-US" sz="1700" b="1" dirty="0">
                <a:solidFill>
                  <a:schemeClr val="tx1"/>
                </a:solidFill>
              </a:rPr>
              <a:t>Browser-based</a:t>
            </a:r>
            <a:endParaRPr lang="en-US" sz="1700" dirty="0"/>
          </a:p>
        </p:txBody>
      </p:sp>
      <p:sp>
        <p:nvSpPr>
          <p:cNvPr id="10" name="Text 7"/>
          <p:cNvSpPr txBox="1"/>
          <p:nvPr/>
        </p:nvSpPr>
        <p:spPr>
          <a:xfrm>
            <a:off x="822960" y="3200400"/>
            <a:ext cx="2057400" cy="1097280"/>
          </a:xfrm>
          <a:prstGeom prst="rect">
            <a:avLst/>
          </a:prstGeom>
          <a:noFill/>
          <a:ln/>
        </p:spPr>
        <p:txBody>
          <a:bodyPr wrap="square" lIns="0" tIns="0" rIns="0" bIns="0" rtlCol="0" anchor="t"/>
          <a:lstStyle/>
          <a:p>
            <a:pPr indent="0" marL="0">
              <a:buNone/>
            </a:pPr>
            <a:r>
              <a:rPr lang="en-US" sz="1350" dirty="0">
                <a:solidFill>
                  <a:schemeClr val="accent3"/>
                </a:solidFill>
              </a:rPr>
              <a:t>Staff open DockFlow in a web browser.</a:t>
            </a:r>
            <a:endParaRPr lang="en-US" sz="1350" dirty="0"/>
          </a:p>
        </p:txBody>
      </p:sp>
      <p:sp>
        <p:nvSpPr>
          <p:cNvPr id="11" name="Access 2"/>
          <p:cNvSpPr/>
          <p:nvPr/>
        </p:nvSpPr>
        <p:spPr>
          <a:xfrm>
            <a:off x="3383280" y="1554480"/>
            <a:ext cx="2560320" cy="2834640"/>
          </a:xfrm>
          <a:prstGeom prst="roundRect">
            <a:avLst>
              <a:gd name="adj" fmla="val 3571"/>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2" name="Simple workflow circle"/>
          <p:cNvSpPr/>
          <p:nvPr/>
        </p:nvSpPr>
        <p:spPr>
          <a:xfrm>
            <a:off x="3657600" y="1783080"/>
            <a:ext cx="685800" cy="685800"/>
          </a:xfrm>
          <a:prstGeom prst="ellipse">
            <a:avLst/>
          </a:prstGeom>
          <a:solidFill>
            <a:schemeClr val="tx1"/>
          </a:solidFill>
          <a:ln w="12700">
            <a:solidFill>
              <a:schemeClr val="tx1"/>
            </a:solidFill>
            <a:prstDash val="solid"/>
          </a:ln>
        </p:spPr>
      </p:sp>
      <p:pic>
        <p:nvPicPr>
          <p:cNvPr id="13" name="Image 1" descr="Simple workflow icon">    </p:cNvPr>
          <p:cNvPicPr>
            <a:picLocks noChangeAspect="1"/>
          </p:cNvPicPr>
          <p:nvPr/>
        </p:nvPicPr>
        <p:blipFill>
          <a:blip r:embed="rId2"/>
          <a:stretch>
            <a:fillRect/>
          </a:stretch>
        </p:blipFill>
        <p:spPr>
          <a:xfrm>
            <a:off x="3808476" y="1933956"/>
            <a:ext cx="384048" cy="384048"/>
          </a:xfrm>
          <a:prstGeom prst="rect">
            <a:avLst/>
          </a:prstGeom>
        </p:spPr>
      </p:pic>
      <p:sp>
        <p:nvSpPr>
          <p:cNvPr id="14" name="Text 10"/>
          <p:cNvSpPr txBox="1"/>
          <p:nvPr/>
        </p:nvSpPr>
        <p:spPr>
          <a:xfrm>
            <a:off x="3657600" y="2697480"/>
            <a:ext cx="2057400" cy="457200"/>
          </a:xfrm>
          <a:prstGeom prst="rect">
            <a:avLst/>
          </a:prstGeom>
          <a:noFill/>
          <a:ln/>
        </p:spPr>
        <p:txBody>
          <a:bodyPr wrap="square" lIns="0" tIns="0" rIns="0" bIns="0" rtlCol="0" anchor="ctr"/>
          <a:lstStyle/>
          <a:p>
            <a:pPr indent="0" marL="0">
              <a:buNone/>
            </a:pPr>
            <a:r>
              <a:rPr lang="en-US" sz="1700" b="1" dirty="0">
                <a:solidFill>
                  <a:schemeClr val="tx1"/>
                </a:solidFill>
              </a:rPr>
              <a:t>Simple workflow</a:t>
            </a:r>
            <a:endParaRPr lang="en-US" sz="1700" dirty="0"/>
          </a:p>
        </p:txBody>
      </p:sp>
      <p:sp>
        <p:nvSpPr>
          <p:cNvPr id="15" name="Text 11"/>
          <p:cNvSpPr txBox="1"/>
          <p:nvPr/>
        </p:nvSpPr>
        <p:spPr>
          <a:xfrm>
            <a:off x="3657600" y="3200400"/>
            <a:ext cx="2057400" cy="1097280"/>
          </a:xfrm>
          <a:prstGeom prst="rect">
            <a:avLst/>
          </a:prstGeom>
          <a:noFill/>
          <a:ln/>
        </p:spPr>
        <p:txBody>
          <a:bodyPr wrap="square" lIns="0" tIns="0" rIns="0" bIns="0" rtlCol="0" anchor="t"/>
          <a:lstStyle/>
          <a:p>
            <a:pPr indent="0" marL="0">
              <a:buNone/>
            </a:pPr>
            <a:r>
              <a:rPr lang="en-US" sz="1350" dirty="0">
                <a:solidFill>
                  <a:schemeClr val="accent3"/>
                </a:solidFill>
              </a:rPr>
              <a:t>Three main tasks: add stock, create orders, update deliveries.</a:t>
            </a:r>
            <a:endParaRPr lang="en-US" sz="1350" dirty="0"/>
          </a:p>
        </p:txBody>
      </p:sp>
      <p:sp>
        <p:nvSpPr>
          <p:cNvPr id="16" name="Access 3"/>
          <p:cNvSpPr/>
          <p:nvPr/>
        </p:nvSpPr>
        <p:spPr>
          <a:xfrm>
            <a:off x="6217920" y="1554480"/>
            <a:ext cx="2560320" cy="2834640"/>
          </a:xfrm>
          <a:prstGeom prst="roundRect">
            <a:avLst>
              <a:gd name="adj" fmla="val 3571"/>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17" name="Easy to find items circle"/>
          <p:cNvSpPr/>
          <p:nvPr/>
        </p:nvSpPr>
        <p:spPr>
          <a:xfrm>
            <a:off x="6492240" y="1783080"/>
            <a:ext cx="685800" cy="685800"/>
          </a:xfrm>
          <a:prstGeom prst="ellipse">
            <a:avLst/>
          </a:prstGeom>
          <a:solidFill>
            <a:schemeClr val="tx1"/>
          </a:solidFill>
          <a:ln w="12700">
            <a:solidFill>
              <a:schemeClr val="tx1"/>
            </a:solidFill>
            <a:prstDash val="solid"/>
          </a:ln>
        </p:spPr>
      </p:sp>
      <p:pic>
        <p:nvPicPr>
          <p:cNvPr id="18" name="Image 2" descr="Easy to find items icon">    </p:cNvPr>
          <p:cNvPicPr>
            <a:picLocks noChangeAspect="1"/>
          </p:cNvPicPr>
          <p:nvPr/>
        </p:nvPicPr>
        <p:blipFill>
          <a:blip r:embed="rId3"/>
          <a:stretch>
            <a:fillRect/>
          </a:stretch>
        </p:blipFill>
        <p:spPr>
          <a:xfrm>
            <a:off x="6643116" y="1933956"/>
            <a:ext cx="384048" cy="384048"/>
          </a:xfrm>
          <a:prstGeom prst="rect">
            <a:avLst/>
          </a:prstGeom>
        </p:spPr>
      </p:pic>
      <p:sp>
        <p:nvSpPr>
          <p:cNvPr id="19" name="Text 14"/>
          <p:cNvSpPr txBox="1"/>
          <p:nvPr/>
        </p:nvSpPr>
        <p:spPr>
          <a:xfrm>
            <a:off x="6492240" y="2697480"/>
            <a:ext cx="2057400" cy="457200"/>
          </a:xfrm>
          <a:prstGeom prst="rect">
            <a:avLst/>
          </a:prstGeom>
          <a:noFill/>
          <a:ln/>
        </p:spPr>
        <p:txBody>
          <a:bodyPr wrap="square" lIns="0" tIns="0" rIns="0" bIns="0" rtlCol="0" anchor="ctr"/>
          <a:lstStyle/>
          <a:p>
            <a:pPr indent="0" marL="0">
              <a:buNone/>
            </a:pPr>
            <a:r>
              <a:rPr lang="en-US" sz="1700" b="1" dirty="0">
                <a:solidFill>
                  <a:schemeClr val="tx1"/>
                </a:solidFill>
              </a:rPr>
              <a:t>Easy to find items</a:t>
            </a:r>
            <a:endParaRPr lang="en-US" sz="1700" dirty="0"/>
          </a:p>
        </p:txBody>
      </p:sp>
      <p:sp>
        <p:nvSpPr>
          <p:cNvPr id="20" name="Text 15"/>
          <p:cNvSpPr txBox="1"/>
          <p:nvPr/>
        </p:nvSpPr>
        <p:spPr>
          <a:xfrm>
            <a:off x="6492240" y="3200400"/>
            <a:ext cx="2057400" cy="1097280"/>
          </a:xfrm>
          <a:prstGeom prst="rect">
            <a:avLst/>
          </a:prstGeom>
          <a:noFill/>
          <a:ln/>
        </p:spPr>
        <p:txBody>
          <a:bodyPr wrap="square" lIns="0" tIns="0" rIns="0" bIns="0" rtlCol="0" anchor="t"/>
          <a:lstStyle/>
          <a:p>
            <a:pPr indent="0" marL="0">
              <a:buNone/>
            </a:pPr>
            <a:r>
              <a:rPr lang="en-US" sz="1350" dirty="0">
                <a:solidFill>
                  <a:schemeClr val="accent3"/>
                </a:solidFill>
              </a:rPr>
              <a:t>Men's, women's and kids' clothes by size, color and location.</a:t>
            </a:r>
            <a:endParaRPr lang="en-US" sz="1350" dirty="0"/>
          </a:p>
        </p:txBody>
      </p:sp>
      <p:sp>
        <p:nvSpPr>
          <p:cNvPr id="21" name="Access 4"/>
          <p:cNvSpPr/>
          <p:nvPr/>
        </p:nvSpPr>
        <p:spPr>
          <a:xfrm>
            <a:off x="9052560" y="1554480"/>
            <a:ext cx="2560320" cy="2834640"/>
          </a:xfrm>
          <a:prstGeom prst="roundRect">
            <a:avLst>
              <a:gd name="adj" fmla="val 3571"/>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22" name="Clear status circle"/>
          <p:cNvSpPr/>
          <p:nvPr/>
        </p:nvSpPr>
        <p:spPr>
          <a:xfrm>
            <a:off x="9326880" y="1783080"/>
            <a:ext cx="685800" cy="685800"/>
          </a:xfrm>
          <a:prstGeom prst="ellipse">
            <a:avLst/>
          </a:prstGeom>
          <a:solidFill>
            <a:schemeClr val="tx1"/>
          </a:solidFill>
          <a:ln w="12700">
            <a:solidFill>
              <a:schemeClr val="tx1"/>
            </a:solidFill>
            <a:prstDash val="solid"/>
          </a:ln>
        </p:spPr>
      </p:sp>
      <p:pic>
        <p:nvPicPr>
          <p:cNvPr id="23" name="Image 3" descr="Clear status icon">    </p:cNvPr>
          <p:cNvPicPr>
            <a:picLocks noChangeAspect="1"/>
          </p:cNvPicPr>
          <p:nvPr/>
        </p:nvPicPr>
        <p:blipFill>
          <a:blip r:embed="rId4"/>
          <a:stretch>
            <a:fillRect/>
          </a:stretch>
        </p:blipFill>
        <p:spPr>
          <a:xfrm>
            <a:off x="9477756" y="1933956"/>
            <a:ext cx="384048" cy="384048"/>
          </a:xfrm>
          <a:prstGeom prst="rect">
            <a:avLst/>
          </a:prstGeom>
        </p:spPr>
      </p:pic>
      <p:sp>
        <p:nvSpPr>
          <p:cNvPr id="24" name="Text 18"/>
          <p:cNvSpPr txBox="1"/>
          <p:nvPr/>
        </p:nvSpPr>
        <p:spPr>
          <a:xfrm>
            <a:off x="9326880" y="2697480"/>
            <a:ext cx="2057400" cy="457200"/>
          </a:xfrm>
          <a:prstGeom prst="rect">
            <a:avLst/>
          </a:prstGeom>
          <a:noFill/>
          <a:ln/>
        </p:spPr>
        <p:txBody>
          <a:bodyPr wrap="square" lIns="0" tIns="0" rIns="0" bIns="0" rtlCol="0" anchor="ctr"/>
          <a:lstStyle/>
          <a:p>
            <a:pPr indent="0" marL="0">
              <a:buNone/>
            </a:pPr>
            <a:r>
              <a:rPr lang="en-US" sz="1700" b="1" dirty="0">
                <a:solidFill>
                  <a:schemeClr val="tx1"/>
                </a:solidFill>
              </a:rPr>
              <a:t>Clear status</a:t>
            </a:r>
            <a:endParaRPr lang="en-US" sz="1700" dirty="0"/>
          </a:p>
        </p:txBody>
      </p:sp>
      <p:sp>
        <p:nvSpPr>
          <p:cNvPr id="25" name="Text 19"/>
          <p:cNvSpPr txBox="1"/>
          <p:nvPr/>
        </p:nvSpPr>
        <p:spPr>
          <a:xfrm>
            <a:off x="9326880" y="3200400"/>
            <a:ext cx="2057400" cy="1097280"/>
          </a:xfrm>
          <a:prstGeom prst="rect">
            <a:avLst/>
          </a:prstGeom>
          <a:noFill/>
          <a:ln/>
        </p:spPr>
        <p:txBody>
          <a:bodyPr wrap="square" lIns="0" tIns="0" rIns="0" bIns="0" rtlCol="0" anchor="t"/>
          <a:lstStyle/>
          <a:p>
            <a:pPr indent="0" marL="0">
              <a:buNone/>
            </a:pPr>
            <a:r>
              <a:rPr lang="en-US" sz="1350" dirty="0">
                <a:solidFill>
                  <a:schemeClr val="accent3"/>
                </a:solidFill>
              </a:rPr>
              <a:t>Delivery updates keep shipment status in view.</a:t>
            </a:r>
            <a:endParaRPr lang="en-US" sz="1350" dirty="0"/>
          </a:p>
        </p:txBody>
      </p:sp>
      <p:sp>
        <p:nvSpPr>
          <p:cNvPr id="26" name="Planned strip"/>
          <p:cNvSpPr/>
          <p:nvPr/>
        </p:nvSpPr>
        <p:spPr>
          <a:xfrm>
            <a:off x="548640" y="4663440"/>
            <a:ext cx="11064240" cy="1463040"/>
          </a:xfrm>
          <a:prstGeom prst="roundRect">
            <a:avLst>
              <a:gd name="adj" fmla="val 6250"/>
            </a:avLst>
          </a:prstGeom>
          <a:solidFill>
            <a:schemeClr val="tx1"/>
          </a:solidFill>
          <a:ln w="12700">
            <a:solidFill>
              <a:schemeClr val="tx1"/>
            </a:solidFill>
            <a:prstDash val="solid"/>
          </a:ln>
        </p:spPr>
      </p:sp>
      <p:sp>
        <p:nvSpPr>
          <p:cNvPr id="27" name="Text 21"/>
          <p:cNvSpPr txBox="1"/>
          <p:nvPr/>
        </p:nvSpPr>
        <p:spPr>
          <a:xfrm>
            <a:off x="914400" y="4846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SUGGESTED ACCESSIBILITY IMPROVEMENTS</a:t>
            </a:r>
            <a:endParaRPr lang="en-US" sz="1200" dirty="0"/>
          </a:p>
        </p:txBody>
      </p:sp>
      <p:sp>
        <p:nvSpPr>
          <p:cNvPr id="28" name="Improvement 1"/>
          <p:cNvSpPr/>
          <p:nvPr/>
        </p:nvSpPr>
        <p:spPr>
          <a:xfrm>
            <a:off x="914400" y="5349240"/>
            <a:ext cx="2423160" cy="502920"/>
          </a:xfrm>
          <a:prstGeom prst="roundRect">
            <a:avLst>
              <a:gd name="adj" fmla="val 49091"/>
            </a:avLst>
          </a:prstGeom>
          <a:solidFill>
            <a:schemeClr val="tx2"/>
          </a:solidFill>
          <a:ln w="12700">
            <a:solidFill>
              <a:schemeClr val="tx2"/>
            </a:solidFill>
            <a:prstDash val="solid"/>
          </a:ln>
        </p:spPr>
      </p:sp>
      <p:sp>
        <p:nvSpPr>
          <p:cNvPr id="29" name="Text 23"/>
          <p:cNvSpPr txBox="1"/>
          <p:nvPr/>
        </p:nvSpPr>
        <p:spPr>
          <a:xfrm>
            <a:off x="914400" y="5349240"/>
            <a:ext cx="2423160" cy="502920"/>
          </a:xfrm>
          <a:prstGeom prst="rect">
            <a:avLst/>
          </a:prstGeom>
          <a:noFill/>
          <a:ln/>
        </p:spPr>
        <p:txBody>
          <a:bodyPr wrap="square" lIns="0" tIns="0" rIns="0" bIns="0" rtlCol="0" anchor="ctr"/>
          <a:lstStyle/>
          <a:p>
            <a:pPr algn="ctr" indent="0" marL="0">
              <a:buNone/>
            </a:pPr>
            <a:r>
              <a:rPr lang="en-US" sz="1250" b="1" dirty="0">
                <a:solidFill>
                  <a:schemeClr val="bg1"/>
                </a:solidFill>
              </a:rPr>
              <a:t>Readable colors and text size</a:t>
            </a:r>
            <a:endParaRPr lang="en-US" sz="1250" dirty="0"/>
          </a:p>
        </p:txBody>
      </p:sp>
      <p:sp>
        <p:nvSpPr>
          <p:cNvPr id="30" name="Improvement 2"/>
          <p:cNvSpPr/>
          <p:nvPr/>
        </p:nvSpPr>
        <p:spPr>
          <a:xfrm>
            <a:off x="3520440" y="5349240"/>
            <a:ext cx="2423160" cy="502920"/>
          </a:xfrm>
          <a:prstGeom prst="roundRect">
            <a:avLst>
              <a:gd name="adj" fmla="val 49091"/>
            </a:avLst>
          </a:prstGeom>
          <a:solidFill>
            <a:schemeClr val="tx2"/>
          </a:solidFill>
          <a:ln w="12700">
            <a:solidFill>
              <a:schemeClr val="tx2"/>
            </a:solidFill>
            <a:prstDash val="solid"/>
          </a:ln>
        </p:spPr>
      </p:sp>
      <p:sp>
        <p:nvSpPr>
          <p:cNvPr id="31" name="Text 25"/>
          <p:cNvSpPr txBox="1"/>
          <p:nvPr/>
        </p:nvSpPr>
        <p:spPr>
          <a:xfrm>
            <a:off x="3520440" y="5349240"/>
            <a:ext cx="2423160" cy="502920"/>
          </a:xfrm>
          <a:prstGeom prst="rect">
            <a:avLst/>
          </a:prstGeom>
          <a:noFill/>
          <a:ln/>
        </p:spPr>
        <p:txBody>
          <a:bodyPr wrap="square" lIns="0" tIns="0" rIns="0" bIns="0" rtlCol="0" anchor="ctr"/>
          <a:lstStyle/>
          <a:p>
            <a:pPr algn="ctr" indent="0" marL="0">
              <a:buNone/>
            </a:pPr>
            <a:r>
              <a:rPr lang="en-US" sz="1250" b="1" dirty="0">
                <a:solidFill>
                  <a:schemeClr val="bg1"/>
                </a:solidFill>
              </a:rPr>
              <a:t>Keyboard navigation</a:t>
            </a:r>
            <a:endParaRPr lang="en-US" sz="1250" dirty="0"/>
          </a:p>
        </p:txBody>
      </p:sp>
      <p:sp>
        <p:nvSpPr>
          <p:cNvPr id="32" name="Improvement 3"/>
          <p:cNvSpPr/>
          <p:nvPr/>
        </p:nvSpPr>
        <p:spPr>
          <a:xfrm>
            <a:off x="6126480" y="5349240"/>
            <a:ext cx="2423160" cy="502920"/>
          </a:xfrm>
          <a:prstGeom prst="roundRect">
            <a:avLst>
              <a:gd name="adj" fmla="val 49091"/>
            </a:avLst>
          </a:prstGeom>
          <a:solidFill>
            <a:schemeClr val="tx2"/>
          </a:solidFill>
          <a:ln w="12700">
            <a:solidFill>
              <a:schemeClr val="tx2"/>
            </a:solidFill>
            <a:prstDash val="solid"/>
          </a:ln>
        </p:spPr>
      </p:sp>
      <p:sp>
        <p:nvSpPr>
          <p:cNvPr id="33" name="Text 27"/>
          <p:cNvSpPr txBox="1"/>
          <p:nvPr/>
        </p:nvSpPr>
        <p:spPr>
          <a:xfrm>
            <a:off x="6126480" y="5349240"/>
            <a:ext cx="2423160" cy="502920"/>
          </a:xfrm>
          <a:prstGeom prst="rect">
            <a:avLst/>
          </a:prstGeom>
          <a:noFill/>
          <a:ln/>
        </p:spPr>
        <p:txBody>
          <a:bodyPr wrap="square" lIns="0" tIns="0" rIns="0" bIns="0" rtlCol="0" anchor="ctr"/>
          <a:lstStyle/>
          <a:p>
            <a:pPr algn="ctr" indent="0" marL="0">
              <a:buNone/>
            </a:pPr>
            <a:r>
              <a:rPr lang="en-US" sz="1250" b="1" dirty="0">
                <a:solidFill>
                  <a:schemeClr val="bg1"/>
                </a:solidFill>
              </a:rPr>
              <a:t>Mobile-friendly layout</a:t>
            </a:r>
            <a:endParaRPr lang="en-US" sz="1250" dirty="0"/>
          </a:p>
        </p:txBody>
      </p:sp>
      <p:sp>
        <p:nvSpPr>
          <p:cNvPr id="34" name="Improvement 4"/>
          <p:cNvSpPr/>
          <p:nvPr/>
        </p:nvSpPr>
        <p:spPr>
          <a:xfrm>
            <a:off x="8732520" y="5349240"/>
            <a:ext cx="2423160" cy="502920"/>
          </a:xfrm>
          <a:prstGeom prst="roundRect">
            <a:avLst>
              <a:gd name="adj" fmla="val 49091"/>
            </a:avLst>
          </a:prstGeom>
          <a:solidFill>
            <a:schemeClr val="tx2"/>
          </a:solidFill>
          <a:ln w="12700">
            <a:solidFill>
              <a:schemeClr val="tx2"/>
            </a:solidFill>
            <a:prstDash val="solid"/>
          </a:ln>
        </p:spPr>
      </p:sp>
      <p:sp>
        <p:nvSpPr>
          <p:cNvPr id="35" name="Text 29"/>
          <p:cNvSpPr txBox="1"/>
          <p:nvPr/>
        </p:nvSpPr>
        <p:spPr>
          <a:xfrm>
            <a:off x="8732520" y="5349240"/>
            <a:ext cx="2423160" cy="502920"/>
          </a:xfrm>
          <a:prstGeom prst="rect">
            <a:avLst/>
          </a:prstGeom>
          <a:noFill/>
          <a:ln/>
        </p:spPr>
        <p:txBody>
          <a:bodyPr wrap="square" lIns="0" tIns="0" rIns="0" bIns="0" rtlCol="0" anchor="ctr"/>
          <a:lstStyle/>
          <a:p>
            <a:pPr algn="ctr" indent="0" marL="0">
              <a:buNone/>
            </a:pPr>
            <a:r>
              <a:rPr lang="en-US" sz="1250" b="1" dirty="0">
                <a:solidFill>
                  <a:schemeClr val="bg1"/>
                </a:solidFill>
              </a:rPr>
              <a:t>Clear error messages</a:t>
            </a:r>
            <a:endParaRPr lang="en-US" sz="125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4  ·  DISSEMINATION AND ACCESSIBILITY</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Dissemination: how we share the work</a:t>
            </a:r>
            <a:endParaRPr lang="en-US" sz="3200" dirty="0"/>
          </a:p>
        </p:txBody>
      </p:sp>
      <p:graphicFrame>
        <p:nvGraphicFramePr>
          <p:cNvPr id="12" name="Dissemination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377440"/>
                <a:gridCol w="3657600"/>
                <a:gridCol w="3383280"/>
                <a:gridCol w="1645920"/>
              </a:tblGrid>
              <a:tr h="457200">
                <a:tc>
                  <a:txBody>
                    <a:bodyPr/>
                    <a:lstStyle/>
                    <a:p>
                      <a:pPr algn="l" indent="0" marL="0">
                        <a:buNone/>
                      </a:pPr>
                      <a:r>
                        <a:rPr lang="en-US" sz="1400" b="1" dirty="0">
                          <a:solidFill>
                            <a:srgbClr val="FFFFFF"/>
                          </a:solidFill>
                        </a:rPr>
                        <a:t>Audience</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algn="l" indent="0" marL="0">
                        <a:buNone/>
                      </a:pPr>
                      <a:r>
                        <a:rPr lang="en-US" sz="1400" b="1" dirty="0">
                          <a:solidFill>
                            <a:srgbClr val="FFFFFF"/>
                          </a:solidFill>
                        </a:rPr>
                        <a:t>What they get</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algn="l" indent="0" marL="0">
                        <a:buNone/>
                      </a:pPr>
                      <a:r>
                        <a:rPr lang="en-US" sz="1400" b="1" dirty="0">
                          <a:solidFill>
                            <a:srgbClr val="FFFFFF"/>
                          </a:solidFill>
                        </a:rPr>
                        <a:t>Channel</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3E5C76"/>
                    </a:solidFill>
                  </a:tcPr>
                </a:tc>
                <a:tc>
                  <a:txBody>
                    <a:bodyPr/>
                    <a:lstStyle/>
                    <a:p>
                      <a:pPr algn="l" indent="0" marL="0">
                        <a:buNone/>
                      </a:pPr>
                      <a:r>
                        <a:rPr lang="en-US" sz="1400" b="1" dirty="0">
                          <a:solidFill>
                            <a:srgbClr val="1B2A41"/>
                          </a:solidFill>
                        </a:rPr>
                        <a:t>Status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2A541"/>
                    </a:solidFill>
                  </a:tcPr>
                </a:tc>
              </a:tr>
              <a:tr h="777240">
                <a:tc>
                  <a:txBody>
                    <a:bodyPr/>
                    <a:lstStyle/>
                    <a:p>
                      <a:pPr indent="0" marL="0">
                        <a:buNone/>
                      </a:pPr>
                      <a:r>
                        <a:rPr lang="en-US" sz="1400" b="1" dirty="0">
                          <a:solidFill>
                            <a:srgbClr val="1B2A41"/>
                          </a:solidFill>
                        </a:rPr>
                        <a:t>Faculty reviewers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400" dirty="0">
                          <a:solidFill>
                            <a:srgbClr val="1B2A41"/>
                          </a:solidFill>
                        </a:rPr>
                        <a:t>Working demo and review slides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Review sessions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400" b="1" dirty="0">
                          <a:solidFill>
                            <a:srgbClr val="1B2A41"/>
                          </a:solidFill>
                        </a:rPr>
                        <a:t>Ready</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2A541"/>
                    </a:solidFill>
                  </a:tcPr>
                </a:tc>
              </a:tr>
              <a:tr h="777240">
                <a:tc>
                  <a:txBody>
                    <a:bodyPr/>
                    <a:lstStyle/>
                    <a:p>
                      <a:pPr indent="0" marL="0">
                        <a:buNone/>
                      </a:pPr>
                      <a:r>
                        <a:rPr lang="en-US" sz="1400" b="1" dirty="0">
                          <a:solidFill>
                            <a:srgbClr val="1B2A41"/>
                          </a:solidFill>
                        </a:rPr>
                        <a:t>Classmates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400" dirty="0">
                          <a:solidFill>
                            <a:srgbClr val="1B2A41"/>
                          </a:solidFill>
                        </a:rPr>
                        <a:t>A walkthrough of the workflows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Class demo</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400" b="1" dirty="0">
                          <a:solidFill>
                            <a:srgbClr val="1B2A41"/>
                          </a:solidFill>
                        </a:rPr>
                        <a:t>Planned</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77240">
                <a:tc>
                  <a:txBody>
                    <a:bodyPr/>
                    <a:lstStyle/>
                    <a:p>
                      <a:pPr indent="0" marL="0">
                        <a:buNone/>
                      </a:pPr>
                      <a:r>
                        <a:rPr lang="en-US" sz="1400" b="1" dirty="0">
                          <a:solidFill>
                            <a:srgbClr val="1B2A41"/>
                          </a:solidFill>
                        </a:rPr>
                        <a:t>Future developers</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400" dirty="0">
                          <a:solidFill>
                            <a:srgbClr val="1B2A41"/>
                          </a:solidFill>
                        </a:rPr>
                        <a:t>Source code and a setup guide</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Code repository with README</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400" b="1" dirty="0">
                          <a:solidFill>
                            <a:srgbClr val="1B2A41"/>
                          </a:solidFill>
                        </a:rPr>
                        <a:t>Planned</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r h="777240">
                <a:tc>
                  <a:txBody>
                    <a:bodyPr/>
                    <a:lstStyle/>
                    <a:p>
                      <a:pPr indent="0" marL="0">
                        <a:buNone/>
                      </a:pPr>
                      <a:r>
                        <a:rPr lang="en-US" sz="1400" b="1" dirty="0">
                          <a:solidFill>
                            <a:srgbClr val="1B2A41"/>
                          </a:solidFill>
                        </a:rPr>
                        <a:t>Wider audience</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D8E1E9"/>
                    </a:solidFill>
                  </a:tcPr>
                </a:tc>
                <a:tc>
                  <a:txBody>
                    <a:bodyPr/>
                    <a:lstStyle/>
                    <a:p>
                      <a:pPr indent="0" marL="0">
                        <a:buNone/>
                      </a:pPr>
                      <a:r>
                        <a:rPr lang="en-US" sz="1400" dirty="0">
                          <a:solidFill>
                            <a:srgbClr val="1B2A41"/>
                          </a:solidFill>
                        </a:rPr>
                        <a:t>A short write-up of the method</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rPr>
                        <a:t>Project report or poster</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FFFFF"/>
                    </a:solidFill>
                  </a:tcPr>
                </a:tc>
                <a:tc>
                  <a:txBody>
                    <a:bodyPr/>
                    <a:lstStyle/>
                    <a:p>
                      <a:pPr indent="0" marL="0">
                        <a:buNone/>
                      </a:pPr>
                      <a:r>
                        <a:rPr lang="en-US" sz="1400" b="1" dirty="0">
                          <a:solidFill>
                            <a:srgbClr val="1B2A41"/>
                          </a:solidFill>
                        </a:rPr>
                        <a:t>Planned</a:t>
                      </a:r>
                      <a:endParaRPr lang="en-US" sz="1400" dirty="0"/>
                    </a:p>
                  </a:txBody>
                  <a:tcPr marL="109728" marR="109728" marT="36576" marB="36576" anchor="ctr">
                    <a:lnL w="12700" cap="flat" cmpd="sng" algn="ctr">
                      <a:solidFill>
                        <a:srgbClr val="D8E1E9"/>
                      </a:solidFill>
                      <a:prstDash val="solid"/>
                      <a:round/>
                      <a:headEnd type="none" w="med" len="med"/>
                      <a:tailEnd type="none" w="med" len="med"/>
                    </a:lnL>
                    <a:lnR w="12700" cap="flat" cmpd="sng" algn="ctr">
                      <a:solidFill>
                        <a:srgbClr val="D8E1E9"/>
                      </a:solidFill>
                      <a:prstDash val="solid"/>
                      <a:round/>
                      <a:headEnd type="none" w="med" len="med"/>
                      <a:tailEnd type="none" w="med" len="med"/>
                    </a:lnR>
                    <a:lnT w="12700" cap="flat" cmpd="sng" algn="ctr">
                      <a:solidFill>
                        <a:srgbClr val="D8E1E9"/>
                      </a:solidFill>
                      <a:prstDash val="solid"/>
                      <a:round/>
                      <a:headEnd type="none" w="med" len="med"/>
                      <a:tailEnd type="none" w="med" len="med"/>
                    </a:lnT>
                    <a:lnB w="12700" cap="flat" cmpd="sng" algn="ctr">
                      <a:solidFill>
                        <a:srgbClr val="D8E1E9"/>
                      </a:solidFill>
                      <a:prstDash val="solid"/>
                      <a:round/>
                      <a:headEnd type="none" w="med" len="med"/>
                      <a:tailEnd type="none" w="med" len="med"/>
                    </a:lnB>
                    <a:solidFill>
                      <a:srgbClr val="FDF1DD"/>
                    </a:solidFill>
                  </a:tcPr>
                </a:tc>
              </a:tr>
            </a:tbl>
          </a:graphicData>
        </a:graphic>
      </p:graphicFrame>
      <p:sp>
        <p:nvSpPr>
          <p:cNvPr id="7" name="C4 strip"/>
          <p:cNvSpPr/>
          <p:nvPr/>
        </p:nvSpPr>
        <p:spPr>
          <a:xfrm>
            <a:off x="548640" y="5212080"/>
            <a:ext cx="11064240" cy="914400"/>
          </a:xfrm>
          <a:prstGeom prst="roundRect">
            <a:avLst>
              <a:gd name="adj" fmla="val 10000"/>
            </a:avLst>
          </a:prstGeom>
          <a:solidFill>
            <a:schemeClr val="accent1"/>
          </a:solidFill>
          <a:ln w="12700">
            <a:solidFill>
              <a:schemeClr val="accent1"/>
            </a:solidFill>
            <a:prstDash val="solid"/>
          </a:ln>
        </p:spPr>
      </p:sp>
      <p:sp>
        <p:nvSpPr>
          <p:cNvPr id="8" name="Text 5"/>
          <p:cNvSpPr txBox="1"/>
          <p:nvPr/>
        </p:nvSpPr>
        <p:spPr>
          <a:xfrm>
            <a:off x="868680" y="5212080"/>
            <a:ext cx="10424160" cy="914400"/>
          </a:xfrm>
          <a:prstGeom prst="rect">
            <a:avLst/>
          </a:prstGeom>
          <a:noFill/>
          <a:ln/>
        </p:spPr>
        <p:txBody>
          <a:bodyPr wrap="square" lIns="0" tIns="0" rIns="0" bIns="0" rtlCol="0" anchor="ctr"/>
          <a:lstStyle/>
          <a:p>
            <a:pPr indent="0" marL="0">
              <a:buNone/>
            </a:pPr>
            <a:r>
              <a:rPr lang="en-US" sz="1600" b="1" dirty="0">
                <a:solidFill>
                  <a:schemeClr val="tx1"/>
                </a:solidFill>
              </a:rPr>
              <a:t>Full C4 diagrams, one of our planned improvements, will make the design easier to explain, share and hand over.</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5  ·  PRESENTATION SKILLS</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Summary: DockFlow Review 3</a:t>
            </a:r>
            <a:endParaRPr lang="en-US" sz="3200" dirty="0"/>
          </a:p>
        </p:txBody>
      </p:sp>
      <p:sp>
        <p:nvSpPr>
          <p:cNvPr id="6" name="Summary 1"/>
          <p:cNvSpPr/>
          <p:nvPr/>
        </p:nvSpPr>
        <p:spPr>
          <a:xfrm>
            <a:off x="548640" y="1554480"/>
            <a:ext cx="2560320" cy="2834640"/>
          </a:xfrm>
          <a:prstGeom prst="roundRect">
            <a:avLst>
              <a:gd name="adj" fmla="val 3571"/>
            </a:avLst>
          </a:prstGeom>
          <a:solidFill>
            <a:schemeClr val="tx2"/>
          </a:solidFill>
          <a:ln w="12700">
            <a:solidFill>
              <a:schemeClr val="tx2"/>
            </a:solidFill>
            <a:prstDash val="solid"/>
          </a:ln>
        </p:spPr>
      </p:sp>
      <p:sp>
        <p:nvSpPr>
          <p:cNvPr id="7" name="Novel circle"/>
          <p:cNvSpPr/>
          <p:nvPr/>
        </p:nvSpPr>
        <p:spPr>
          <a:xfrm>
            <a:off x="822960" y="1783080"/>
            <a:ext cx="685800" cy="685800"/>
          </a:xfrm>
          <a:prstGeom prst="ellipse">
            <a:avLst/>
          </a:prstGeom>
          <a:solidFill>
            <a:schemeClr val="accent1"/>
          </a:solidFill>
          <a:ln w="12700">
            <a:solidFill>
              <a:schemeClr val="accent1"/>
            </a:solidFill>
            <a:prstDash val="solid"/>
          </a:ln>
        </p:spPr>
      </p:sp>
      <p:pic>
        <p:nvPicPr>
          <p:cNvPr id="8" name="Image 0" descr="Novel icon">    </p:cNvPr>
          <p:cNvPicPr>
            <a:picLocks noChangeAspect="1"/>
          </p:cNvPicPr>
          <p:nvPr/>
        </p:nvPicPr>
        <p:blipFill>
          <a:blip r:embed="rId1"/>
          <a:stretch>
            <a:fillRect/>
          </a:stretch>
        </p:blipFill>
        <p:spPr>
          <a:xfrm>
            <a:off x="973836" y="1933956"/>
            <a:ext cx="384048" cy="384048"/>
          </a:xfrm>
          <a:prstGeom prst="rect">
            <a:avLst/>
          </a:prstGeom>
        </p:spPr>
      </p:pic>
      <p:sp>
        <p:nvSpPr>
          <p:cNvPr id="9" name="Text 6"/>
          <p:cNvSpPr txBox="1"/>
          <p:nvPr/>
        </p:nvSpPr>
        <p:spPr>
          <a:xfrm>
            <a:off x="822960" y="2651760"/>
            <a:ext cx="210312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Novel</a:t>
            </a:r>
            <a:endParaRPr lang="en-US" sz="2200" dirty="0"/>
          </a:p>
        </p:txBody>
      </p:sp>
      <p:sp>
        <p:nvSpPr>
          <p:cNvPr id="10" name="Text 7"/>
          <p:cNvSpPr txBox="1"/>
          <p:nvPr/>
        </p:nvSpPr>
        <p:spPr>
          <a:xfrm>
            <a:off x="822960" y="3200400"/>
            <a:ext cx="2057400" cy="1097280"/>
          </a:xfrm>
          <a:prstGeom prst="rect">
            <a:avLst/>
          </a:prstGeom>
          <a:noFill/>
          <a:ln/>
        </p:spPr>
        <p:txBody>
          <a:bodyPr wrap="square" lIns="0" tIns="0" rIns="0" bIns="0" rtlCol="0" anchor="t"/>
          <a:lstStyle/>
          <a:p>
            <a:pPr indent="0" marL="0">
              <a:buNone/>
            </a:pPr>
            <a:r>
              <a:rPr lang="en-US" sz="1350" dirty="0">
                <a:solidFill>
                  <a:schemeClr val="accent4"/>
                </a:solidFill>
              </a:rPr>
              <a:t>Data classified by job: MySQL, MongoDB and Kafka.</a:t>
            </a:r>
            <a:endParaRPr lang="en-US" sz="1350" dirty="0"/>
          </a:p>
        </p:txBody>
      </p:sp>
      <p:sp>
        <p:nvSpPr>
          <p:cNvPr id="11" name="Summary 2"/>
          <p:cNvSpPr/>
          <p:nvPr/>
        </p:nvSpPr>
        <p:spPr>
          <a:xfrm>
            <a:off x="3383280" y="1554480"/>
            <a:ext cx="2560320" cy="2834640"/>
          </a:xfrm>
          <a:prstGeom prst="roundRect">
            <a:avLst>
              <a:gd name="adj" fmla="val 3571"/>
            </a:avLst>
          </a:prstGeom>
          <a:solidFill>
            <a:schemeClr val="tx2"/>
          </a:solidFill>
          <a:ln w="12700">
            <a:solidFill>
              <a:schemeClr val="tx2"/>
            </a:solidFill>
            <a:prstDash val="solid"/>
          </a:ln>
        </p:spPr>
      </p:sp>
      <p:sp>
        <p:nvSpPr>
          <p:cNvPr id="12" name="Adaptable circle"/>
          <p:cNvSpPr/>
          <p:nvPr/>
        </p:nvSpPr>
        <p:spPr>
          <a:xfrm>
            <a:off x="3657600" y="1783080"/>
            <a:ext cx="685800" cy="685800"/>
          </a:xfrm>
          <a:prstGeom prst="ellipse">
            <a:avLst/>
          </a:prstGeom>
          <a:solidFill>
            <a:schemeClr val="accent1"/>
          </a:solidFill>
          <a:ln w="12700">
            <a:solidFill>
              <a:schemeClr val="accent1"/>
            </a:solidFill>
            <a:prstDash val="solid"/>
          </a:ln>
        </p:spPr>
      </p:sp>
      <p:pic>
        <p:nvPicPr>
          <p:cNvPr id="13" name="Image 1" descr="Adaptable icon">    </p:cNvPr>
          <p:cNvPicPr>
            <a:picLocks noChangeAspect="1"/>
          </p:cNvPicPr>
          <p:nvPr/>
        </p:nvPicPr>
        <p:blipFill>
          <a:blip r:embed="rId2"/>
          <a:stretch>
            <a:fillRect/>
          </a:stretch>
        </p:blipFill>
        <p:spPr>
          <a:xfrm>
            <a:off x="3808476" y="1933956"/>
            <a:ext cx="384048" cy="384048"/>
          </a:xfrm>
          <a:prstGeom prst="rect">
            <a:avLst/>
          </a:prstGeom>
        </p:spPr>
      </p:pic>
      <p:sp>
        <p:nvSpPr>
          <p:cNvPr id="14" name="Text 10"/>
          <p:cNvSpPr txBox="1"/>
          <p:nvPr/>
        </p:nvSpPr>
        <p:spPr>
          <a:xfrm>
            <a:off x="3657600" y="2651760"/>
            <a:ext cx="210312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Adaptable</a:t>
            </a:r>
            <a:endParaRPr lang="en-US" sz="2200" dirty="0"/>
          </a:p>
        </p:txBody>
      </p:sp>
      <p:sp>
        <p:nvSpPr>
          <p:cNvPr id="15" name="Text 11"/>
          <p:cNvSpPr txBox="1"/>
          <p:nvPr/>
        </p:nvSpPr>
        <p:spPr>
          <a:xfrm>
            <a:off x="3657600" y="3200400"/>
            <a:ext cx="2057400" cy="1097280"/>
          </a:xfrm>
          <a:prstGeom prst="rect">
            <a:avLst/>
          </a:prstGeom>
          <a:noFill/>
          <a:ln/>
        </p:spPr>
        <p:txBody>
          <a:bodyPr wrap="square" lIns="0" tIns="0" rIns="0" bIns="0" rtlCol="0" anchor="t"/>
          <a:lstStyle/>
          <a:p>
            <a:pPr indent="0" marL="0">
              <a:buNone/>
            </a:pPr>
            <a:r>
              <a:rPr lang="en-US" sz="1350" dirty="0">
                <a:solidFill>
                  <a:schemeClr val="accent4"/>
                </a:solidFill>
              </a:rPr>
              <a:t>New categories, fields and services fit with local change.</a:t>
            </a:r>
            <a:endParaRPr lang="en-US" sz="1350" dirty="0"/>
          </a:p>
        </p:txBody>
      </p:sp>
      <p:sp>
        <p:nvSpPr>
          <p:cNvPr id="16" name="Summary 3"/>
          <p:cNvSpPr/>
          <p:nvPr/>
        </p:nvSpPr>
        <p:spPr>
          <a:xfrm>
            <a:off x="6217920" y="1554480"/>
            <a:ext cx="2560320" cy="2834640"/>
          </a:xfrm>
          <a:prstGeom prst="roundRect">
            <a:avLst>
              <a:gd name="adj" fmla="val 3571"/>
            </a:avLst>
          </a:prstGeom>
          <a:solidFill>
            <a:schemeClr val="tx2"/>
          </a:solidFill>
          <a:ln w="12700">
            <a:solidFill>
              <a:schemeClr val="tx2"/>
            </a:solidFill>
            <a:prstDash val="solid"/>
          </a:ln>
        </p:spPr>
      </p:sp>
      <p:sp>
        <p:nvSpPr>
          <p:cNvPr id="17" name="Evaluated circle"/>
          <p:cNvSpPr/>
          <p:nvPr/>
        </p:nvSpPr>
        <p:spPr>
          <a:xfrm>
            <a:off x="6492240" y="1783080"/>
            <a:ext cx="685800" cy="685800"/>
          </a:xfrm>
          <a:prstGeom prst="ellipse">
            <a:avLst/>
          </a:prstGeom>
          <a:solidFill>
            <a:schemeClr val="accent1"/>
          </a:solidFill>
          <a:ln w="12700">
            <a:solidFill>
              <a:schemeClr val="accent1"/>
            </a:solidFill>
            <a:prstDash val="solid"/>
          </a:ln>
        </p:spPr>
      </p:sp>
      <p:pic>
        <p:nvPicPr>
          <p:cNvPr id="18" name="Image 2" descr="Evaluated icon">    </p:cNvPr>
          <p:cNvPicPr>
            <a:picLocks noChangeAspect="1"/>
          </p:cNvPicPr>
          <p:nvPr/>
        </p:nvPicPr>
        <p:blipFill>
          <a:blip r:embed="rId3"/>
          <a:stretch>
            <a:fillRect/>
          </a:stretch>
        </p:blipFill>
        <p:spPr>
          <a:xfrm>
            <a:off x="6643116" y="1933956"/>
            <a:ext cx="384048" cy="384048"/>
          </a:xfrm>
          <a:prstGeom prst="rect">
            <a:avLst/>
          </a:prstGeom>
        </p:spPr>
      </p:pic>
      <p:sp>
        <p:nvSpPr>
          <p:cNvPr id="19" name="Text 14"/>
          <p:cNvSpPr txBox="1"/>
          <p:nvPr/>
        </p:nvSpPr>
        <p:spPr>
          <a:xfrm>
            <a:off x="6492240" y="2651760"/>
            <a:ext cx="210312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Evaluated</a:t>
            </a:r>
            <a:endParaRPr lang="en-US" sz="2200" dirty="0"/>
          </a:p>
        </p:txBody>
      </p:sp>
      <p:sp>
        <p:nvSpPr>
          <p:cNvPr id="20" name="Text 15"/>
          <p:cNvSpPr txBox="1"/>
          <p:nvPr/>
        </p:nvSpPr>
        <p:spPr>
          <a:xfrm>
            <a:off x="6492240" y="3200400"/>
            <a:ext cx="2057400" cy="1097280"/>
          </a:xfrm>
          <a:prstGeom prst="rect">
            <a:avLst/>
          </a:prstGeom>
          <a:noFill/>
          <a:ln/>
        </p:spPr>
        <p:txBody>
          <a:bodyPr wrap="square" lIns="0" tIns="0" rIns="0" bIns="0" rtlCol="0" anchor="t"/>
          <a:lstStyle/>
          <a:p>
            <a:pPr indent="0" marL="0">
              <a:buNone/>
            </a:pPr>
            <a:r>
              <a:rPr lang="en-US" sz="1350" dirty="0">
                <a:solidFill>
                  <a:schemeClr val="accent4"/>
                </a:solidFill>
              </a:rPr>
              <a:t>Five measures; objectives checked; limits stated.</a:t>
            </a:r>
            <a:endParaRPr lang="en-US" sz="1350" dirty="0"/>
          </a:p>
        </p:txBody>
      </p:sp>
      <p:sp>
        <p:nvSpPr>
          <p:cNvPr id="21" name="Summary 4"/>
          <p:cNvSpPr/>
          <p:nvPr/>
        </p:nvSpPr>
        <p:spPr>
          <a:xfrm>
            <a:off x="9052560" y="1554480"/>
            <a:ext cx="2560320" cy="2834640"/>
          </a:xfrm>
          <a:prstGeom prst="roundRect">
            <a:avLst>
              <a:gd name="adj" fmla="val 3571"/>
            </a:avLst>
          </a:prstGeom>
          <a:solidFill>
            <a:schemeClr val="tx2"/>
          </a:solidFill>
          <a:ln w="12700">
            <a:solidFill>
              <a:schemeClr val="tx2"/>
            </a:solidFill>
            <a:prstDash val="solid"/>
          </a:ln>
        </p:spPr>
      </p:sp>
      <p:sp>
        <p:nvSpPr>
          <p:cNvPr id="22" name="Accessible circle"/>
          <p:cNvSpPr/>
          <p:nvPr/>
        </p:nvSpPr>
        <p:spPr>
          <a:xfrm>
            <a:off x="9326880" y="1783080"/>
            <a:ext cx="685800" cy="685800"/>
          </a:xfrm>
          <a:prstGeom prst="ellipse">
            <a:avLst/>
          </a:prstGeom>
          <a:solidFill>
            <a:schemeClr val="accent1"/>
          </a:solidFill>
          <a:ln w="12700">
            <a:solidFill>
              <a:schemeClr val="accent1"/>
            </a:solidFill>
            <a:prstDash val="solid"/>
          </a:ln>
        </p:spPr>
      </p:sp>
      <p:pic>
        <p:nvPicPr>
          <p:cNvPr id="23" name="Image 3" descr="Accessible icon">    </p:cNvPr>
          <p:cNvPicPr>
            <a:picLocks noChangeAspect="1"/>
          </p:cNvPicPr>
          <p:nvPr/>
        </p:nvPicPr>
        <p:blipFill>
          <a:blip r:embed="rId4"/>
          <a:stretch>
            <a:fillRect/>
          </a:stretch>
        </p:blipFill>
        <p:spPr>
          <a:xfrm>
            <a:off x="9477756" y="1933956"/>
            <a:ext cx="384048" cy="384048"/>
          </a:xfrm>
          <a:prstGeom prst="rect">
            <a:avLst/>
          </a:prstGeom>
        </p:spPr>
      </p:pic>
      <p:sp>
        <p:nvSpPr>
          <p:cNvPr id="24" name="Text 18"/>
          <p:cNvSpPr txBox="1"/>
          <p:nvPr/>
        </p:nvSpPr>
        <p:spPr>
          <a:xfrm>
            <a:off x="9326880" y="2651760"/>
            <a:ext cx="210312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Accessible</a:t>
            </a:r>
            <a:endParaRPr lang="en-US" sz="2200" dirty="0"/>
          </a:p>
        </p:txBody>
      </p:sp>
      <p:sp>
        <p:nvSpPr>
          <p:cNvPr id="25" name="Text 19"/>
          <p:cNvSpPr txBox="1"/>
          <p:nvPr/>
        </p:nvSpPr>
        <p:spPr>
          <a:xfrm>
            <a:off x="9326880" y="3200400"/>
            <a:ext cx="2057400" cy="1097280"/>
          </a:xfrm>
          <a:prstGeom prst="rect">
            <a:avLst/>
          </a:prstGeom>
          <a:noFill/>
          <a:ln/>
        </p:spPr>
        <p:txBody>
          <a:bodyPr wrap="square" lIns="0" tIns="0" rIns="0" bIns="0" rtlCol="0" anchor="t"/>
          <a:lstStyle/>
          <a:p>
            <a:pPr indent="0" marL="0">
              <a:buNone/>
            </a:pPr>
            <a:r>
              <a:rPr lang="en-US" sz="1350" dirty="0">
                <a:solidFill>
                  <a:schemeClr val="accent4"/>
                </a:solidFill>
              </a:rPr>
              <a:t>Browser-based, three-task workflow, sharing plan.</a:t>
            </a:r>
            <a:endParaRPr lang="en-US" sz="1350" dirty="0"/>
          </a:p>
        </p:txBody>
      </p:sp>
      <p:sp>
        <p:nvSpPr>
          <p:cNvPr id="26" name="Text 20"/>
          <p:cNvSpPr txBox="1"/>
          <p:nvPr/>
        </p:nvSpPr>
        <p:spPr>
          <a:xfrm>
            <a:off x="548640" y="4754880"/>
            <a:ext cx="54864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Thank you</a:t>
            </a:r>
            <a:endParaRPr lang="en-US" sz="4400" dirty="0"/>
          </a:p>
        </p:txBody>
      </p:sp>
      <p:sp>
        <p:nvSpPr>
          <p:cNvPr id="27" name="Text 21"/>
          <p:cNvSpPr txBox="1"/>
          <p:nvPr/>
        </p:nvSpPr>
        <p:spPr>
          <a:xfrm>
            <a:off x="548640" y="5577840"/>
            <a:ext cx="5943600" cy="365760"/>
          </a:xfrm>
          <a:prstGeom prst="rect">
            <a:avLst/>
          </a:prstGeom>
          <a:noFill/>
          <a:ln/>
        </p:spPr>
        <p:txBody>
          <a:bodyPr wrap="square" lIns="0" tIns="0" rIns="0" bIns="0" rtlCol="0" anchor="ctr"/>
          <a:lstStyle/>
          <a:p>
            <a:pPr indent="0" marL="0">
              <a:buNone/>
            </a:pPr>
            <a:r>
              <a:rPr lang="en-US" sz="1700" dirty="0">
                <a:solidFill>
                  <a:schemeClr val="accent4"/>
                </a:solidFill>
              </a:rPr>
              <a:t>We are happy to take your questions.</a:t>
            </a:r>
            <a:endParaRPr lang="en-US" sz="1700" dirty="0"/>
          </a:p>
        </p:txBody>
      </p:sp>
      <p:sp>
        <p:nvSpPr>
          <p:cNvPr id="28" name="Text 22"/>
          <p:cNvSpPr txBox="1"/>
          <p:nvPr/>
        </p:nvSpPr>
        <p:spPr>
          <a:xfrm>
            <a:off x="6583680" y="5029200"/>
            <a:ext cx="5029200" cy="822960"/>
          </a:xfrm>
          <a:prstGeom prst="rect">
            <a:avLst/>
          </a:prstGeom>
          <a:noFill/>
          <a:ln/>
        </p:spPr>
        <p:txBody>
          <a:bodyPr wrap="square" lIns="0" tIns="0" rIns="0" bIns="0" rtlCol="0" anchor="t"/>
          <a:lstStyle/>
          <a:p>
            <a:pPr algn="r" indent="0" marL="0">
              <a:buNone/>
            </a:pPr>
            <a:r>
              <a:rPr lang="en-US" sz="1400" dirty="0">
                <a:solidFill>
                  <a:schemeClr val="accent4"/>
                </a:solidFill>
              </a:rPr>
              <a:t>U. Sindhuja  •  P. Bhagya Sri  •  S. Rishitha Reddy</a:t>
            </a:r>
            <a:endParaRPr lang="en-US" sz="1400" dirty="0"/>
          </a:p>
          <a:p>
            <a:pPr algn="r" indent="0" marL="0">
              <a:buNone/>
            </a:pPr>
            <a:r>
              <a:rPr lang="en-US" sz="1400" dirty="0">
                <a:solidFill>
                  <a:schemeClr val="accent4"/>
                </a:solidFill>
              </a:rPr>
              <a:t>Team No-14  |  Guided by Dr. M. Gayatri</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2C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89611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CRITERION 5  ·  PRESENTATION SKILLS</a:t>
            </a:r>
            <a:endParaRPr lang="en-US" sz="1100" dirty="0"/>
          </a:p>
        </p:txBody>
      </p:sp>
      <p:sp>
        <p:nvSpPr>
          <p:cNvPr id="3" name="Marks pill"/>
          <p:cNvSpPr/>
          <p:nvPr/>
        </p:nvSpPr>
        <p:spPr>
          <a:xfrm>
            <a:off x="10332720" y="219456"/>
            <a:ext cx="1280160" cy="365760"/>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10332720" y="219456"/>
            <a:ext cx="1280160" cy="365760"/>
          </a:xfrm>
          <a:prstGeom prst="rect">
            <a:avLst/>
          </a:prstGeom>
          <a:noFill/>
          <a:ln/>
        </p:spPr>
        <p:txBody>
          <a:bodyPr wrap="square" lIns="0" tIns="0" rIns="0" bIns="0" rtlCol="0" anchor="ctr"/>
          <a:lstStyle/>
          <a:p>
            <a:pPr algn="ctr" indent="0" marL="0">
              <a:buNone/>
            </a:pPr>
            <a:r>
              <a:rPr lang="en-US" sz="1200" b="1" dirty="0">
                <a:solidFill>
                  <a:schemeClr val="tx1"/>
                </a:solidFill>
              </a:rPr>
              <a:t>10 MARKS</a:t>
            </a:r>
            <a:endParaRPr lang="en-US" sz="1200" dirty="0"/>
          </a:p>
        </p:txBody>
      </p:sp>
      <p:sp>
        <p:nvSpPr>
          <p:cNvPr id="5" name="Text 0"/>
          <p:cNvSpPr/>
          <p:nvPr>
            <p:ph idx="100" type="title" hasCustomPrompt="1"/>
          </p:nvPr>
        </p:nvSpPr>
        <p:spPr>
          <a:xfrm>
            <a:off x="548640" y="5943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References</a:t>
            </a:r>
            <a:endParaRPr lang="en-US" sz="3200" dirty="0"/>
          </a:p>
        </p:txBody>
      </p:sp>
      <p:sp>
        <p:nvSpPr>
          <p:cNvPr id="6" name="Reference card"/>
          <p:cNvSpPr/>
          <p:nvPr/>
        </p:nvSpPr>
        <p:spPr>
          <a:xfrm>
            <a:off x="548640" y="1508760"/>
            <a:ext cx="11064240" cy="2926080"/>
          </a:xfrm>
          <a:prstGeom prst="roundRect">
            <a:avLst>
              <a:gd name="adj" fmla="val 3125"/>
            </a:avLst>
          </a:prstGeom>
          <a:solidFill>
            <a:schemeClr val="bg1"/>
          </a:solidFill>
          <a:ln w="12700">
            <a:solidFill>
              <a:schemeClr val="bg1"/>
            </a:solidFill>
            <a:prstDash val="solid"/>
          </a:ln>
          <a:effectLst>
            <a:outerShdw sx="100000" sy="100000" kx="0" ky="0" algn="bl" rotWithShape="0" blurRad="101600" dist="25400" dir="5400000">
              <a:srgbClr val="1B2A41">
                <a:alpha val="12000"/>
              </a:srgbClr>
            </a:outerShdw>
          </a:effectLst>
        </p:spPr>
      </p:sp>
      <p:sp>
        <p:nvSpPr>
          <p:cNvPr id="7" name="Text 5"/>
          <p:cNvSpPr txBox="1"/>
          <p:nvPr/>
        </p:nvSpPr>
        <p:spPr>
          <a:xfrm>
            <a:off x="868680" y="1737360"/>
            <a:ext cx="10424160" cy="256032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[1]  J. Kreps, N. Narkhede and J. Rao, "Kafka: a distributed messaging system for log processing," NetDB'11, Athens, Greece, 2011.</a:t>
            </a:r>
            <a:endParaRPr lang="en-US" sz="1400" dirty="0"/>
          </a:p>
          <a:p>
            <a:pPr indent="0" marL="0">
              <a:spcAft>
                <a:spcPts val="1000"/>
              </a:spcAft>
              <a:buNone/>
            </a:pPr>
            <a:r>
              <a:rPr lang="en-US" sz="1400" dirty="0">
                <a:solidFill>
                  <a:schemeClr val="tx1"/>
                </a:solidFill>
              </a:rPr>
              <a:t>[5]  F. Halili, A. Nuhiji and D. Mustafai-Veliu, "Polyglot Persistence in Microservices: Managing Data Diversity in Distributed Systems," arXiv:2509.08014, 2025.</a:t>
            </a:r>
            <a:endParaRPr lang="en-US" sz="1400" dirty="0"/>
          </a:p>
          <a:p>
            <a:pPr indent="0" marL="0">
              <a:spcAft>
                <a:spcPts val="1000"/>
              </a:spcAft>
              <a:buNone/>
            </a:pPr>
            <a:r>
              <a:rPr lang="en-US" sz="1400" dirty="0">
                <a:solidFill>
                  <a:schemeClr val="tx1"/>
                </a:solidFill>
              </a:rPr>
              <a:t>[6]  "Benchmarking SQL and NoSQL Persistence in Microservices Under Variable Workloads," Future Internet, vol. 18, art. 53, 2026.</a:t>
            </a:r>
            <a:endParaRPr lang="en-US" sz="1400" dirty="0"/>
          </a:p>
        </p:txBody>
      </p:sp>
      <p:sp>
        <p:nvSpPr>
          <p:cNvPr id="8" name="Text 6"/>
          <p:cNvSpPr txBox="1"/>
          <p:nvPr/>
        </p:nvSpPr>
        <p:spPr>
          <a:xfrm>
            <a:off x="548640" y="4663440"/>
            <a:ext cx="10972800" cy="320040"/>
          </a:xfrm>
          <a:prstGeom prst="rect">
            <a:avLst/>
          </a:prstGeom>
          <a:noFill/>
          <a:ln/>
        </p:spPr>
        <p:txBody>
          <a:bodyPr wrap="square" lIns="0" tIns="0" rIns="0" bIns="0" rtlCol="0" anchor="ctr"/>
          <a:lstStyle/>
          <a:p>
            <a:pPr indent="0" marL="0">
              <a:buNone/>
            </a:pPr>
            <a:r>
              <a:rPr lang="en-US" sz="1300" i="1" dirty="0">
                <a:solidFill>
                  <a:schemeClr val="accent3"/>
                </a:solidFill>
              </a:rPr>
              <a:t>Numbering follows the reference list in Review 2.</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DockFlow">
  <a:themeElements>
    <a:clrScheme name="DockFlow">
      <a:dk1>
        <a:srgbClr val="1B2A41"/>
      </a:dk1>
      <a:lt1>
        <a:srgbClr val="FFFFFF"/>
      </a:lt1>
      <a:dk2>
        <a:srgbClr val="3E5C76"/>
      </a:dk2>
      <a:lt2>
        <a:srgbClr val="F7F9FB"/>
      </a:lt2>
      <a:accent1>
        <a:srgbClr val="F2A541"/>
      </a:accent1>
      <a:accent2>
        <a:srgbClr val="3E5C76"/>
      </a:accent2>
      <a:accent3>
        <a:srgbClr val="5C6B7A"/>
      </a:accent3>
      <a:accent4>
        <a:srgbClr val="D8E1E9"/>
      </a:accent4>
      <a:accent5>
        <a:srgbClr val="9FB2C4"/>
      </a:accent5>
      <a:accent6>
        <a:srgbClr val="2E7D6B"/>
      </a:accent6>
      <a:hlink>
        <a:srgbClr val="3E5C76"/>
      </a:hlink>
      <a:folHlink>
        <a:srgbClr val="5C6B7A"/>
      </a:folHlink>
    </a:clrScheme>
    <a:fontScheme name="Dock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DockFlow - Review 3</dc:title>
  <dc:subject>PptxGenJS Presentation</dc:subject>
  <dc:creator>Team 14, Section 13</dc:creator>
  <cp:lastModifiedBy>Team 14, Section 13</cp:lastModifiedBy>
  <cp:revision>1</cp:revision>
  <dcterms:created xsi:type="dcterms:W3CDTF">2026-10-02T11:23:58Z</dcterms:created>
  <dcterms:modified xsi:type="dcterms:W3CDTF">2026-10-02T11:23:58Z</dcterms:modified>
</cp:coreProperties>
</file>