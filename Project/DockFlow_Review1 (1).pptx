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8e27800-0c24-6921-d73d-f6a83a676e8f}">
          <p14:sldIdLst>
            <p14:sldId id="256"/>
            <p14:sldId id="257"/>
          </p14:sldIdLst>
        </p14:section>
        <p14:section name="Criterion 1 - Clarity" id="{7fbfe681-941d-4119-ae5e-348fee8a2e36}">
          <p14:sldIdLst>
            <p14:sldId id="258"/>
            <p14:sldId id="259"/>
          </p14:sldIdLst>
        </p14:section>
        <p14:section name="Criterion 2 - Feasibility" id="{832a8c75-6bc4-e4c3-e11b-470d4b094cf5}">
          <p14:sldIdLst>
            <p14:sldId id="260"/>
            <p14:sldId id="261"/>
            <p14:sldId id="262"/>
          </p14:sldIdLst>
        </p14:section>
        <p14:section name="Criterion 3 - Societal Needs" id="{10c641cc-a74a-9732-1752-fa0e34928571}">
          <p14:sldIdLst>
            <p14:sldId id="263"/>
            <p14:sldId id="264"/>
          </p14:sldIdLst>
        </p14:section>
        <p14:section name="Criterion 4 - Novelty" id="{44392846-7d93-2912-ab00-843d6e0292a6}">
          <p14:sldIdLst>
            <p14:sldId id="265"/>
            <p14:sldId id="266"/>
          </p14:sldIdLst>
        </p14:section>
        <p14:section name="Criterion 5 - Presentation" id="{c4008e86-1bb7-9a9b-6c14-9be9d230a00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14. Our DBMS project is DockFlow, a website for managing a clothing warehouse and its deliveries. Our presentation follows the five review criteria: clarity of title, feasibility, societal needs, novelty and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our slides to your marking scheme. Each criterion is worth 10 marks and has its own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DockFlow is a clothing warehouse and delivery management system. 'Dock' is the warehouse side, 'Flow' is how stock, orders and deliveries move together. The problem: stock, orders and deliveries are usually in separate places, so errors and delays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 objectives are on the left. The panel on the right shows exactly what staff can do and what categories of clothes we manage.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use one website. Stock and order requests are handled by the stock and order service and stored in MySQL. Shipment events pass through Kafka to the delivery updates service, which stores flexible updates in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feasibility on four counts: technical, operational, economic and schedule. All four are feasible because the tools are open-source, the website is simple for staff, there are no paid integrations, and the core flow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the core flow works. Real courier GPS and payments are not connected. CI/CD and full C4 diagrams are future improvements. The table lists our main risks and how we handle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Clothing is a basic need for men, women and children. When warehouse records are wrong or deliveries are unclear, people receive the wrong items or wait too long. DockFlow helps staff, businesses, customers and delivery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DockFlow connects to three Sustainable Development Goals: 9 for innovation in infrastructure, 12 for responsible consumption and production, and 8 for decent work. The outcome is fewer errors and delays and clearer deliveries.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three approaches: manual records, a typical single-database system, and DockFlow. The difference is in the last column: tracking by size, color and location, flexible delivery updates, and events between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novelty is not one single feature. It is the way we combine tools: the right database for each job, events between services, and one place for stock, orders and deliveries. The strip at the bottom shows one delivery moving through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DockFlow has a clear title and objectives, it is feasible, it answers a real need, and it is novel in how it combines tools.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143000"/>
          </a:xfrm>
          <a:prstGeom prst="rect">
            <a:avLst/>
          </a:prstGeom>
          <a:noFill/>
          <a:ln/>
        </p:spPr>
        <p:txBody>
          <a:bodyPr wrap="square" rtlCol="0"/>
          <a:lstStyle>
            <a:lvl1pPr algn="l" indent="0" marL="0">
              <a:buNone/>
              <a:defRPr lang="en-US" sz="6200" b="1" dirty="0">
                <a:solidFill>
                  <a:schemeClr val="bg1"/>
                </a:solidFill>
              </a:defRPr>
            </a:lvl1pPr>
          </a:lstStyle>
          <a:p>
            <a:pPr algn="l" indent="0" marL="0">
              <a:buNone/>
            </a:pPr>
            <a:endParaRPr lang="en-US" sz="6200" dirty="0"/>
          </a:p>
        </p:txBody>
      </p:sp>
      <p:sp>
        <p:nvSpPr>
          <p:cNvPr id="3" name="Text 0"/>
          <p:cNvSpPr/>
          <p:nvPr>
            <p:ph idx="101" type="body" hasCustomPrompt="1"/>
          </p:nvPr>
        </p:nvSpPr>
        <p:spPr>
          <a:xfrm>
            <a:off x="731520" y="3017520"/>
            <a:ext cx="6583680" cy="82296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943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DockFlow  |  Sec-13, Team-14  |  Database Systems Engineering  |  Review 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9436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DockFlow  |  Sec-13, Team-14  |  Database Systems Engineering  |  Review 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4.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80160"/>
            <a:ext cx="6858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DATABASE SYSTEMS ENGINEERING  |  REVIEW 1</a:t>
            </a:r>
            <a:endParaRPr lang="en-US" sz="1200" dirty="0"/>
          </a:p>
        </p:txBody>
      </p:sp>
      <p:sp>
        <p:nvSpPr>
          <p:cNvPr id="3" name="Text 0"/>
          <p:cNvSpPr/>
          <p:nvPr>
            <p:ph idx="100" type="title" hasCustomPrompt="1"/>
          </p:nvPr>
        </p:nvSpPr>
        <p:spPr>
          <a:xfrm>
            <a:off x="731520" y="1828800"/>
            <a:ext cx="6583680" cy="1143000"/>
          </a:xfrm>
          <a:prstGeom prst="rect">
            <a:avLst/>
          </a:prstGeom>
          <a:noFill/>
          <a:ln/>
        </p:spPr>
        <p:txBody>
          <a:bodyPr wrap="square" lIns="0" tIns="0" rIns="0" bIns="0" rtlCol="0" anchor="ctr"/>
          <a:lstStyle/>
          <a:p>
            <a:pPr algn="l" indent="0" marL="0">
              <a:buNone/>
            </a:pPr>
            <a:r>
              <a:rPr lang="en-US" sz="6200" b="1" dirty="0">
                <a:solidFill>
                  <a:schemeClr val="bg1"/>
                </a:solidFill>
              </a:rPr>
              <a:t>DockFlow</a:t>
            </a:r>
            <a:endParaRPr lang="en-US" sz="6200" dirty="0"/>
          </a:p>
        </p:txBody>
      </p:sp>
      <p:sp>
        <p:nvSpPr>
          <p:cNvPr id="4" name="Text 0"/>
          <p:cNvSpPr/>
          <p:nvPr>
            <p:ph idx="101" type="body" hasCustomPrompt="1"/>
          </p:nvPr>
        </p:nvSpPr>
        <p:spPr>
          <a:xfrm>
            <a:off x="731520" y="3017520"/>
            <a:ext cx="6583680" cy="822960"/>
          </a:xfrm>
          <a:prstGeom prst="rect">
            <a:avLst/>
          </a:prstGeom>
          <a:noFill/>
          <a:ln/>
        </p:spPr>
        <p:txBody>
          <a:bodyPr wrap="square" lIns="0" tIns="0" rIns="0" bIns="0" rtlCol="0" anchor="t"/>
          <a:lstStyle/>
          <a:p>
            <a:pPr algn="l" indent="0" marL="0">
              <a:buNone/>
            </a:pPr>
            <a:r>
              <a:rPr lang="en-US" sz="2200" dirty="0">
                <a:solidFill>
                  <a:schemeClr val="accent4"/>
                </a:solidFill>
              </a:rPr>
              <a:t>Clothing Warehouse &amp; Delivery Management System</a:t>
            </a:r>
            <a:endParaRPr lang="en-US" sz="2200" dirty="0"/>
          </a:p>
        </p:txBody>
      </p:sp>
      <p:sp>
        <p:nvSpPr>
          <p:cNvPr id="5" name="Text 3"/>
          <p:cNvSpPr txBox="1"/>
          <p:nvPr/>
        </p:nvSpPr>
        <p:spPr>
          <a:xfrm>
            <a:off x="731520" y="3886200"/>
            <a:ext cx="6400800" cy="365760"/>
          </a:xfrm>
          <a:prstGeom prst="rect">
            <a:avLst/>
          </a:prstGeom>
          <a:noFill/>
          <a:ln/>
        </p:spPr>
        <p:txBody>
          <a:bodyPr wrap="square" lIns="0" tIns="0" rIns="0" bIns="0" rtlCol="0" anchor="ctr"/>
          <a:lstStyle/>
          <a:p>
            <a:pPr indent="0" marL="0">
              <a:buNone/>
            </a:pPr>
            <a:r>
              <a:rPr lang="en-US" sz="1500" i="1" dirty="0">
                <a:solidFill>
                  <a:schemeClr val="accent5"/>
                </a:solidFill>
              </a:rPr>
              <a:t>A website that brings stock, orders and delivery updates together.</a:t>
            </a:r>
            <a:endParaRPr lang="en-US" sz="1500" dirty="0"/>
          </a:p>
        </p:txBody>
      </p:sp>
      <p:sp>
        <p:nvSpPr>
          <p:cNvPr id="6" name="Text 4"/>
          <p:cNvSpPr txBox="1"/>
          <p:nvPr/>
        </p:nvSpPr>
        <p:spPr>
          <a:xfrm>
            <a:off x="731520" y="4846320"/>
            <a:ext cx="6858000" cy="1005840"/>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Sec No-13  |  Team No-14</a:t>
            </a:r>
            <a:endParaRPr lang="en-US" sz="1500" dirty="0"/>
          </a:p>
          <a:p>
            <a:pPr indent="0" marL="0">
              <a:spcAft>
                <a:spcPts val="400"/>
              </a:spcAft>
              <a:buNone/>
            </a:pPr>
            <a:r>
              <a:rPr lang="en-US" sz="1400" dirty="0">
                <a:solidFill>
                  <a:schemeClr val="accent4"/>
                </a:solidFill>
              </a:rPr>
              <a:t>U. Sindhuja  •  P. Bhagya Sri  •  S. Rishitha Reddy</a:t>
            </a:r>
            <a:endParaRPr lang="en-US" sz="1500" dirty="0"/>
          </a:p>
          <a:p>
            <a:pPr indent="0" marL="0">
              <a:spcAft>
                <a:spcPts val="400"/>
              </a:spcAft>
              <a:buNone/>
            </a:pPr>
            <a:r>
              <a:rPr lang="en-US" sz="1200" dirty="0">
                <a:solidFill>
                  <a:schemeClr val="accent5"/>
                </a:solidFill>
              </a:rPr>
              <a:t>Guided by Dr. M. Gayatri  |  Koneru Lakshmaiah Education Foundation</a:t>
            </a:r>
            <a:endParaRPr lang="en-US" sz="1500" dirty="0"/>
          </a:p>
        </p:txBody>
      </p:sp>
      <p:sp>
        <p:nvSpPr>
          <p:cNvPr id="7" name="Tile 1"/>
          <p:cNvSpPr/>
          <p:nvPr/>
        </p:nvSpPr>
        <p:spPr>
          <a:xfrm>
            <a:off x="8138160" y="1371600"/>
            <a:ext cx="1371600" cy="1371600"/>
          </a:xfrm>
          <a:prstGeom prst="roundRect">
            <a:avLst>
              <a:gd name="adj" fmla="val 6667"/>
            </a:avLst>
          </a:prstGeom>
          <a:solidFill>
            <a:schemeClr val="tx2"/>
          </a:solidFill>
          <a:ln w="12700">
            <a:solidFill>
              <a:schemeClr val="tx2"/>
            </a:solidFill>
            <a:prstDash val="solid"/>
          </a:ln>
        </p:spPr>
      </p:sp>
      <p:pic>
        <p:nvPicPr>
          <p:cNvPr id="8" name="Image 0" descr="FaWarehouse">    </p:cNvPr>
          <p:cNvPicPr>
            <a:picLocks noChangeAspect="1"/>
          </p:cNvPicPr>
          <p:nvPr/>
        </p:nvPicPr>
        <p:blipFill>
          <a:blip r:embed="rId1"/>
          <a:stretch>
            <a:fillRect/>
          </a:stretch>
        </p:blipFill>
        <p:spPr>
          <a:xfrm>
            <a:off x="8549640" y="1783080"/>
            <a:ext cx="548640" cy="548640"/>
          </a:xfrm>
          <a:prstGeom prst="rect">
            <a:avLst/>
          </a:prstGeom>
        </p:spPr>
      </p:pic>
      <p:sp>
        <p:nvSpPr>
          <p:cNvPr id="9" name="Tile 2"/>
          <p:cNvSpPr/>
          <p:nvPr/>
        </p:nvSpPr>
        <p:spPr>
          <a:xfrm>
            <a:off x="9738360" y="1371600"/>
            <a:ext cx="1371600" cy="1371600"/>
          </a:xfrm>
          <a:prstGeom prst="roundRect">
            <a:avLst>
              <a:gd name="adj" fmla="val 6667"/>
            </a:avLst>
          </a:prstGeom>
          <a:solidFill>
            <a:schemeClr val="tx2"/>
          </a:solidFill>
          <a:ln w="12700">
            <a:solidFill>
              <a:schemeClr val="tx2"/>
            </a:solidFill>
            <a:prstDash val="solid"/>
          </a:ln>
        </p:spPr>
      </p:sp>
      <p:pic>
        <p:nvPicPr>
          <p:cNvPr id="10" name="Image 1" descr="FaTshirt">    </p:cNvPr>
          <p:cNvPicPr>
            <a:picLocks noChangeAspect="1"/>
          </p:cNvPicPr>
          <p:nvPr/>
        </p:nvPicPr>
        <p:blipFill>
          <a:blip r:embed="rId2"/>
          <a:stretch>
            <a:fillRect/>
          </a:stretch>
        </p:blipFill>
        <p:spPr>
          <a:xfrm>
            <a:off x="10149840" y="1783080"/>
            <a:ext cx="548640" cy="548640"/>
          </a:xfrm>
          <a:prstGeom prst="rect">
            <a:avLst/>
          </a:prstGeom>
        </p:spPr>
      </p:pic>
      <p:sp>
        <p:nvSpPr>
          <p:cNvPr id="11" name="Tile 3"/>
          <p:cNvSpPr/>
          <p:nvPr/>
        </p:nvSpPr>
        <p:spPr>
          <a:xfrm>
            <a:off x="8138160" y="2971800"/>
            <a:ext cx="1371600" cy="1371600"/>
          </a:xfrm>
          <a:prstGeom prst="roundRect">
            <a:avLst>
              <a:gd name="adj" fmla="val 6667"/>
            </a:avLst>
          </a:prstGeom>
          <a:solidFill>
            <a:schemeClr val="tx2"/>
          </a:solidFill>
          <a:ln w="12700">
            <a:solidFill>
              <a:schemeClr val="tx2"/>
            </a:solidFill>
            <a:prstDash val="solid"/>
          </a:ln>
        </p:spPr>
      </p:sp>
      <p:pic>
        <p:nvPicPr>
          <p:cNvPr id="12" name="Image 2" descr="FaClipboardList">    </p:cNvPr>
          <p:cNvPicPr>
            <a:picLocks noChangeAspect="1"/>
          </p:cNvPicPr>
          <p:nvPr/>
        </p:nvPicPr>
        <p:blipFill>
          <a:blip r:embed="rId3"/>
          <a:stretch>
            <a:fillRect/>
          </a:stretch>
        </p:blipFill>
        <p:spPr>
          <a:xfrm>
            <a:off x="8549640" y="3383280"/>
            <a:ext cx="548640" cy="548640"/>
          </a:xfrm>
          <a:prstGeom prst="rect">
            <a:avLst/>
          </a:prstGeom>
        </p:spPr>
      </p:pic>
      <p:sp>
        <p:nvSpPr>
          <p:cNvPr id="13" name="Tile 4"/>
          <p:cNvSpPr/>
          <p:nvPr/>
        </p:nvSpPr>
        <p:spPr>
          <a:xfrm>
            <a:off x="9738360" y="2971800"/>
            <a:ext cx="1371600" cy="1371600"/>
          </a:xfrm>
          <a:prstGeom prst="roundRect">
            <a:avLst>
              <a:gd name="adj" fmla="val 6667"/>
            </a:avLst>
          </a:prstGeom>
          <a:solidFill>
            <a:schemeClr val="tx2"/>
          </a:solidFill>
          <a:ln w="12700">
            <a:solidFill>
              <a:schemeClr val="tx2"/>
            </a:solidFill>
            <a:prstDash val="solid"/>
          </a:ln>
        </p:spPr>
      </p:sp>
      <p:pic>
        <p:nvPicPr>
          <p:cNvPr id="14" name="Image 3" descr="FaTruck">    </p:cNvPr>
          <p:cNvPicPr>
            <a:picLocks noChangeAspect="1"/>
          </p:cNvPicPr>
          <p:nvPr/>
        </p:nvPicPr>
        <p:blipFill>
          <a:blip r:embed="rId4"/>
          <a:stretch>
            <a:fillRect/>
          </a:stretch>
        </p:blipFill>
        <p:spPr>
          <a:xfrm>
            <a:off x="10149840" y="3383280"/>
            <a:ext cx="548640" cy="548640"/>
          </a:xfrm>
          <a:prstGeom prst="rect">
            <a:avLst/>
          </a:prstGeom>
        </p:spPr>
      </p:pic>
      <p:sp>
        <p:nvSpPr>
          <p:cNvPr id="15" name="Tile 5"/>
          <p:cNvSpPr/>
          <p:nvPr/>
        </p:nvSpPr>
        <p:spPr>
          <a:xfrm>
            <a:off x="8138160" y="4572000"/>
            <a:ext cx="1371600" cy="1371600"/>
          </a:xfrm>
          <a:prstGeom prst="roundRect">
            <a:avLst>
              <a:gd name="adj" fmla="val 6667"/>
            </a:avLst>
          </a:prstGeom>
          <a:solidFill>
            <a:schemeClr val="tx2"/>
          </a:solidFill>
          <a:ln w="12700">
            <a:solidFill>
              <a:schemeClr val="tx2"/>
            </a:solidFill>
            <a:prstDash val="solid"/>
          </a:ln>
        </p:spPr>
      </p:sp>
      <p:pic>
        <p:nvPicPr>
          <p:cNvPr id="16" name="Image 4" descr="FaDatabase">    </p:cNvPr>
          <p:cNvPicPr>
            <a:picLocks noChangeAspect="1"/>
          </p:cNvPicPr>
          <p:nvPr/>
        </p:nvPicPr>
        <p:blipFill>
          <a:blip r:embed="rId5"/>
          <a:stretch>
            <a:fillRect/>
          </a:stretch>
        </p:blipFill>
        <p:spPr>
          <a:xfrm>
            <a:off x="8549640" y="4983480"/>
            <a:ext cx="548640" cy="548640"/>
          </a:xfrm>
          <a:prstGeom prst="rect">
            <a:avLst/>
          </a:prstGeom>
        </p:spPr>
      </p:pic>
      <p:sp>
        <p:nvSpPr>
          <p:cNvPr id="17" name="Tile 6"/>
          <p:cNvSpPr/>
          <p:nvPr/>
        </p:nvSpPr>
        <p:spPr>
          <a:xfrm>
            <a:off x="9738360" y="4572000"/>
            <a:ext cx="1371600" cy="1371600"/>
          </a:xfrm>
          <a:prstGeom prst="roundRect">
            <a:avLst>
              <a:gd name="adj" fmla="val 6667"/>
            </a:avLst>
          </a:prstGeom>
          <a:solidFill>
            <a:schemeClr val="tx2"/>
          </a:solidFill>
          <a:ln w="12700">
            <a:solidFill>
              <a:schemeClr val="tx2"/>
            </a:solidFill>
            <a:prstDash val="solid"/>
          </a:ln>
        </p:spPr>
      </p:sp>
      <p:pic>
        <p:nvPicPr>
          <p:cNvPr id="18" name="Image 5" descr="FaUserShield">    </p:cNvPr>
          <p:cNvPicPr>
            <a:picLocks noChangeAspect="1"/>
          </p:cNvPicPr>
          <p:nvPr/>
        </p:nvPicPr>
        <p:blipFill>
          <a:blip r:embed="rId6"/>
          <a:stretch>
            <a:fillRect/>
          </a:stretch>
        </p:blipFill>
        <p:spPr>
          <a:xfrm>
            <a:off x="10149840" y="498348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REVIEW 1  ·  PRESENTATION ROADMAP</a:t>
            </a:r>
            <a:endParaRPr lang="en-US" sz="1100" dirty="0"/>
          </a:p>
        </p:txBody>
      </p:sp>
      <p:sp>
        <p:nvSpPr>
          <p:cNvPr id="3"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this review covers every criterion</a:t>
            </a:r>
            <a:endParaRPr lang="en-US" sz="3200" dirty="0"/>
          </a:p>
        </p:txBody>
      </p:sp>
      <p:sp>
        <p:nvSpPr>
          <p:cNvPr id="4" name="Criterion 1"/>
          <p:cNvSpPr/>
          <p:nvPr/>
        </p:nvSpPr>
        <p:spPr>
          <a:xfrm>
            <a:off x="54864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5" name="Clarity of Project Title circle"/>
          <p:cNvSpPr/>
          <p:nvPr/>
        </p:nvSpPr>
        <p:spPr>
          <a:xfrm>
            <a:off x="1188720" y="1828800"/>
            <a:ext cx="777240" cy="777240"/>
          </a:xfrm>
          <a:prstGeom prst="ellipse">
            <a:avLst/>
          </a:prstGeom>
          <a:solidFill>
            <a:schemeClr val="tx1"/>
          </a:solidFill>
          <a:ln w="12700">
            <a:solidFill>
              <a:schemeClr val="tx1"/>
            </a:solidFill>
            <a:prstDash val="solid"/>
          </a:ln>
        </p:spPr>
      </p:sp>
      <p:pic>
        <p:nvPicPr>
          <p:cNvPr id="6" name="Image 0" descr="Clarity of Project Title icon">    </p:cNvPr>
          <p:cNvPicPr>
            <a:picLocks noChangeAspect="1"/>
          </p:cNvPicPr>
          <p:nvPr/>
        </p:nvPicPr>
        <p:blipFill>
          <a:blip r:embed="rId1"/>
          <a:stretch>
            <a:fillRect/>
          </a:stretch>
        </p:blipFill>
        <p:spPr>
          <a:xfrm>
            <a:off x="1359713" y="1999793"/>
            <a:ext cx="435254" cy="435254"/>
          </a:xfrm>
          <a:prstGeom prst="rect">
            <a:avLst/>
          </a:prstGeom>
        </p:spPr>
      </p:pic>
      <p:sp>
        <p:nvSpPr>
          <p:cNvPr id="7" name="Text 4"/>
          <p:cNvSpPr txBox="1"/>
          <p:nvPr/>
        </p:nvSpPr>
        <p:spPr>
          <a:xfrm>
            <a:off x="731520" y="2743200"/>
            <a:ext cx="1691640" cy="777240"/>
          </a:xfrm>
          <a:prstGeom prst="rect">
            <a:avLst/>
          </a:prstGeom>
          <a:noFill/>
          <a:ln/>
        </p:spPr>
        <p:txBody>
          <a:bodyPr wrap="square" lIns="0" tIns="0" rIns="0" bIns="0" rtlCol="0" anchor="t"/>
          <a:lstStyle/>
          <a:p>
            <a:pPr algn="ctr" indent="0" marL="0">
              <a:buNone/>
            </a:pPr>
            <a:r>
              <a:rPr lang="en-US" sz="1600" b="1" dirty="0">
                <a:solidFill>
                  <a:schemeClr val="tx1"/>
                </a:solidFill>
              </a:rPr>
              <a:t>Clarity of Project Title</a:t>
            </a:r>
            <a:endParaRPr lang="en-US" sz="1600" dirty="0"/>
          </a:p>
        </p:txBody>
      </p:sp>
      <p:sp>
        <p:nvSpPr>
          <p:cNvPr id="8" name="Text 5"/>
          <p:cNvSpPr txBox="1"/>
          <p:nvPr/>
        </p:nvSpPr>
        <p:spPr>
          <a:xfrm>
            <a:off x="731520" y="347472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9" name="Text 6"/>
          <p:cNvSpPr txBox="1"/>
          <p:nvPr/>
        </p:nvSpPr>
        <p:spPr>
          <a:xfrm>
            <a:off x="731520" y="402336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10" name="Text 7"/>
          <p:cNvSpPr txBox="1"/>
          <p:nvPr/>
        </p:nvSpPr>
        <p:spPr>
          <a:xfrm>
            <a:off x="73152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3-4</a:t>
            </a:r>
            <a:endParaRPr lang="en-US" sz="1300" dirty="0"/>
          </a:p>
        </p:txBody>
      </p:sp>
      <p:sp>
        <p:nvSpPr>
          <p:cNvPr id="11" name="Text 8"/>
          <p:cNvSpPr txBox="1"/>
          <p:nvPr/>
        </p:nvSpPr>
        <p:spPr>
          <a:xfrm>
            <a:off x="73152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What DockFlow is, the problem and objectives</a:t>
            </a:r>
            <a:endParaRPr lang="en-US" sz="1100" dirty="0"/>
          </a:p>
        </p:txBody>
      </p:sp>
      <p:sp>
        <p:nvSpPr>
          <p:cNvPr id="12" name="Criterion 2"/>
          <p:cNvSpPr/>
          <p:nvPr/>
        </p:nvSpPr>
        <p:spPr>
          <a:xfrm>
            <a:off x="278892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3" name="Project Feasibility Analysis circle"/>
          <p:cNvSpPr/>
          <p:nvPr/>
        </p:nvSpPr>
        <p:spPr>
          <a:xfrm>
            <a:off x="3429000" y="1828800"/>
            <a:ext cx="777240" cy="777240"/>
          </a:xfrm>
          <a:prstGeom prst="ellipse">
            <a:avLst/>
          </a:prstGeom>
          <a:solidFill>
            <a:schemeClr val="tx1"/>
          </a:solidFill>
          <a:ln w="12700">
            <a:solidFill>
              <a:schemeClr val="tx1"/>
            </a:solidFill>
            <a:prstDash val="solid"/>
          </a:ln>
        </p:spPr>
      </p:sp>
      <p:pic>
        <p:nvPicPr>
          <p:cNvPr id="14" name="Image 1" descr="Project Feasibility Analysis icon">    </p:cNvPr>
          <p:cNvPicPr>
            <a:picLocks noChangeAspect="1"/>
          </p:cNvPicPr>
          <p:nvPr/>
        </p:nvPicPr>
        <p:blipFill>
          <a:blip r:embed="rId2"/>
          <a:stretch>
            <a:fillRect/>
          </a:stretch>
        </p:blipFill>
        <p:spPr>
          <a:xfrm>
            <a:off x="3599993" y="1999793"/>
            <a:ext cx="435254" cy="435254"/>
          </a:xfrm>
          <a:prstGeom prst="rect">
            <a:avLst/>
          </a:prstGeom>
        </p:spPr>
      </p:pic>
      <p:sp>
        <p:nvSpPr>
          <p:cNvPr id="15" name="Text 11"/>
          <p:cNvSpPr txBox="1"/>
          <p:nvPr/>
        </p:nvSpPr>
        <p:spPr>
          <a:xfrm>
            <a:off x="2971800" y="2743200"/>
            <a:ext cx="1691640" cy="777240"/>
          </a:xfrm>
          <a:prstGeom prst="rect">
            <a:avLst/>
          </a:prstGeom>
          <a:noFill/>
          <a:ln/>
        </p:spPr>
        <p:txBody>
          <a:bodyPr wrap="square" lIns="0" tIns="0" rIns="0" bIns="0" rtlCol="0" anchor="t"/>
          <a:lstStyle/>
          <a:p>
            <a:pPr algn="ctr" indent="0" marL="0">
              <a:buNone/>
            </a:pPr>
            <a:r>
              <a:rPr lang="en-US" sz="1600" b="1" dirty="0">
                <a:solidFill>
                  <a:schemeClr val="tx1"/>
                </a:solidFill>
              </a:rPr>
              <a:t>Project Feasibility Analysis</a:t>
            </a:r>
            <a:endParaRPr lang="en-US" sz="1600" dirty="0"/>
          </a:p>
        </p:txBody>
      </p:sp>
      <p:sp>
        <p:nvSpPr>
          <p:cNvPr id="16" name="Text 12"/>
          <p:cNvSpPr txBox="1"/>
          <p:nvPr/>
        </p:nvSpPr>
        <p:spPr>
          <a:xfrm>
            <a:off x="2971800" y="347472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7" name="Text 13"/>
          <p:cNvSpPr txBox="1"/>
          <p:nvPr/>
        </p:nvSpPr>
        <p:spPr>
          <a:xfrm>
            <a:off x="2971800" y="402336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18" name="Text 14"/>
          <p:cNvSpPr txBox="1"/>
          <p:nvPr/>
        </p:nvSpPr>
        <p:spPr>
          <a:xfrm>
            <a:off x="297180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5-7</a:t>
            </a:r>
            <a:endParaRPr lang="en-US" sz="1300" dirty="0"/>
          </a:p>
        </p:txBody>
      </p:sp>
      <p:sp>
        <p:nvSpPr>
          <p:cNvPr id="19" name="Text 15"/>
          <p:cNvSpPr txBox="1"/>
          <p:nvPr/>
        </p:nvSpPr>
        <p:spPr>
          <a:xfrm>
            <a:off x="297180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Architecture, feasibility, status and risks</a:t>
            </a:r>
            <a:endParaRPr lang="en-US" sz="1100" dirty="0"/>
          </a:p>
        </p:txBody>
      </p:sp>
      <p:sp>
        <p:nvSpPr>
          <p:cNvPr id="20" name="Criterion 3"/>
          <p:cNvSpPr/>
          <p:nvPr/>
        </p:nvSpPr>
        <p:spPr>
          <a:xfrm>
            <a:off x="502920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1" name="Oriented with Societal Needs circle"/>
          <p:cNvSpPr/>
          <p:nvPr/>
        </p:nvSpPr>
        <p:spPr>
          <a:xfrm>
            <a:off x="5669280" y="1828800"/>
            <a:ext cx="777240" cy="777240"/>
          </a:xfrm>
          <a:prstGeom prst="ellipse">
            <a:avLst/>
          </a:prstGeom>
          <a:solidFill>
            <a:schemeClr val="tx1"/>
          </a:solidFill>
          <a:ln w="12700">
            <a:solidFill>
              <a:schemeClr val="tx1"/>
            </a:solidFill>
            <a:prstDash val="solid"/>
          </a:ln>
        </p:spPr>
      </p:sp>
      <p:pic>
        <p:nvPicPr>
          <p:cNvPr id="22" name="Image 2" descr="Oriented with Societal Needs icon">    </p:cNvPr>
          <p:cNvPicPr>
            <a:picLocks noChangeAspect="1"/>
          </p:cNvPicPr>
          <p:nvPr/>
        </p:nvPicPr>
        <p:blipFill>
          <a:blip r:embed="rId3"/>
          <a:stretch>
            <a:fillRect/>
          </a:stretch>
        </p:blipFill>
        <p:spPr>
          <a:xfrm>
            <a:off x="5840273" y="1999793"/>
            <a:ext cx="435254" cy="435254"/>
          </a:xfrm>
          <a:prstGeom prst="rect">
            <a:avLst/>
          </a:prstGeom>
        </p:spPr>
      </p:pic>
      <p:sp>
        <p:nvSpPr>
          <p:cNvPr id="23" name="Text 18"/>
          <p:cNvSpPr txBox="1"/>
          <p:nvPr/>
        </p:nvSpPr>
        <p:spPr>
          <a:xfrm>
            <a:off x="5212080" y="2743200"/>
            <a:ext cx="1691640" cy="777240"/>
          </a:xfrm>
          <a:prstGeom prst="rect">
            <a:avLst/>
          </a:prstGeom>
          <a:noFill/>
          <a:ln/>
        </p:spPr>
        <p:txBody>
          <a:bodyPr wrap="square" lIns="0" tIns="0" rIns="0" bIns="0" rtlCol="0" anchor="t"/>
          <a:lstStyle/>
          <a:p>
            <a:pPr algn="ctr" indent="0" marL="0">
              <a:buNone/>
            </a:pPr>
            <a:r>
              <a:rPr lang="en-US" sz="1600" b="1" dirty="0">
                <a:solidFill>
                  <a:schemeClr val="tx1"/>
                </a:solidFill>
              </a:rPr>
              <a:t>Oriented with Societal Needs</a:t>
            </a:r>
            <a:endParaRPr lang="en-US" sz="1600" dirty="0"/>
          </a:p>
        </p:txBody>
      </p:sp>
      <p:sp>
        <p:nvSpPr>
          <p:cNvPr id="24" name="Text 19"/>
          <p:cNvSpPr txBox="1"/>
          <p:nvPr/>
        </p:nvSpPr>
        <p:spPr>
          <a:xfrm>
            <a:off x="5212080" y="347472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25" name="Text 20"/>
          <p:cNvSpPr txBox="1"/>
          <p:nvPr/>
        </p:nvSpPr>
        <p:spPr>
          <a:xfrm>
            <a:off x="5212080" y="402336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26" name="Text 21"/>
          <p:cNvSpPr txBox="1"/>
          <p:nvPr/>
        </p:nvSpPr>
        <p:spPr>
          <a:xfrm>
            <a:off x="521208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8-9</a:t>
            </a:r>
            <a:endParaRPr lang="en-US" sz="1300" dirty="0"/>
          </a:p>
        </p:txBody>
      </p:sp>
      <p:sp>
        <p:nvSpPr>
          <p:cNvPr id="27" name="Text 22"/>
          <p:cNvSpPr txBox="1"/>
          <p:nvPr/>
        </p:nvSpPr>
        <p:spPr>
          <a:xfrm>
            <a:off x="521208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Who needs it, impact and SDG alignment</a:t>
            </a:r>
            <a:endParaRPr lang="en-US" sz="1100" dirty="0"/>
          </a:p>
        </p:txBody>
      </p:sp>
      <p:sp>
        <p:nvSpPr>
          <p:cNvPr id="28" name="Criterion 4"/>
          <p:cNvSpPr/>
          <p:nvPr/>
        </p:nvSpPr>
        <p:spPr>
          <a:xfrm>
            <a:off x="726948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9" name="Novelty of the Project Title circle"/>
          <p:cNvSpPr/>
          <p:nvPr/>
        </p:nvSpPr>
        <p:spPr>
          <a:xfrm>
            <a:off x="7909560" y="1828800"/>
            <a:ext cx="777240" cy="777240"/>
          </a:xfrm>
          <a:prstGeom prst="ellipse">
            <a:avLst/>
          </a:prstGeom>
          <a:solidFill>
            <a:schemeClr val="tx1"/>
          </a:solidFill>
          <a:ln w="12700">
            <a:solidFill>
              <a:schemeClr val="tx1"/>
            </a:solidFill>
            <a:prstDash val="solid"/>
          </a:ln>
        </p:spPr>
      </p:sp>
      <p:pic>
        <p:nvPicPr>
          <p:cNvPr id="30" name="Image 3" descr="Novelty of the Project Title icon">    </p:cNvPr>
          <p:cNvPicPr>
            <a:picLocks noChangeAspect="1"/>
          </p:cNvPicPr>
          <p:nvPr/>
        </p:nvPicPr>
        <p:blipFill>
          <a:blip r:embed="rId4"/>
          <a:stretch>
            <a:fillRect/>
          </a:stretch>
        </p:blipFill>
        <p:spPr>
          <a:xfrm>
            <a:off x="8080553" y="1999793"/>
            <a:ext cx="435254" cy="435254"/>
          </a:xfrm>
          <a:prstGeom prst="rect">
            <a:avLst/>
          </a:prstGeom>
        </p:spPr>
      </p:pic>
      <p:sp>
        <p:nvSpPr>
          <p:cNvPr id="31" name="Text 25"/>
          <p:cNvSpPr txBox="1"/>
          <p:nvPr/>
        </p:nvSpPr>
        <p:spPr>
          <a:xfrm>
            <a:off x="7452360" y="2743200"/>
            <a:ext cx="1691640" cy="777240"/>
          </a:xfrm>
          <a:prstGeom prst="rect">
            <a:avLst/>
          </a:prstGeom>
          <a:noFill/>
          <a:ln/>
        </p:spPr>
        <p:txBody>
          <a:bodyPr wrap="square" lIns="0" tIns="0" rIns="0" bIns="0" rtlCol="0" anchor="t"/>
          <a:lstStyle/>
          <a:p>
            <a:pPr algn="ctr" indent="0" marL="0">
              <a:buNone/>
            </a:pPr>
            <a:r>
              <a:rPr lang="en-US" sz="1600" b="1" dirty="0">
                <a:solidFill>
                  <a:schemeClr val="tx1"/>
                </a:solidFill>
              </a:rPr>
              <a:t>Novelty of the Project Title</a:t>
            </a:r>
            <a:endParaRPr lang="en-US" sz="1600" dirty="0"/>
          </a:p>
        </p:txBody>
      </p:sp>
      <p:sp>
        <p:nvSpPr>
          <p:cNvPr id="32" name="Text 26"/>
          <p:cNvSpPr txBox="1"/>
          <p:nvPr/>
        </p:nvSpPr>
        <p:spPr>
          <a:xfrm>
            <a:off x="7452360" y="347472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33" name="Text 27"/>
          <p:cNvSpPr txBox="1"/>
          <p:nvPr/>
        </p:nvSpPr>
        <p:spPr>
          <a:xfrm>
            <a:off x="7452360" y="402336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34" name="Text 28"/>
          <p:cNvSpPr txBox="1"/>
          <p:nvPr/>
        </p:nvSpPr>
        <p:spPr>
          <a:xfrm>
            <a:off x="745236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10-11</a:t>
            </a:r>
            <a:endParaRPr lang="en-US" sz="1300" dirty="0"/>
          </a:p>
        </p:txBody>
      </p:sp>
      <p:sp>
        <p:nvSpPr>
          <p:cNvPr id="35" name="Text 29"/>
          <p:cNvSpPr txBox="1"/>
          <p:nvPr/>
        </p:nvSpPr>
        <p:spPr>
          <a:xfrm>
            <a:off x="745236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Compared with existing approaches</a:t>
            </a:r>
            <a:endParaRPr lang="en-US" sz="1100" dirty="0"/>
          </a:p>
        </p:txBody>
      </p:sp>
      <p:sp>
        <p:nvSpPr>
          <p:cNvPr id="36" name="Criterion 5"/>
          <p:cNvSpPr/>
          <p:nvPr/>
        </p:nvSpPr>
        <p:spPr>
          <a:xfrm>
            <a:off x="950976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7" name="Presentation Skills circle"/>
          <p:cNvSpPr/>
          <p:nvPr/>
        </p:nvSpPr>
        <p:spPr>
          <a:xfrm>
            <a:off x="10149840" y="1828800"/>
            <a:ext cx="777240" cy="777240"/>
          </a:xfrm>
          <a:prstGeom prst="ellipse">
            <a:avLst/>
          </a:prstGeom>
          <a:solidFill>
            <a:schemeClr val="tx1"/>
          </a:solidFill>
          <a:ln w="12700">
            <a:solidFill>
              <a:schemeClr val="tx1"/>
            </a:solidFill>
            <a:prstDash val="solid"/>
          </a:ln>
        </p:spPr>
      </p:sp>
      <p:pic>
        <p:nvPicPr>
          <p:cNvPr id="38" name="Image 4" descr="Presentation Skills icon">    </p:cNvPr>
          <p:cNvPicPr>
            <a:picLocks noChangeAspect="1"/>
          </p:cNvPicPr>
          <p:nvPr/>
        </p:nvPicPr>
        <p:blipFill>
          <a:blip r:embed="rId5"/>
          <a:stretch>
            <a:fillRect/>
          </a:stretch>
        </p:blipFill>
        <p:spPr>
          <a:xfrm>
            <a:off x="10320833" y="1999793"/>
            <a:ext cx="435254" cy="435254"/>
          </a:xfrm>
          <a:prstGeom prst="rect">
            <a:avLst/>
          </a:prstGeom>
        </p:spPr>
      </p:pic>
      <p:sp>
        <p:nvSpPr>
          <p:cNvPr id="39" name="Text 32"/>
          <p:cNvSpPr txBox="1"/>
          <p:nvPr/>
        </p:nvSpPr>
        <p:spPr>
          <a:xfrm>
            <a:off x="9692640" y="2743200"/>
            <a:ext cx="1691640" cy="777240"/>
          </a:xfrm>
          <a:prstGeom prst="rect">
            <a:avLst/>
          </a:prstGeom>
          <a:noFill/>
          <a:ln/>
        </p:spPr>
        <p:txBody>
          <a:bodyPr wrap="square" lIns="0" tIns="0" rIns="0" bIns="0" rtlCol="0" anchor="t"/>
          <a:lstStyle/>
          <a:p>
            <a:pPr algn="ctr" indent="0" marL="0">
              <a:buNone/>
            </a:pPr>
            <a:r>
              <a:rPr lang="en-US" sz="1600" b="1" dirty="0">
                <a:solidFill>
                  <a:schemeClr val="tx1"/>
                </a:solidFill>
              </a:rPr>
              <a:t>Presentation Skills</a:t>
            </a:r>
            <a:endParaRPr lang="en-US" sz="1600" dirty="0"/>
          </a:p>
        </p:txBody>
      </p:sp>
      <p:sp>
        <p:nvSpPr>
          <p:cNvPr id="40" name="Text 33"/>
          <p:cNvSpPr txBox="1"/>
          <p:nvPr/>
        </p:nvSpPr>
        <p:spPr>
          <a:xfrm>
            <a:off x="9692640" y="347472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41" name="Text 34"/>
          <p:cNvSpPr txBox="1"/>
          <p:nvPr/>
        </p:nvSpPr>
        <p:spPr>
          <a:xfrm>
            <a:off x="9692640" y="402336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42" name="Text 35"/>
          <p:cNvSpPr txBox="1"/>
          <p:nvPr/>
        </p:nvSpPr>
        <p:spPr>
          <a:xfrm>
            <a:off x="969264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1-12</a:t>
            </a:r>
            <a:endParaRPr lang="en-US" sz="1300" dirty="0"/>
          </a:p>
        </p:txBody>
      </p:sp>
      <p:sp>
        <p:nvSpPr>
          <p:cNvPr id="43" name="Text 36"/>
          <p:cNvSpPr txBox="1"/>
          <p:nvPr/>
        </p:nvSpPr>
        <p:spPr>
          <a:xfrm>
            <a:off x="969264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Clear flow, visuals, summary and Q&amp;A</a:t>
            </a:r>
            <a:endParaRPr lang="en-US" sz="1100" dirty="0"/>
          </a:p>
        </p:txBody>
      </p:sp>
      <p:sp>
        <p:nvSpPr>
          <p:cNvPr id="44" name="Total bar"/>
          <p:cNvSpPr/>
          <p:nvPr/>
        </p:nvSpPr>
        <p:spPr>
          <a:xfrm>
            <a:off x="548640" y="5440680"/>
            <a:ext cx="11064240" cy="685800"/>
          </a:xfrm>
          <a:prstGeom prst="roundRect">
            <a:avLst>
              <a:gd name="adj" fmla="val 13333"/>
            </a:avLst>
          </a:prstGeom>
          <a:solidFill>
            <a:schemeClr val="tx1"/>
          </a:solidFill>
          <a:ln w="12700">
            <a:solidFill>
              <a:schemeClr val="tx1"/>
            </a:solidFill>
            <a:prstDash val="solid"/>
          </a:ln>
        </p:spPr>
      </p:sp>
      <p:sp>
        <p:nvSpPr>
          <p:cNvPr id="45" name="Text 38"/>
          <p:cNvSpPr txBox="1"/>
          <p:nvPr/>
        </p:nvSpPr>
        <p:spPr>
          <a:xfrm>
            <a:off x="914400" y="5440680"/>
            <a:ext cx="3657600" cy="685800"/>
          </a:xfrm>
          <a:prstGeom prst="rect">
            <a:avLst/>
          </a:prstGeom>
          <a:noFill/>
          <a:ln/>
        </p:spPr>
        <p:txBody>
          <a:bodyPr wrap="square" lIns="0" tIns="0" rIns="0" bIns="0" rtlCol="0" anchor="ctr"/>
          <a:lstStyle/>
          <a:p>
            <a:pPr indent="0" marL="0">
              <a:buNone/>
            </a:pPr>
            <a:r>
              <a:rPr lang="en-US" sz="1600" b="1" spc="300" kern="0" dirty="0">
                <a:solidFill>
                  <a:schemeClr val="accent1"/>
                </a:solidFill>
              </a:rPr>
              <a:t>REVIEW 1 TOTAL</a:t>
            </a:r>
            <a:endParaRPr lang="en-US" sz="1600" dirty="0"/>
          </a:p>
        </p:txBody>
      </p:sp>
      <p:sp>
        <p:nvSpPr>
          <p:cNvPr id="46" name="Text 39"/>
          <p:cNvSpPr txBox="1"/>
          <p:nvPr/>
        </p:nvSpPr>
        <p:spPr>
          <a:xfrm>
            <a:off x="5486400" y="5440680"/>
            <a:ext cx="5852160" cy="685800"/>
          </a:xfrm>
          <a:prstGeom prst="rect">
            <a:avLst/>
          </a:prstGeom>
          <a:noFill/>
          <a:ln/>
        </p:spPr>
        <p:txBody>
          <a:bodyPr wrap="square" lIns="0" tIns="0" rIns="0" bIns="0" rtlCol="0" anchor="ctr"/>
          <a:lstStyle/>
          <a:p>
            <a:pPr algn="r" indent="0" marL="0">
              <a:buNone/>
            </a:pPr>
            <a:r>
              <a:rPr lang="en-US" sz="2200" b="1" dirty="0">
                <a:solidFill>
                  <a:schemeClr val="bg1"/>
                </a:solidFill>
              </a:rPr>
              <a:t>5 criteria  x  10 marks  =  50</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1  ·  CLARITY OF PROJECT TITLE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What our project title means</a:t>
            </a:r>
            <a:endParaRPr lang="en-US" sz="3200" dirty="0"/>
          </a:p>
        </p:txBody>
      </p:sp>
      <p:sp>
        <p:nvSpPr>
          <p:cNvPr id="6" name="Title card"/>
          <p:cNvSpPr/>
          <p:nvPr/>
        </p:nvSpPr>
        <p:spPr>
          <a:xfrm>
            <a:off x="548640" y="1554480"/>
            <a:ext cx="4846320" cy="2926080"/>
          </a:xfrm>
          <a:prstGeom prst="roundRect">
            <a:avLst>
              <a:gd name="adj" fmla="val 3125"/>
            </a:avLst>
          </a:prstGeom>
          <a:solidFill>
            <a:schemeClr val="tx1"/>
          </a:solidFill>
          <a:ln w="12700">
            <a:solidFill>
              <a:schemeClr val="tx1"/>
            </a:solidFill>
            <a:prstDash val="solid"/>
          </a:ln>
          <a:effectLst>
            <a:outerShdw sx="100000" sy="100000" kx="0" ky="0" algn="bl" rotWithShape="0" blurRad="101600" dist="25400" dir="5400000">
              <a:srgbClr val="1B2A41">
                <a:alpha val="12000"/>
              </a:srgbClr>
            </a:outerShdw>
          </a:effectLst>
        </p:spPr>
      </p:sp>
      <p:sp>
        <p:nvSpPr>
          <p:cNvPr id="7" name="Text 5"/>
          <p:cNvSpPr txBox="1"/>
          <p:nvPr/>
        </p:nvSpPr>
        <p:spPr>
          <a:xfrm>
            <a:off x="868680" y="1783080"/>
            <a:ext cx="420624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PROJECT TITLE</a:t>
            </a:r>
            <a:endParaRPr lang="en-US" sz="1200" dirty="0"/>
          </a:p>
        </p:txBody>
      </p:sp>
      <p:sp>
        <p:nvSpPr>
          <p:cNvPr id="8" name="Text 6"/>
          <p:cNvSpPr txBox="1"/>
          <p:nvPr/>
        </p:nvSpPr>
        <p:spPr>
          <a:xfrm>
            <a:off x="868680" y="2148840"/>
            <a:ext cx="4206240" cy="868680"/>
          </a:xfrm>
          <a:prstGeom prst="rect">
            <a:avLst/>
          </a:prstGeom>
          <a:noFill/>
          <a:ln/>
        </p:spPr>
        <p:txBody>
          <a:bodyPr wrap="square" lIns="0" tIns="0" rIns="0" bIns="0" rtlCol="0" anchor="ctr"/>
          <a:lstStyle/>
          <a:p>
            <a:pPr indent="0" marL="0">
              <a:buNone/>
            </a:pPr>
            <a:r>
              <a:rPr lang="en-US" sz="5000" b="1" dirty="0">
                <a:solidFill>
                  <a:schemeClr val="bg1"/>
                </a:solidFill>
                <a:latin typeface="Cambria" pitchFamily="34" charset="0"/>
                <a:ea typeface="Cambria" pitchFamily="34" charset="-122"/>
                <a:cs typeface="Cambria" pitchFamily="34" charset="-120"/>
              </a:rPr>
              <a:t>DockFlow</a:t>
            </a:r>
            <a:endParaRPr lang="en-US" sz="5000" dirty="0"/>
          </a:p>
        </p:txBody>
      </p:sp>
      <p:sp>
        <p:nvSpPr>
          <p:cNvPr id="9" name="Text 7"/>
          <p:cNvSpPr txBox="1"/>
          <p:nvPr/>
        </p:nvSpPr>
        <p:spPr>
          <a:xfrm>
            <a:off x="868680" y="3108960"/>
            <a:ext cx="4206240" cy="731520"/>
          </a:xfrm>
          <a:prstGeom prst="rect">
            <a:avLst/>
          </a:prstGeom>
          <a:noFill/>
          <a:ln/>
        </p:spPr>
        <p:txBody>
          <a:bodyPr wrap="square" lIns="0" tIns="0" rIns="0" bIns="0" rtlCol="0" anchor="t"/>
          <a:lstStyle/>
          <a:p>
            <a:pPr indent="0" marL="0">
              <a:buNone/>
            </a:pPr>
            <a:r>
              <a:rPr lang="en-US" sz="1900" dirty="0">
                <a:solidFill>
                  <a:schemeClr val="accent4"/>
                </a:solidFill>
              </a:rPr>
              <a:t>Clothing Warehouse &amp; Delivery Management System</a:t>
            </a:r>
            <a:endParaRPr lang="en-US" sz="1900" dirty="0"/>
          </a:p>
        </p:txBody>
      </p:sp>
      <p:sp>
        <p:nvSpPr>
          <p:cNvPr id="10" name="Text 8"/>
          <p:cNvSpPr txBox="1"/>
          <p:nvPr/>
        </p:nvSpPr>
        <p:spPr>
          <a:xfrm>
            <a:off x="868680" y="3840480"/>
            <a:ext cx="4206240" cy="548640"/>
          </a:xfrm>
          <a:prstGeom prst="rect">
            <a:avLst/>
          </a:prstGeom>
          <a:noFill/>
          <a:ln/>
        </p:spPr>
        <p:txBody>
          <a:bodyPr wrap="square" lIns="0" tIns="0" rIns="0" bIns="0" rtlCol="0" anchor="t"/>
          <a:lstStyle/>
          <a:p>
            <a:pPr indent="0" marL="0">
              <a:buNone/>
            </a:pPr>
            <a:r>
              <a:rPr lang="en-US" sz="1400" i="1" dirty="0">
                <a:solidFill>
                  <a:schemeClr val="accent1"/>
                </a:solidFill>
              </a:rPr>
              <a:t>A website for managing a clothing warehouse and its deliveries.</a:t>
            </a:r>
            <a:endParaRPr lang="en-US" sz="1400" dirty="0"/>
          </a:p>
        </p:txBody>
      </p:sp>
      <p:sp>
        <p:nvSpPr>
          <p:cNvPr id="11" name="Decode 1"/>
          <p:cNvSpPr/>
          <p:nvPr/>
        </p:nvSpPr>
        <p:spPr>
          <a:xfrm>
            <a:off x="5715000" y="1554480"/>
            <a:ext cx="589788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2" name="Dock circle"/>
          <p:cNvSpPr/>
          <p:nvPr/>
        </p:nvSpPr>
        <p:spPr>
          <a:xfrm>
            <a:off x="5943600" y="1737360"/>
            <a:ext cx="548640" cy="548640"/>
          </a:xfrm>
          <a:prstGeom prst="ellipse">
            <a:avLst/>
          </a:prstGeom>
          <a:solidFill>
            <a:schemeClr val="tx1"/>
          </a:solidFill>
          <a:ln w="12700">
            <a:solidFill>
              <a:schemeClr val="tx1"/>
            </a:solidFill>
            <a:prstDash val="solid"/>
          </a:ln>
        </p:spPr>
      </p:sp>
      <p:pic>
        <p:nvPicPr>
          <p:cNvPr id="13" name="Image 0" descr="Dock icon">    </p:cNvPr>
          <p:cNvPicPr>
            <a:picLocks noChangeAspect="1"/>
          </p:cNvPicPr>
          <p:nvPr/>
        </p:nvPicPr>
        <p:blipFill>
          <a:blip r:embed="rId1"/>
          <a:stretch>
            <a:fillRect/>
          </a:stretch>
        </p:blipFill>
        <p:spPr>
          <a:xfrm>
            <a:off x="6064301" y="1858061"/>
            <a:ext cx="307238" cy="307238"/>
          </a:xfrm>
          <a:prstGeom prst="rect">
            <a:avLst/>
          </a:prstGeom>
        </p:spPr>
      </p:pic>
      <p:sp>
        <p:nvSpPr>
          <p:cNvPr id="14" name="Text 11"/>
          <p:cNvSpPr txBox="1"/>
          <p:nvPr/>
        </p:nvSpPr>
        <p:spPr>
          <a:xfrm>
            <a:off x="6675120" y="1645920"/>
            <a:ext cx="4754880" cy="292608"/>
          </a:xfrm>
          <a:prstGeom prst="rect">
            <a:avLst/>
          </a:prstGeom>
          <a:noFill/>
          <a:ln/>
        </p:spPr>
        <p:txBody>
          <a:bodyPr wrap="square" lIns="0" tIns="0" rIns="0" bIns="0" rtlCol="0" anchor="ctr"/>
          <a:lstStyle/>
          <a:p>
            <a:pPr indent="0" marL="0">
              <a:buNone/>
            </a:pPr>
            <a:r>
              <a:rPr lang="en-US" sz="1600" b="1" dirty="0">
                <a:solidFill>
                  <a:schemeClr val="tx1"/>
                </a:solidFill>
              </a:rPr>
              <a:t>Dock</a:t>
            </a:r>
            <a:endParaRPr lang="en-US" sz="1600" dirty="0"/>
          </a:p>
        </p:txBody>
      </p:sp>
      <p:sp>
        <p:nvSpPr>
          <p:cNvPr id="15" name="Text 12"/>
          <p:cNvSpPr txBox="1"/>
          <p:nvPr/>
        </p:nvSpPr>
        <p:spPr>
          <a:xfrm>
            <a:off x="6675120" y="1938528"/>
            <a:ext cx="4754880" cy="457200"/>
          </a:xfrm>
          <a:prstGeom prst="rect">
            <a:avLst/>
          </a:prstGeom>
          <a:noFill/>
          <a:ln/>
        </p:spPr>
        <p:txBody>
          <a:bodyPr wrap="square" lIns="0" tIns="0" rIns="0" bIns="0" rtlCol="0" anchor="t"/>
          <a:lstStyle/>
          <a:p>
            <a:pPr indent="0" marL="0">
              <a:buNone/>
            </a:pPr>
            <a:r>
              <a:rPr lang="en-US" sz="1250" dirty="0">
                <a:solidFill>
                  <a:schemeClr val="accent3"/>
                </a:solidFill>
              </a:rPr>
              <a:t>The warehouse: men's, women's and kids' clothes stored by size, color and location.</a:t>
            </a:r>
            <a:endParaRPr lang="en-US" sz="1250" dirty="0"/>
          </a:p>
        </p:txBody>
      </p:sp>
      <p:sp>
        <p:nvSpPr>
          <p:cNvPr id="16" name="Decode 2"/>
          <p:cNvSpPr/>
          <p:nvPr/>
        </p:nvSpPr>
        <p:spPr>
          <a:xfrm>
            <a:off x="5715000" y="2560320"/>
            <a:ext cx="589788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7" name="Flow circle"/>
          <p:cNvSpPr/>
          <p:nvPr/>
        </p:nvSpPr>
        <p:spPr>
          <a:xfrm>
            <a:off x="5943600" y="2743200"/>
            <a:ext cx="548640" cy="548640"/>
          </a:xfrm>
          <a:prstGeom prst="ellipse">
            <a:avLst/>
          </a:prstGeom>
          <a:solidFill>
            <a:schemeClr val="tx1"/>
          </a:solidFill>
          <a:ln w="12700">
            <a:solidFill>
              <a:schemeClr val="tx1"/>
            </a:solidFill>
            <a:prstDash val="solid"/>
          </a:ln>
        </p:spPr>
      </p:sp>
      <p:pic>
        <p:nvPicPr>
          <p:cNvPr id="18" name="Image 1" descr="Flow icon">    </p:cNvPr>
          <p:cNvPicPr>
            <a:picLocks noChangeAspect="1"/>
          </p:cNvPicPr>
          <p:nvPr/>
        </p:nvPicPr>
        <p:blipFill>
          <a:blip r:embed="rId2"/>
          <a:stretch>
            <a:fillRect/>
          </a:stretch>
        </p:blipFill>
        <p:spPr>
          <a:xfrm>
            <a:off x="6064301" y="2863901"/>
            <a:ext cx="307238" cy="307238"/>
          </a:xfrm>
          <a:prstGeom prst="rect">
            <a:avLst/>
          </a:prstGeom>
        </p:spPr>
      </p:pic>
      <p:sp>
        <p:nvSpPr>
          <p:cNvPr id="19" name="Text 15"/>
          <p:cNvSpPr txBox="1"/>
          <p:nvPr/>
        </p:nvSpPr>
        <p:spPr>
          <a:xfrm>
            <a:off x="6675120" y="2651760"/>
            <a:ext cx="4754880" cy="292608"/>
          </a:xfrm>
          <a:prstGeom prst="rect">
            <a:avLst/>
          </a:prstGeom>
          <a:noFill/>
          <a:ln/>
        </p:spPr>
        <p:txBody>
          <a:bodyPr wrap="square" lIns="0" tIns="0" rIns="0" bIns="0" rtlCol="0" anchor="ctr"/>
          <a:lstStyle/>
          <a:p>
            <a:pPr indent="0" marL="0">
              <a:buNone/>
            </a:pPr>
            <a:r>
              <a:rPr lang="en-US" sz="1600" b="1" dirty="0">
                <a:solidFill>
                  <a:schemeClr val="tx1"/>
                </a:solidFill>
              </a:rPr>
              <a:t>Flow</a:t>
            </a:r>
            <a:endParaRPr lang="en-US" sz="1600" dirty="0"/>
          </a:p>
        </p:txBody>
      </p:sp>
      <p:sp>
        <p:nvSpPr>
          <p:cNvPr id="20" name="Text 16"/>
          <p:cNvSpPr txBox="1"/>
          <p:nvPr/>
        </p:nvSpPr>
        <p:spPr>
          <a:xfrm>
            <a:off x="6675120" y="2944368"/>
            <a:ext cx="4754880" cy="457200"/>
          </a:xfrm>
          <a:prstGeom prst="rect">
            <a:avLst/>
          </a:prstGeom>
          <a:noFill/>
          <a:ln/>
        </p:spPr>
        <p:txBody>
          <a:bodyPr wrap="square" lIns="0" tIns="0" rIns="0" bIns="0" rtlCol="0" anchor="t"/>
          <a:lstStyle/>
          <a:p>
            <a:pPr indent="0" marL="0">
              <a:buNone/>
            </a:pPr>
            <a:r>
              <a:rPr lang="en-US" sz="1250" dirty="0">
                <a:solidFill>
                  <a:schemeClr val="accent3"/>
                </a:solidFill>
              </a:rPr>
              <a:t>Stock, orders and delivery updates moving together through one system.</a:t>
            </a:r>
            <a:endParaRPr lang="en-US" sz="1250" dirty="0"/>
          </a:p>
        </p:txBody>
      </p:sp>
      <p:sp>
        <p:nvSpPr>
          <p:cNvPr id="21" name="Decode 3"/>
          <p:cNvSpPr/>
          <p:nvPr/>
        </p:nvSpPr>
        <p:spPr>
          <a:xfrm>
            <a:off x="5715000" y="3566160"/>
            <a:ext cx="589788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2" name="Management System circle"/>
          <p:cNvSpPr/>
          <p:nvPr/>
        </p:nvSpPr>
        <p:spPr>
          <a:xfrm>
            <a:off x="5943600" y="3749040"/>
            <a:ext cx="548640" cy="548640"/>
          </a:xfrm>
          <a:prstGeom prst="ellipse">
            <a:avLst/>
          </a:prstGeom>
          <a:solidFill>
            <a:schemeClr val="tx1"/>
          </a:solidFill>
          <a:ln w="12700">
            <a:solidFill>
              <a:schemeClr val="tx1"/>
            </a:solidFill>
            <a:prstDash val="solid"/>
          </a:ln>
        </p:spPr>
      </p:sp>
      <p:pic>
        <p:nvPicPr>
          <p:cNvPr id="23" name="Image 2" descr="Management System icon">    </p:cNvPr>
          <p:cNvPicPr>
            <a:picLocks noChangeAspect="1"/>
          </p:cNvPicPr>
          <p:nvPr/>
        </p:nvPicPr>
        <p:blipFill>
          <a:blip r:embed="rId3"/>
          <a:stretch>
            <a:fillRect/>
          </a:stretch>
        </p:blipFill>
        <p:spPr>
          <a:xfrm>
            <a:off x="6064301" y="3869741"/>
            <a:ext cx="307238" cy="307238"/>
          </a:xfrm>
          <a:prstGeom prst="rect">
            <a:avLst/>
          </a:prstGeom>
        </p:spPr>
      </p:pic>
      <p:sp>
        <p:nvSpPr>
          <p:cNvPr id="24" name="Text 19"/>
          <p:cNvSpPr txBox="1"/>
          <p:nvPr/>
        </p:nvSpPr>
        <p:spPr>
          <a:xfrm>
            <a:off x="6675120" y="3657600"/>
            <a:ext cx="4754880" cy="292608"/>
          </a:xfrm>
          <a:prstGeom prst="rect">
            <a:avLst/>
          </a:prstGeom>
          <a:noFill/>
          <a:ln/>
        </p:spPr>
        <p:txBody>
          <a:bodyPr wrap="square" lIns="0" tIns="0" rIns="0" bIns="0" rtlCol="0" anchor="ctr"/>
          <a:lstStyle/>
          <a:p>
            <a:pPr indent="0" marL="0">
              <a:buNone/>
            </a:pPr>
            <a:r>
              <a:rPr lang="en-US" sz="1600" b="1" dirty="0">
                <a:solidFill>
                  <a:schemeClr val="tx1"/>
                </a:solidFill>
              </a:rPr>
              <a:t>Management System</a:t>
            </a:r>
            <a:endParaRPr lang="en-US" sz="1600" dirty="0"/>
          </a:p>
        </p:txBody>
      </p:sp>
      <p:sp>
        <p:nvSpPr>
          <p:cNvPr id="25" name="Text 20"/>
          <p:cNvSpPr txBox="1"/>
          <p:nvPr/>
        </p:nvSpPr>
        <p:spPr>
          <a:xfrm>
            <a:off x="6675120" y="3950208"/>
            <a:ext cx="4754880" cy="457200"/>
          </a:xfrm>
          <a:prstGeom prst="rect">
            <a:avLst/>
          </a:prstGeom>
          <a:noFill/>
          <a:ln/>
        </p:spPr>
        <p:txBody>
          <a:bodyPr wrap="square" lIns="0" tIns="0" rIns="0" bIns="0" rtlCol="0" anchor="t"/>
          <a:lstStyle/>
          <a:p>
            <a:pPr indent="0" marL="0">
              <a:buNone/>
            </a:pPr>
            <a:r>
              <a:rPr lang="en-US" sz="1250" dirty="0">
                <a:solidFill>
                  <a:schemeClr val="accent3"/>
                </a:solidFill>
              </a:rPr>
              <a:t>A website where staff add stock, create orders and update deliveries.</a:t>
            </a:r>
            <a:endParaRPr lang="en-US" sz="1250" dirty="0"/>
          </a:p>
        </p:txBody>
      </p:sp>
      <p:sp>
        <p:nvSpPr>
          <p:cNvPr id="26" name="Problem strip"/>
          <p:cNvSpPr/>
          <p:nvPr/>
        </p:nvSpPr>
        <p:spPr>
          <a:xfrm>
            <a:off x="548640" y="4754880"/>
            <a:ext cx="11064240" cy="1371600"/>
          </a:xfrm>
          <a:prstGeom prst="roundRect">
            <a:avLst>
              <a:gd name="adj" fmla="val 6667"/>
            </a:avLst>
          </a:prstGeom>
          <a:solidFill>
            <a:schemeClr val="tx1"/>
          </a:solidFill>
          <a:ln w="12700">
            <a:solidFill>
              <a:schemeClr val="tx1"/>
            </a:solidFill>
            <a:prstDash val="solid"/>
          </a:ln>
        </p:spPr>
      </p:sp>
      <p:sp>
        <p:nvSpPr>
          <p:cNvPr id="27" name="Text 22"/>
          <p:cNvSpPr txBox="1"/>
          <p:nvPr/>
        </p:nvSpPr>
        <p:spPr>
          <a:xfrm>
            <a:off x="914400" y="4892040"/>
            <a:ext cx="3657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PROBLEM STATEMENT</a:t>
            </a:r>
            <a:endParaRPr lang="en-US" sz="1200" dirty="0"/>
          </a:p>
        </p:txBody>
      </p:sp>
      <p:sp>
        <p:nvSpPr>
          <p:cNvPr id="28" name="Text 23"/>
          <p:cNvSpPr txBox="1"/>
          <p:nvPr/>
        </p:nvSpPr>
        <p:spPr>
          <a:xfrm>
            <a:off x="914400" y="5212080"/>
            <a:ext cx="10332720" cy="822960"/>
          </a:xfrm>
          <a:prstGeom prst="rect">
            <a:avLst/>
          </a:prstGeom>
          <a:noFill/>
          <a:ln/>
        </p:spPr>
        <p:txBody>
          <a:bodyPr wrap="square" lIns="0" tIns="0" rIns="0" bIns="0" rtlCol="0" anchor="t"/>
          <a:lstStyle/>
          <a:p>
            <a:pPr indent="0" marL="0">
              <a:buNone/>
            </a:pPr>
            <a:r>
              <a:rPr lang="en-US" sz="1600" dirty="0">
                <a:solidFill>
                  <a:schemeClr val="bg1"/>
                </a:solidFill>
              </a:rPr>
              <a:t>Clothing warehouses often keep stock, orders and delivery updates in separate places. Stock counts drift, orders slow down and shipments are hard to follow. DockFlow brings all three together in one website.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1  ·  CLARITY OF PROJECT TITLE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Objectives and scope</a:t>
            </a:r>
            <a:endParaRPr lang="en-US" sz="3200" dirty="0"/>
          </a:p>
        </p:txBody>
      </p:sp>
      <p:sp>
        <p:nvSpPr>
          <p:cNvPr id="6" name="Objective 1"/>
          <p:cNvSpPr/>
          <p:nvPr/>
        </p:nvSpPr>
        <p:spPr>
          <a:xfrm>
            <a:off x="548640" y="1554480"/>
            <a:ext cx="6035040" cy="960120"/>
          </a:xfrm>
          <a:prstGeom prst="roundRect">
            <a:avLst>
              <a:gd name="adj" fmla="val 9524"/>
            </a:avLst>
          </a:prstGeom>
          <a:solidFill>
            <a:schemeClr val="tx2"/>
          </a:solidFill>
          <a:ln w="12700">
            <a:solidFill>
              <a:schemeClr val="tx2"/>
            </a:solidFill>
            <a:prstDash val="solid"/>
          </a:ln>
        </p:spPr>
      </p:sp>
      <p:sp>
        <p:nvSpPr>
          <p:cNvPr id="7" name="Number 1"/>
          <p:cNvSpPr/>
          <p:nvPr/>
        </p:nvSpPr>
        <p:spPr>
          <a:xfrm>
            <a:off x="777240" y="1737360"/>
            <a:ext cx="594360" cy="594360"/>
          </a:xfrm>
          <a:prstGeom prst="ellipse">
            <a:avLst/>
          </a:prstGeom>
          <a:solidFill>
            <a:schemeClr val="accent1"/>
          </a:solidFill>
          <a:ln w="12700">
            <a:solidFill>
              <a:schemeClr val="accent1"/>
            </a:solidFill>
            <a:prstDash val="solid"/>
          </a:ln>
        </p:spPr>
      </p:sp>
      <p:sp>
        <p:nvSpPr>
          <p:cNvPr id="8" name="Text 6"/>
          <p:cNvSpPr txBox="1"/>
          <p:nvPr/>
        </p:nvSpPr>
        <p:spPr>
          <a:xfrm>
            <a:off x="777240" y="173736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1</a:t>
            </a:r>
            <a:endParaRPr lang="en-US" sz="2200" dirty="0"/>
          </a:p>
        </p:txBody>
      </p:sp>
      <p:sp>
        <p:nvSpPr>
          <p:cNvPr id="9" name="Text 7"/>
          <p:cNvSpPr txBox="1"/>
          <p:nvPr/>
        </p:nvSpPr>
        <p:spPr>
          <a:xfrm>
            <a:off x="1600200" y="1645920"/>
            <a:ext cx="4800600" cy="777240"/>
          </a:xfrm>
          <a:prstGeom prst="rect">
            <a:avLst/>
          </a:prstGeom>
          <a:noFill/>
          <a:ln/>
        </p:spPr>
        <p:txBody>
          <a:bodyPr wrap="square" lIns="0" tIns="0" rIns="0" bIns="0" rtlCol="0" anchor="ctr"/>
          <a:lstStyle/>
          <a:p>
            <a:pPr indent="0" marL="0">
              <a:buNone/>
            </a:pPr>
            <a:r>
              <a:rPr lang="en-US" sz="1500" dirty="0">
                <a:solidFill>
                  <a:schemeClr val="bg1"/>
                </a:solidFill>
              </a:rPr>
              <a:t>Track men's, women's and kids' clothes by size, color and location.</a:t>
            </a:r>
            <a:endParaRPr lang="en-US" sz="1500" dirty="0"/>
          </a:p>
        </p:txBody>
      </p:sp>
      <p:sp>
        <p:nvSpPr>
          <p:cNvPr id="10" name="Objective 2"/>
          <p:cNvSpPr/>
          <p:nvPr/>
        </p:nvSpPr>
        <p:spPr>
          <a:xfrm>
            <a:off x="548640" y="2651760"/>
            <a:ext cx="6035040" cy="960120"/>
          </a:xfrm>
          <a:prstGeom prst="roundRect">
            <a:avLst>
              <a:gd name="adj" fmla="val 9524"/>
            </a:avLst>
          </a:prstGeom>
          <a:solidFill>
            <a:schemeClr val="tx2"/>
          </a:solidFill>
          <a:ln w="12700">
            <a:solidFill>
              <a:schemeClr val="tx2"/>
            </a:solidFill>
            <a:prstDash val="solid"/>
          </a:ln>
        </p:spPr>
      </p:sp>
      <p:sp>
        <p:nvSpPr>
          <p:cNvPr id="11" name="Number 2"/>
          <p:cNvSpPr/>
          <p:nvPr/>
        </p:nvSpPr>
        <p:spPr>
          <a:xfrm>
            <a:off x="777240" y="2834640"/>
            <a:ext cx="594360" cy="594360"/>
          </a:xfrm>
          <a:prstGeom prst="ellipse">
            <a:avLst/>
          </a:prstGeom>
          <a:solidFill>
            <a:schemeClr val="accent1"/>
          </a:solidFill>
          <a:ln w="12700">
            <a:solidFill>
              <a:schemeClr val="accent1"/>
            </a:solidFill>
            <a:prstDash val="solid"/>
          </a:ln>
        </p:spPr>
      </p:sp>
      <p:sp>
        <p:nvSpPr>
          <p:cNvPr id="12" name="Text 10"/>
          <p:cNvSpPr txBox="1"/>
          <p:nvPr/>
        </p:nvSpPr>
        <p:spPr>
          <a:xfrm>
            <a:off x="777240" y="283464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1600200" y="2743200"/>
            <a:ext cx="4800600" cy="777240"/>
          </a:xfrm>
          <a:prstGeom prst="rect">
            <a:avLst/>
          </a:prstGeom>
          <a:noFill/>
          <a:ln/>
        </p:spPr>
        <p:txBody>
          <a:bodyPr wrap="square" lIns="0" tIns="0" rIns="0" bIns="0" rtlCol="0" anchor="ctr"/>
          <a:lstStyle/>
          <a:p>
            <a:pPr indent="0" marL="0">
              <a:buNone/>
            </a:pPr>
            <a:r>
              <a:rPr lang="en-US" sz="1500" dirty="0">
                <a:solidFill>
                  <a:schemeClr val="bg1"/>
                </a:solidFill>
              </a:rPr>
              <a:t>Let staff add stock and create orders from one website.</a:t>
            </a:r>
            <a:endParaRPr lang="en-US" sz="1500" dirty="0"/>
          </a:p>
        </p:txBody>
      </p:sp>
      <p:sp>
        <p:nvSpPr>
          <p:cNvPr id="14" name="Objective 3"/>
          <p:cNvSpPr/>
          <p:nvPr/>
        </p:nvSpPr>
        <p:spPr>
          <a:xfrm>
            <a:off x="548640" y="3749040"/>
            <a:ext cx="6035040" cy="960120"/>
          </a:xfrm>
          <a:prstGeom prst="roundRect">
            <a:avLst>
              <a:gd name="adj" fmla="val 9524"/>
            </a:avLst>
          </a:prstGeom>
          <a:solidFill>
            <a:schemeClr val="tx2"/>
          </a:solidFill>
          <a:ln w="12700">
            <a:solidFill>
              <a:schemeClr val="tx2"/>
            </a:solidFill>
            <a:prstDash val="solid"/>
          </a:ln>
        </p:spPr>
      </p:sp>
      <p:sp>
        <p:nvSpPr>
          <p:cNvPr id="15" name="Number 3"/>
          <p:cNvSpPr/>
          <p:nvPr/>
        </p:nvSpPr>
        <p:spPr>
          <a:xfrm>
            <a:off x="777240" y="3931920"/>
            <a:ext cx="594360" cy="594360"/>
          </a:xfrm>
          <a:prstGeom prst="ellipse">
            <a:avLst/>
          </a:prstGeom>
          <a:solidFill>
            <a:schemeClr val="accent1"/>
          </a:solidFill>
          <a:ln w="12700">
            <a:solidFill>
              <a:schemeClr val="accent1"/>
            </a:solidFill>
            <a:prstDash val="solid"/>
          </a:ln>
        </p:spPr>
      </p:sp>
      <p:sp>
        <p:nvSpPr>
          <p:cNvPr id="16" name="Text 14"/>
          <p:cNvSpPr txBox="1"/>
          <p:nvPr/>
        </p:nvSpPr>
        <p:spPr>
          <a:xfrm>
            <a:off x="777240" y="393192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600200" y="3840480"/>
            <a:ext cx="4800600" cy="777240"/>
          </a:xfrm>
          <a:prstGeom prst="rect">
            <a:avLst/>
          </a:prstGeom>
          <a:noFill/>
          <a:ln/>
        </p:spPr>
        <p:txBody>
          <a:bodyPr wrap="square" lIns="0" tIns="0" rIns="0" bIns="0" rtlCol="0" anchor="ctr"/>
          <a:lstStyle/>
          <a:p>
            <a:pPr indent="0" marL="0">
              <a:buNone/>
            </a:pPr>
            <a:r>
              <a:rPr lang="en-US" sz="1500" dirty="0">
                <a:solidFill>
                  <a:schemeClr val="bg1"/>
                </a:solidFill>
              </a:rPr>
              <a:t>Record delivery updates and keep them easy to follow.</a:t>
            </a:r>
            <a:endParaRPr lang="en-US" sz="1500" dirty="0"/>
          </a:p>
        </p:txBody>
      </p:sp>
      <p:sp>
        <p:nvSpPr>
          <p:cNvPr id="18" name="Objective 4"/>
          <p:cNvSpPr/>
          <p:nvPr/>
        </p:nvSpPr>
        <p:spPr>
          <a:xfrm>
            <a:off x="548640" y="4846320"/>
            <a:ext cx="6035040" cy="960120"/>
          </a:xfrm>
          <a:prstGeom prst="roundRect">
            <a:avLst>
              <a:gd name="adj" fmla="val 9524"/>
            </a:avLst>
          </a:prstGeom>
          <a:solidFill>
            <a:schemeClr val="tx2"/>
          </a:solidFill>
          <a:ln w="12700">
            <a:solidFill>
              <a:schemeClr val="tx2"/>
            </a:solidFill>
            <a:prstDash val="solid"/>
          </a:ln>
        </p:spPr>
      </p:sp>
      <p:sp>
        <p:nvSpPr>
          <p:cNvPr id="19" name="Number 4"/>
          <p:cNvSpPr/>
          <p:nvPr/>
        </p:nvSpPr>
        <p:spPr>
          <a:xfrm>
            <a:off x="777240" y="5029200"/>
            <a:ext cx="594360" cy="594360"/>
          </a:xfrm>
          <a:prstGeom prst="ellipse">
            <a:avLst/>
          </a:prstGeom>
          <a:solidFill>
            <a:schemeClr val="accent1"/>
          </a:solidFill>
          <a:ln w="12700">
            <a:solidFill>
              <a:schemeClr val="accent1"/>
            </a:solidFill>
            <a:prstDash val="solid"/>
          </a:ln>
        </p:spPr>
      </p:sp>
      <p:sp>
        <p:nvSpPr>
          <p:cNvPr id="20" name="Text 18"/>
          <p:cNvSpPr txBox="1"/>
          <p:nvPr/>
        </p:nvSpPr>
        <p:spPr>
          <a:xfrm>
            <a:off x="777240" y="502920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1600200" y="4937760"/>
            <a:ext cx="4800600" cy="777240"/>
          </a:xfrm>
          <a:prstGeom prst="rect">
            <a:avLst/>
          </a:prstGeom>
          <a:noFill/>
          <a:ln/>
        </p:spPr>
        <p:txBody>
          <a:bodyPr wrap="square" lIns="0" tIns="0" rIns="0" bIns="0" rtlCol="0" anchor="ctr"/>
          <a:lstStyle/>
          <a:p>
            <a:pPr indent="0" marL="0">
              <a:buNone/>
            </a:pPr>
            <a:r>
              <a:rPr lang="en-US" sz="1500" dirty="0">
                <a:solidFill>
                  <a:schemeClr val="bg1"/>
                </a:solidFill>
              </a:rPr>
              <a:t>Use the right database for each job: MySQL, MongoDB and Kafka.</a:t>
            </a:r>
            <a:endParaRPr lang="en-US" sz="1500" dirty="0"/>
          </a:p>
        </p:txBody>
      </p:sp>
      <p:sp>
        <p:nvSpPr>
          <p:cNvPr id="22" name="Scope panel"/>
          <p:cNvSpPr/>
          <p:nvPr/>
        </p:nvSpPr>
        <p:spPr>
          <a:xfrm>
            <a:off x="6858000" y="1554480"/>
            <a:ext cx="4754880" cy="4206240"/>
          </a:xfrm>
          <a:prstGeom prst="roundRect">
            <a:avLst>
              <a:gd name="adj" fmla="val 2174"/>
            </a:avLst>
          </a:prstGeom>
          <a:solidFill>
            <a:schemeClr val="bg2"/>
          </a:solidFill>
          <a:ln w="12700">
            <a:solidFill>
              <a:schemeClr val="bg2"/>
            </a:solidFill>
            <a:prstDash val="solid"/>
          </a:ln>
        </p:spPr>
      </p:sp>
      <p:sp>
        <p:nvSpPr>
          <p:cNvPr id="23" name="Text 21"/>
          <p:cNvSpPr txBox="1"/>
          <p:nvPr/>
        </p:nvSpPr>
        <p:spPr>
          <a:xfrm>
            <a:off x="7178040" y="1783080"/>
            <a:ext cx="4114800"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STAFF CAN DO</a:t>
            </a:r>
            <a:endParaRPr lang="en-US" sz="1200" dirty="0"/>
          </a:p>
        </p:txBody>
      </p:sp>
      <p:sp>
        <p:nvSpPr>
          <p:cNvPr id="24" name="Add stock circle"/>
          <p:cNvSpPr/>
          <p:nvPr/>
        </p:nvSpPr>
        <p:spPr>
          <a:xfrm>
            <a:off x="7178040" y="2194560"/>
            <a:ext cx="548640" cy="548640"/>
          </a:xfrm>
          <a:prstGeom prst="ellipse">
            <a:avLst/>
          </a:prstGeom>
          <a:solidFill>
            <a:schemeClr val="tx1"/>
          </a:solidFill>
          <a:ln w="12700">
            <a:solidFill>
              <a:schemeClr val="tx1"/>
            </a:solidFill>
            <a:prstDash val="solid"/>
          </a:ln>
        </p:spPr>
      </p:sp>
      <p:pic>
        <p:nvPicPr>
          <p:cNvPr id="25" name="Image 0" descr="Add stock icon">    </p:cNvPr>
          <p:cNvPicPr>
            <a:picLocks noChangeAspect="1"/>
          </p:cNvPicPr>
          <p:nvPr/>
        </p:nvPicPr>
        <p:blipFill>
          <a:blip r:embed="rId1"/>
          <a:stretch>
            <a:fillRect/>
          </a:stretch>
        </p:blipFill>
        <p:spPr>
          <a:xfrm>
            <a:off x="7298741" y="2315261"/>
            <a:ext cx="307238" cy="307238"/>
          </a:xfrm>
          <a:prstGeom prst="rect">
            <a:avLst/>
          </a:prstGeom>
        </p:spPr>
      </p:pic>
      <p:sp>
        <p:nvSpPr>
          <p:cNvPr id="26" name="Text 23"/>
          <p:cNvSpPr txBox="1"/>
          <p:nvPr/>
        </p:nvSpPr>
        <p:spPr>
          <a:xfrm>
            <a:off x="7955280" y="2194560"/>
            <a:ext cx="3383280" cy="548640"/>
          </a:xfrm>
          <a:prstGeom prst="rect">
            <a:avLst/>
          </a:prstGeom>
          <a:noFill/>
          <a:ln/>
        </p:spPr>
        <p:txBody>
          <a:bodyPr wrap="square" lIns="0" tIns="0" rIns="0" bIns="0" rtlCol="0" anchor="ctr"/>
          <a:lstStyle/>
          <a:p>
            <a:pPr indent="0" marL="0">
              <a:buNone/>
            </a:pPr>
            <a:r>
              <a:rPr lang="en-US" sz="1800" b="1" dirty="0">
                <a:solidFill>
                  <a:schemeClr val="tx1"/>
                </a:solidFill>
              </a:rPr>
              <a:t>Add stock</a:t>
            </a:r>
            <a:endParaRPr lang="en-US" sz="1800" dirty="0"/>
          </a:p>
        </p:txBody>
      </p:sp>
      <p:sp>
        <p:nvSpPr>
          <p:cNvPr id="27" name="Create orders circle"/>
          <p:cNvSpPr/>
          <p:nvPr/>
        </p:nvSpPr>
        <p:spPr>
          <a:xfrm>
            <a:off x="7178040" y="2926080"/>
            <a:ext cx="548640" cy="548640"/>
          </a:xfrm>
          <a:prstGeom prst="ellipse">
            <a:avLst/>
          </a:prstGeom>
          <a:solidFill>
            <a:schemeClr val="tx1"/>
          </a:solidFill>
          <a:ln w="12700">
            <a:solidFill>
              <a:schemeClr val="tx1"/>
            </a:solidFill>
            <a:prstDash val="solid"/>
          </a:ln>
        </p:spPr>
      </p:sp>
      <p:pic>
        <p:nvPicPr>
          <p:cNvPr id="28" name="Image 1" descr="Create orders icon">    </p:cNvPr>
          <p:cNvPicPr>
            <a:picLocks noChangeAspect="1"/>
          </p:cNvPicPr>
          <p:nvPr/>
        </p:nvPicPr>
        <p:blipFill>
          <a:blip r:embed="rId2"/>
          <a:stretch>
            <a:fillRect/>
          </a:stretch>
        </p:blipFill>
        <p:spPr>
          <a:xfrm>
            <a:off x="7298741" y="3046781"/>
            <a:ext cx="307238" cy="307238"/>
          </a:xfrm>
          <a:prstGeom prst="rect">
            <a:avLst/>
          </a:prstGeom>
        </p:spPr>
      </p:pic>
      <p:sp>
        <p:nvSpPr>
          <p:cNvPr id="29" name="Text 25"/>
          <p:cNvSpPr txBox="1"/>
          <p:nvPr/>
        </p:nvSpPr>
        <p:spPr>
          <a:xfrm>
            <a:off x="7955280" y="2926080"/>
            <a:ext cx="3383280" cy="548640"/>
          </a:xfrm>
          <a:prstGeom prst="rect">
            <a:avLst/>
          </a:prstGeom>
          <a:noFill/>
          <a:ln/>
        </p:spPr>
        <p:txBody>
          <a:bodyPr wrap="square" lIns="0" tIns="0" rIns="0" bIns="0" rtlCol="0" anchor="ctr"/>
          <a:lstStyle/>
          <a:p>
            <a:pPr indent="0" marL="0">
              <a:buNone/>
            </a:pPr>
            <a:r>
              <a:rPr lang="en-US" sz="1800" b="1" dirty="0">
                <a:solidFill>
                  <a:schemeClr val="tx1"/>
                </a:solidFill>
              </a:rPr>
              <a:t>Create orders</a:t>
            </a:r>
            <a:endParaRPr lang="en-US" sz="1800" dirty="0"/>
          </a:p>
        </p:txBody>
      </p:sp>
      <p:sp>
        <p:nvSpPr>
          <p:cNvPr id="30" name="Update deliveries circle"/>
          <p:cNvSpPr/>
          <p:nvPr/>
        </p:nvSpPr>
        <p:spPr>
          <a:xfrm>
            <a:off x="7178040" y="3657600"/>
            <a:ext cx="548640" cy="548640"/>
          </a:xfrm>
          <a:prstGeom prst="ellipse">
            <a:avLst/>
          </a:prstGeom>
          <a:solidFill>
            <a:schemeClr val="tx1"/>
          </a:solidFill>
          <a:ln w="12700">
            <a:solidFill>
              <a:schemeClr val="tx1"/>
            </a:solidFill>
            <a:prstDash val="solid"/>
          </a:ln>
        </p:spPr>
      </p:sp>
      <p:pic>
        <p:nvPicPr>
          <p:cNvPr id="31" name="Image 2" descr="Update deliveries icon">    </p:cNvPr>
          <p:cNvPicPr>
            <a:picLocks noChangeAspect="1"/>
          </p:cNvPicPr>
          <p:nvPr/>
        </p:nvPicPr>
        <p:blipFill>
          <a:blip r:embed="rId3"/>
          <a:stretch>
            <a:fillRect/>
          </a:stretch>
        </p:blipFill>
        <p:spPr>
          <a:xfrm>
            <a:off x="7298741" y="3778301"/>
            <a:ext cx="307238" cy="307238"/>
          </a:xfrm>
          <a:prstGeom prst="rect">
            <a:avLst/>
          </a:prstGeom>
        </p:spPr>
      </p:pic>
      <p:sp>
        <p:nvSpPr>
          <p:cNvPr id="32" name="Text 27"/>
          <p:cNvSpPr txBox="1"/>
          <p:nvPr/>
        </p:nvSpPr>
        <p:spPr>
          <a:xfrm>
            <a:off x="7955280" y="3657600"/>
            <a:ext cx="3383280" cy="548640"/>
          </a:xfrm>
          <a:prstGeom prst="rect">
            <a:avLst/>
          </a:prstGeom>
          <a:noFill/>
          <a:ln/>
        </p:spPr>
        <p:txBody>
          <a:bodyPr wrap="square" lIns="0" tIns="0" rIns="0" bIns="0" rtlCol="0" anchor="ctr"/>
          <a:lstStyle/>
          <a:p>
            <a:pPr indent="0" marL="0">
              <a:buNone/>
            </a:pPr>
            <a:r>
              <a:rPr lang="en-US" sz="1800" b="1" dirty="0">
                <a:solidFill>
                  <a:schemeClr val="tx1"/>
                </a:solidFill>
              </a:rPr>
              <a:t>Update deliveries</a:t>
            </a:r>
            <a:endParaRPr lang="en-US" sz="1800" dirty="0"/>
          </a:p>
        </p:txBody>
      </p:sp>
      <p:sp>
        <p:nvSpPr>
          <p:cNvPr id="33" name="Text 28"/>
          <p:cNvSpPr txBox="1"/>
          <p:nvPr/>
        </p:nvSpPr>
        <p:spPr>
          <a:xfrm>
            <a:off x="7178040" y="4526280"/>
            <a:ext cx="4114800" cy="274320"/>
          </a:xfrm>
          <a:prstGeom prst="rect">
            <a:avLst/>
          </a:prstGeom>
          <a:noFill/>
          <a:ln/>
        </p:spPr>
        <p:txBody>
          <a:bodyPr wrap="square" lIns="0" tIns="0" rIns="0" bIns="0" rtlCol="0" anchor="ctr"/>
          <a:lstStyle/>
          <a:p>
            <a:pPr indent="0" marL="0">
              <a:buNone/>
            </a:pPr>
            <a:r>
              <a:rPr lang="en-US" sz="1200" b="1" spc="300" kern="0" dirty="0">
                <a:solidFill>
                  <a:schemeClr val="tx2"/>
                </a:solidFill>
              </a:rPr>
              <a:t>CLOTHING CATEGORIES</a:t>
            </a:r>
            <a:endParaRPr lang="en-US" sz="1200" dirty="0"/>
          </a:p>
        </p:txBody>
      </p:sp>
      <p:sp>
        <p:nvSpPr>
          <p:cNvPr id="34" name="Pill Men's"/>
          <p:cNvSpPr/>
          <p:nvPr/>
        </p:nvSpPr>
        <p:spPr>
          <a:xfrm>
            <a:off x="7178040" y="4892040"/>
            <a:ext cx="1280160" cy="292608"/>
          </a:xfrm>
          <a:prstGeom prst="roundRect">
            <a:avLst>
              <a:gd name="adj" fmla="val 50000"/>
            </a:avLst>
          </a:prstGeom>
          <a:solidFill>
            <a:schemeClr val="tx1"/>
          </a:solidFill>
          <a:ln w="12700">
            <a:solidFill>
              <a:schemeClr val="tx1"/>
            </a:solidFill>
            <a:prstDash val="solid"/>
          </a:ln>
        </p:spPr>
      </p:sp>
      <p:sp>
        <p:nvSpPr>
          <p:cNvPr id="35" name="Text 30"/>
          <p:cNvSpPr txBox="1"/>
          <p:nvPr/>
        </p:nvSpPr>
        <p:spPr>
          <a:xfrm>
            <a:off x="7178040" y="4892040"/>
            <a:ext cx="1280160" cy="292608"/>
          </a:xfrm>
          <a:prstGeom prst="rect">
            <a:avLst/>
          </a:prstGeom>
          <a:noFill/>
          <a:ln/>
        </p:spPr>
        <p:txBody>
          <a:bodyPr wrap="square" lIns="0" tIns="0" rIns="0" bIns="0" rtlCol="0" anchor="ctr"/>
          <a:lstStyle/>
          <a:p>
            <a:pPr algn="ctr" indent="0" marL="0">
              <a:buNone/>
            </a:pPr>
            <a:r>
              <a:rPr lang="en-US" sz="1100" b="1" dirty="0">
                <a:solidFill>
                  <a:srgbClr val="F2A541"/>
                </a:solidFill>
              </a:rPr>
              <a:t>Men's</a:t>
            </a:r>
            <a:endParaRPr lang="en-US" sz="1100" dirty="0"/>
          </a:p>
        </p:txBody>
      </p:sp>
      <p:sp>
        <p:nvSpPr>
          <p:cNvPr id="36" name="Pill Women's"/>
          <p:cNvSpPr/>
          <p:nvPr/>
        </p:nvSpPr>
        <p:spPr>
          <a:xfrm>
            <a:off x="8595360" y="4892040"/>
            <a:ext cx="1280160" cy="292608"/>
          </a:xfrm>
          <a:prstGeom prst="roundRect">
            <a:avLst>
              <a:gd name="adj" fmla="val 50000"/>
            </a:avLst>
          </a:prstGeom>
          <a:solidFill>
            <a:schemeClr val="tx1"/>
          </a:solidFill>
          <a:ln w="12700">
            <a:solidFill>
              <a:schemeClr val="tx1"/>
            </a:solidFill>
            <a:prstDash val="solid"/>
          </a:ln>
        </p:spPr>
      </p:sp>
      <p:sp>
        <p:nvSpPr>
          <p:cNvPr id="37" name="Text 32"/>
          <p:cNvSpPr txBox="1"/>
          <p:nvPr/>
        </p:nvSpPr>
        <p:spPr>
          <a:xfrm>
            <a:off x="8595360" y="4892040"/>
            <a:ext cx="1280160" cy="292608"/>
          </a:xfrm>
          <a:prstGeom prst="rect">
            <a:avLst/>
          </a:prstGeom>
          <a:noFill/>
          <a:ln/>
        </p:spPr>
        <p:txBody>
          <a:bodyPr wrap="square" lIns="0" tIns="0" rIns="0" bIns="0" rtlCol="0" anchor="ctr"/>
          <a:lstStyle/>
          <a:p>
            <a:pPr algn="ctr" indent="0" marL="0">
              <a:buNone/>
            </a:pPr>
            <a:r>
              <a:rPr lang="en-US" sz="1100" b="1" dirty="0">
                <a:solidFill>
                  <a:srgbClr val="F2A541"/>
                </a:solidFill>
              </a:rPr>
              <a:t>Women's</a:t>
            </a:r>
            <a:endParaRPr lang="en-US" sz="1100" dirty="0"/>
          </a:p>
        </p:txBody>
      </p:sp>
      <p:sp>
        <p:nvSpPr>
          <p:cNvPr id="38" name="Pill Kids'"/>
          <p:cNvSpPr/>
          <p:nvPr/>
        </p:nvSpPr>
        <p:spPr>
          <a:xfrm>
            <a:off x="10012680" y="4892040"/>
            <a:ext cx="1280160" cy="292608"/>
          </a:xfrm>
          <a:prstGeom prst="roundRect">
            <a:avLst>
              <a:gd name="adj" fmla="val 50000"/>
            </a:avLst>
          </a:prstGeom>
          <a:solidFill>
            <a:schemeClr val="tx1"/>
          </a:solidFill>
          <a:ln w="12700">
            <a:solidFill>
              <a:schemeClr val="tx1"/>
            </a:solidFill>
            <a:prstDash val="solid"/>
          </a:ln>
        </p:spPr>
      </p:sp>
      <p:sp>
        <p:nvSpPr>
          <p:cNvPr id="39" name="Text 34"/>
          <p:cNvSpPr txBox="1"/>
          <p:nvPr/>
        </p:nvSpPr>
        <p:spPr>
          <a:xfrm>
            <a:off x="10012680" y="4892040"/>
            <a:ext cx="1280160" cy="292608"/>
          </a:xfrm>
          <a:prstGeom prst="rect">
            <a:avLst/>
          </a:prstGeom>
          <a:noFill/>
          <a:ln/>
        </p:spPr>
        <p:txBody>
          <a:bodyPr wrap="square" lIns="0" tIns="0" rIns="0" bIns="0" rtlCol="0" anchor="ctr"/>
          <a:lstStyle/>
          <a:p>
            <a:pPr algn="ctr" indent="0" marL="0">
              <a:buNone/>
            </a:pPr>
            <a:r>
              <a:rPr lang="en-US" sz="1100" b="1" dirty="0">
                <a:solidFill>
                  <a:srgbClr val="F2A541"/>
                </a:solidFill>
              </a:rPr>
              <a:t>Kids'</a:t>
            </a:r>
            <a:endParaRPr lang="en-US" sz="1100" dirty="0"/>
          </a:p>
        </p:txBody>
      </p:sp>
      <p:sp>
        <p:nvSpPr>
          <p:cNvPr id="40" name="Text 35"/>
          <p:cNvSpPr txBox="1"/>
          <p:nvPr/>
        </p:nvSpPr>
        <p:spPr>
          <a:xfrm>
            <a:off x="7178040" y="5303520"/>
            <a:ext cx="4114800" cy="320040"/>
          </a:xfrm>
          <a:prstGeom prst="rect">
            <a:avLst/>
          </a:prstGeom>
          <a:noFill/>
          <a:ln/>
        </p:spPr>
        <p:txBody>
          <a:bodyPr wrap="square" lIns="0" tIns="0" rIns="0" bIns="0" rtlCol="0" anchor="ctr"/>
          <a:lstStyle/>
          <a:p>
            <a:pPr indent="0" marL="0">
              <a:buNone/>
            </a:pPr>
            <a:r>
              <a:rPr lang="en-US" sz="1300" i="1" dirty="0">
                <a:solidFill>
                  <a:schemeClr val="accent3"/>
                </a:solidFill>
              </a:rPr>
              <a:t>Tracked by size, color and location</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PROJECT FEASIBILITY ANALYSIS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6" name="Staff website"/>
          <p:cNvSpPr/>
          <p:nvPr/>
        </p:nvSpPr>
        <p:spPr>
          <a:xfrm>
            <a:off x="548640" y="1645920"/>
            <a:ext cx="2651760" cy="4297680"/>
          </a:xfrm>
          <a:prstGeom prst="roundRect">
            <a:avLst>
              <a:gd name="adj" fmla="val 3448"/>
            </a:avLst>
          </a:prstGeom>
          <a:solidFill>
            <a:schemeClr val="tx1"/>
          </a:solidFill>
          <a:ln w="12700">
            <a:solidFill>
              <a:schemeClr val="tx1"/>
            </a:solidFill>
            <a:prstDash val="solid"/>
          </a:ln>
          <a:effectLst>
            <a:outerShdw sx="100000" sy="100000" kx="0" ky="0" algn="bl" rotWithShape="0" blurRad="101600" dist="25400" dir="5400000">
              <a:srgbClr val="1B2A41">
                <a:alpha val="12000"/>
              </a:srgbClr>
            </a:outerShdw>
          </a:effectLst>
        </p:spPr>
      </p:sp>
      <p:sp>
        <p:nvSpPr>
          <p:cNvPr id="7" name="Staff website circle"/>
          <p:cNvSpPr/>
          <p:nvPr/>
        </p:nvSpPr>
        <p:spPr>
          <a:xfrm>
            <a:off x="1371600" y="2011680"/>
            <a:ext cx="1005840" cy="1005840"/>
          </a:xfrm>
          <a:prstGeom prst="ellipse">
            <a:avLst/>
          </a:prstGeom>
          <a:solidFill>
            <a:schemeClr val="accent1"/>
          </a:solidFill>
          <a:ln w="12700">
            <a:solidFill>
              <a:schemeClr val="accent1"/>
            </a:solidFill>
            <a:prstDash val="solid"/>
          </a:ln>
        </p:spPr>
      </p:sp>
      <p:pic>
        <p:nvPicPr>
          <p:cNvPr id="8" name="Image 0" descr="Staff website icon">    </p:cNvPr>
          <p:cNvPicPr>
            <a:picLocks noChangeAspect="1"/>
          </p:cNvPicPr>
          <p:nvPr/>
        </p:nvPicPr>
        <p:blipFill>
          <a:blip r:embed="rId1"/>
          <a:stretch>
            <a:fillRect/>
          </a:stretch>
        </p:blipFill>
        <p:spPr>
          <a:xfrm>
            <a:off x="1592885" y="2232965"/>
            <a:ext cx="563270" cy="563270"/>
          </a:xfrm>
          <a:prstGeom prst="rect">
            <a:avLst/>
          </a:prstGeom>
        </p:spPr>
      </p:pic>
      <p:sp>
        <p:nvSpPr>
          <p:cNvPr id="9" name="Text 6"/>
          <p:cNvSpPr txBox="1"/>
          <p:nvPr/>
        </p:nvSpPr>
        <p:spPr>
          <a:xfrm>
            <a:off x="731520" y="3200400"/>
            <a:ext cx="2286000" cy="411480"/>
          </a:xfrm>
          <a:prstGeom prst="rect">
            <a:avLst/>
          </a:prstGeom>
          <a:noFill/>
          <a:ln/>
        </p:spPr>
        <p:txBody>
          <a:bodyPr wrap="square" lIns="0" tIns="0" rIns="0" bIns="0" rtlCol="0" anchor="ctr"/>
          <a:lstStyle/>
          <a:p>
            <a:pPr algn="ctr" indent="0" marL="0">
              <a:buNone/>
            </a:pPr>
            <a:r>
              <a:rPr lang="en-US" sz="2000" b="1" dirty="0">
                <a:solidFill>
                  <a:schemeClr val="bg1"/>
                </a:solidFill>
              </a:rPr>
              <a:t>Staff Website</a:t>
            </a:r>
            <a:endParaRPr lang="en-US" sz="2000" dirty="0"/>
          </a:p>
        </p:txBody>
      </p:sp>
      <p:sp>
        <p:nvSpPr>
          <p:cNvPr id="10" name="Text 7"/>
          <p:cNvSpPr txBox="1"/>
          <p:nvPr/>
        </p:nvSpPr>
        <p:spPr>
          <a:xfrm>
            <a:off x="731520" y="3749040"/>
            <a:ext cx="2286000" cy="1188720"/>
          </a:xfrm>
          <a:prstGeom prst="rect">
            <a:avLst/>
          </a:prstGeom>
          <a:noFill/>
          <a:ln/>
        </p:spPr>
        <p:txBody>
          <a:bodyPr wrap="square" lIns="0" tIns="0" rIns="0" bIns="0" rtlCol="0" anchor="t"/>
          <a:lstStyle/>
          <a:p>
            <a:pPr algn="ctr" indent="0" marL="0">
              <a:buNone/>
            </a:pPr>
            <a:r>
              <a:rPr lang="en-US" sz="1400" dirty="0">
                <a:solidFill>
                  <a:schemeClr val="accent4"/>
                </a:solidFill>
              </a:rPr>
              <a:t>Add stock</a:t>
            </a:r>
            <a:endParaRPr lang="en-US" sz="1400" dirty="0"/>
          </a:p>
          <a:p>
            <a:pPr algn="ctr" indent="0" marL="0">
              <a:buNone/>
            </a:pPr>
            <a:r>
              <a:rPr lang="en-US" sz="1400" dirty="0">
                <a:solidFill>
                  <a:schemeClr val="accent4"/>
                </a:solidFill>
              </a:rPr>
              <a:t>Create orders</a:t>
            </a:r>
            <a:endParaRPr lang="en-US" sz="1400" dirty="0"/>
          </a:p>
          <a:p>
            <a:pPr algn="ctr" indent="0" marL="0">
              <a:buNone/>
            </a:pPr>
            <a:r>
              <a:rPr lang="en-US" sz="1400" dirty="0">
                <a:solidFill>
                  <a:schemeClr val="accent4"/>
                </a:solidFill>
              </a:rPr>
              <a:t>Update deliveries</a:t>
            </a:r>
            <a:endParaRPr lang="en-US" sz="1400" dirty="0"/>
          </a:p>
        </p:txBody>
      </p:sp>
      <p:sp>
        <p:nvSpPr>
          <p:cNvPr id="11" name="Stock and order service"/>
          <p:cNvSpPr/>
          <p:nvPr/>
        </p:nvSpPr>
        <p:spPr>
          <a:xfrm>
            <a:off x="3840480" y="1645920"/>
            <a:ext cx="3291840" cy="1325880"/>
          </a:xfrm>
          <a:prstGeom prst="roundRect">
            <a:avLst>
              <a:gd name="adj" fmla="val 6897"/>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2" name="Text 9"/>
          <p:cNvSpPr txBox="1"/>
          <p:nvPr/>
        </p:nvSpPr>
        <p:spPr>
          <a:xfrm>
            <a:off x="4023360" y="1828800"/>
            <a:ext cx="2926080" cy="457200"/>
          </a:xfrm>
          <a:prstGeom prst="rect">
            <a:avLst/>
          </a:prstGeom>
          <a:noFill/>
          <a:ln/>
        </p:spPr>
        <p:txBody>
          <a:bodyPr wrap="square" lIns="0" tIns="0" rIns="0" bIns="0" rtlCol="0" anchor="ctr"/>
          <a:lstStyle/>
          <a:p>
            <a:pPr algn="ctr" indent="0" marL="0">
              <a:buNone/>
            </a:pPr>
            <a:r>
              <a:rPr lang="en-US" sz="1800" b="1" dirty="0">
                <a:solidFill>
                  <a:schemeClr val="tx1"/>
                </a:solidFill>
              </a:rPr>
              <a:t>Stock &amp; Order Service</a:t>
            </a:r>
            <a:endParaRPr lang="en-US" sz="1800" dirty="0"/>
          </a:p>
        </p:txBody>
      </p:sp>
      <p:sp>
        <p:nvSpPr>
          <p:cNvPr id="13" name="Text 10"/>
          <p:cNvSpPr txBox="1"/>
          <p:nvPr/>
        </p:nvSpPr>
        <p:spPr>
          <a:xfrm>
            <a:off x="4023360" y="2286000"/>
            <a:ext cx="2926080" cy="548640"/>
          </a:xfrm>
          <a:prstGeom prst="rect">
            <a:avLst/>
          </a:prstGeom>
          <a:noFill/>
          <a:ln/>
        </p:spPr>
        <p:txBody>
          <a:bodyPr wrap="square" lIns="0" tIns="0" rIns="0" bIns="0" rtlCol="0" anchor="t"/>
          <a:lstStyle/>
          <a:p>
            <a:pPr algn="ctr" indent="0" marL="0">
              <a:buNone/>
            </a:pPr>
            <a:r>
              <a:rPr lang="en-US" sz="1300" dirty="0">
                <a:solidFill>
                  <a:schemeClr val="accent3"/>
                </a:solidFill>
              </a:rPr>
              <a:t>Handles stock and order requests</a:t>
            </a:r>
            <a:endParaRPr lang="en-US" sz="1300" dirty="0"/>
          </a:p>
        </p:txBody>
      </p:sp>
      <p:sp>
        <p:nvSpPr>
          <p:cNvPr id="14" name="MySQL"/>
          <p:cNvSpPr/>
          <p:nvPr/>
        </p:nvSpPr>
        <p:spPr>
          <a:xfrm>
            <a:off x="7772400" y="1645920"/>
            <a:ext cx="3840480" cy="1325880"/>
          </a:xfrm>
          <a:prstGeom prst="roundRect">
            <a:avLst>
              <a:gd name="adj" fmla="val 6897"/>
            </a:avLst>
          </a:prstGeom>
          <a:solidFill>
            <a:schemeClr val="tx2"/>
          </a:solidFill>
          <a:ln w="12700">
            <a:solidFill>
              <a:schemeClr val="tx2"/>
            </a:solidFill>
            <a:prstDash val="solid"/>
          </a:ln>
          <a:effectLst>
            <a:outerShdw sx="100000" sy="100000" kx="0" ky="0" algn="bl" rotWithShape="0" blurRad="101600" dist="25400" dir="5400000">
              <a:srgbClr val="1B2A41">
                <a:alpha val="12000"/>
              </a:srgbClr>
            </a:outerShdw>
          </a:effectLst>
        </p:spPr>
      </p:sp>
      <p:sp>
        <p:nvSpPr>
          <p:cNvPr id="15" name="Text 12"/>
          <p:cNvSpPr txBox="1"/>
          <p:nvPr/>
        </p:nvSpPr>
        <p:spPr>
          <a:xfrm>
            <a:off x="7955280" y="1828800"/>
            <a:ext cx="3474720" cy="457200"/>
          </a:xfrm>
          <a:prstGeom prst="rect">
            <a:avLst/>
          </a:prstGeom>
          <a:noFill/>
          <a:ln/>
        </p:spPr>
        <p:txBody>
          <a:bodyPr wrap="square" lIns="0" tIns="0" rIns="0" bIns="0" rtlCol="0" anchor="ctr"/>
          <a:lstStyle/>
          <a:p>
            <a:pPr algn="ctr" indent="0" marL="0">
              <a:buNone/>
            </a:pPr>
            <a:r>
              <a:rPr lang="en-US" sz="1800" b="1" dirty="0">
                <a:solidFill>
                  <a:schemeClr val="bg1"/>
                </a:solidFill>
              </a:rPr>
              <a:t>MySQL</a:t>
            </a:r>
            <a:endParaRPr lang="en-US" sz="1800" dirty="0"/>
          </a:p>
        </p:txBody>
      </p:sp>
      <p:sp>
        <p:nvSpPr>
          <p:cNvPr id="16" name="Text 13"/>
          <p:cNvSpPr txBox="1"/>
          <p:nvPr/>
        </p:nvSpPr>
        <p:spPr>
          <a:xfrm>
            <a:off x="7955280" y="2286000"/>
            <a:ext cx="3474720" cy="548640"/>
          </a:xfrm>
          <a:prstGeom prst="rect">
            <a:avLst/>
          </a:prstGeom>
          <a:noFill/>
          <a:ln/>
        </p:spPr>
        <p:txBody>
          <a:bodyPr wrap="square" lIns="0" tIns="0" rIns="0" bIns="0" rtlCol="0" anchor="t"/>
          <a:lstStyle/>
          <a:p>
            <a:pPr algn="ctr" indent="0" marL="0">
              <a:buNone/>
            </a:pPr>
            <a:r>
              <a:rPr lang="en-US" sz="1300" dirty="0">
                <a:solidFill>
                  <a:schemeClr val="accent4"/>
                </a:solidFill>
              </a:rPr>
              <a:t>Stock and orders</a:t>
            </a:r>
            <a:endParaRPr lang="en-US" sz="1300" dirty="0"/>
          </a:p>
        </p:txBody>
      </p:sp>
      <p:sp>
        <p:nvSpPr>
          <p:cNvPr id="17" name="Delivery service"/>
          <p:cNvSpPr/>
          <p:nvPr/>
        </p:nvSpPr>
        <p:spPr>
          <a:xfrm>
            <a:off x="3840480" y="4617720"/>
            <a:ext cx="3291840" cy="1325880"/>
          </a:xfrm>
          <a:prstGeom prst="roundRect">
            <a:avLst>
              <a:gd name="adj" fmla="val 6897"/>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8" name="Text 15"/>
          <p:cNvSpPr txBox="1"/>
          <p:nvPr/>
        </p:nvSpPr>
        <p:spPr>
          <a:xfrm>
            <a:off x="4023360" y="4800600"/>
            <a:ext cx="2926080" cy="457200"/>
          </a:xfrm>
          <a:prstGeom prst="rect">
            <a:avLst/>
          </a:prstGeom>
          <a:noFill/>
          <a:ln/>
        </p:spPr>
        <p:txBody>
          <a:bodyPr wrap="square" lIns="0" tIns="0" rIns="0" bIns="0" rtlCol="0" anchor="ctr"/>
          <a:lstStyle/>
          <a:p>
            <a:pPr algn="ctr" indent="0" marL="0">
              <a:buNone/>
            </a:pPr>
            <a:r>
              <a:rPr lang="en-US" sz="1800" b="1" dirty="0">
                <a:solidFill>
                  <a:schemeClr val="tx1"/>
                </a:solidFill>
              </a:rPr>
              <a:t>Delivery Updates Service</a:t>
            </a:r>
            <a:endParaRPr lang="en-US" sz="1800" dirty="0"/>
          </a:p>
        </p:txBody>
      </p:sp>
      <p:sp>
        <p:nvSpPr>
          <p:cNvPr id="19" name="Text 16"/>
          <p:cNvSpPr txBox="1"/>
          <p:nvPr/>
        </p:nvSpPr>
        <p:spPr>
          <a:xfrm>
            <a:off x="4023360" y="5257800"/>
            <a:ext cx="2926080" cy="548640"/>
          </a:xfrm>
          <a:prstGeom prst="rect">
            <a:avLst/>
          </a:prstGeom>
          <a:noFill/>
          <a:ln/>
        </p:spPr>
        <p:txBody>
          <a:bodyPr wrap="square" lIns="0" tIns="0" rIns="0" bIns="0" rtlCol="0" anchor="t"/>
          <a:lstStyle/>
          <a:p>
            <a:pPr algn="ctr" indent="0" marL="0">
              <a:buNone/>
            </a:pPr>
            <a:r>
              <a:rPr lang="en-US" sz="1300" dirty="0">
                <a:solidFill>
                  <a:schemeClr val="accent3"/>
                </a:solidFill>
              </a:rPr>
              <a:t>Handles shipment status changes</a:t>
            </a:r>
            <a:endParaRPr lang="en-US" sz="1300" dirty="0"/>
          </a:p>
        </p:txBody>
      </p:sp>
      <p:sp>
        <p:nvSpPr>
          <p:cNvPr id="20" name="MongoDB"/>
          <p:cNvSpPr/>
          <p:nvPr/>
        </p:nvSpPr>
        <p:spPr>
          <a:xfrm>
            <a:off x="7772400" y="4617720"/>
            <a:ext cx="3840480" cy="1325880"/>
          </a:xfrm>
          <a:prstGeom prst="roundRect">
            <a:avLst>
              <a:gd name="adj" fmla="val 6897"/>
            </a:avLst>
          </a:prstGeom>
          <a:solidFill>
            <a:schemeClr val="tx2"/>
          </a:solidFill>
          <a:ln w="12700">
            <a:solidFill>
              <a:schemeClr val="tx2"/>
            </a:solidFill>
            <a:prstDash val="solid"/>
          </a:ln>
          <a:effectLst>
            <a:outerShdw sx="100000" sy="100000" kx="0" ky="0" algn="bl" rotWithShape="0" blurRad="101600" dist="25400" dir="5400000">
              <a:srgbClr val="1B2A41">
                <a:alpha val="12000"/>
              </a:srgbClr>
            </a:outerShdw>
          </a:effectLst>
        </p:spPr>
      </p:sp>
      <p:sp>
        <p:nvSpPr>
          <p:cNvPr id="21" name="Text 18"/>
          <p:cNvSpPr txBox="1"/>
          <p:nvPr/>
        </p:nvSpPr>
        <p:spPr>
          <a:xfrm>
            <a:off x="7955280" y="4800600"/>
            <a:ext cx="3474720" cy="457200"/>
          </a:xfrm>
          <a:prstGeom prst="rect">
            <a:avLst/>
          </a:prstGeom>
          <a:noFill/>
          <a:ln/>
        </p:spPr>
        <p:txBody>
          <a:bodyPr wrap="square" lIns="0" tIns="0" rIns="0" bIns="0" rtlCol="0" anchor="ctr"/>
          <a:lstStyle/>
          <a:p>
            <a:pPr algn="ctr" indent="0" marL="0">
              <a:buNone/>
            </a:pPr>
            <a:r>
              <a:rPr lang="en-US" sz="1800" b="1" dirty="0">
                <a:solidFill>
                  <a:schemeClr val="bg1"/>
                </a:solidFill>
              </a:rPr>
              <a:t>MongoDB</a:t>
            </a:r>
            <a:endParaRPr lang="en-US" sz="1800" dirty="0"/>
          </a:p>
        </p:txBody>
      </p:sp>
      <p:sp>
        <p:nvSpPr>
          <p:cNvPr id="22" name="Text 19"/>
          <p:cNvSpPr txBox="1"/>
          <p:nvPr/>
        </p:nvSpPr>
        <p:spPr>
          <a:xfrm>
            <a:off x="7955280" y="5257800"/>
            <a:ext cx="3474720" cy="548640"/>
          </a:xfrm>
          <a:prstGeom prst="rect">
            <a:avLst/>
          </a:prstGeom>
          <a:noFill/>
          <a:ln/>
        </p:spPr>
        <p:txBody>
          <a:bodyPr wrap="square" lIns="0" tIns="0" rIns="0" bIns="0" rtlCol="0" anchor="t"/>
          <a:lstStyle/>
          <a:p>
            <a:pPr algn="ctr" indent="0" marL="0">
              <a:buNone/>
            </a:pPr>
            <a:r>
              <a:rPr lang="en-US" sz="1300" dirty="0">
                <a:solidFill>
                  <a:schemeClr val="accent4"/>
                </a:solidFill>
              </a:rPr>
              <a:t>Flexible delivery updates</a:t>
            </a:r>
            <a:endParaRPr lang="en-US" sz="1300" dirty="0"/>
          </a:p>
        </p:txBody>
      </p:sp>
      <p:sp>
        <p:nvSpPr>
          <p:cNvPr id="23" name="Kafka band"/>
          <p:cNvSpPr/>
          <p:nvPr/>
        </p:nvSpPr>
        <p:spPr>
          <a:xfrm>
            <a:off x="3840480" y="3383280"/>
            <a:ext cx="3291840" cy="822960"/>
          </a:xfrm>
          <a:prstGeom prst="roundRect">
            <a:avLst>
              <a:gd name="adj" fmla="val 11111"/>
            </a:avLst>
          </a:prstGeom>
          <a:solidFill>
            <a:schemeClr val="accent1"/>
          </a:solidFill>
          <a:ln w="12700">
            <a:solidFill>
              <a:schemeClr val="accent1"/>
            </a:solidFill>
            <a:prstDash val="solid"/>
          </a:ln>
          <a:effectLst>
            <a:outerShdw sx="100000" sy="100000" kx="0" ky="0" algn="bl" rotWithShape="0" blurRad="101600" dist="25400" dir="5400000">
              <a:srgbClr val="1B2A41">
                <a:alpha val="12000"/>
              </a:srgbClr>
            </a:outerShdw>
          </a:effectLst>
        </p:spPr>
      </p:sp>
      <p:sp>
        <p:nvSpPr>
          <p:cNvPr id="24" name="Text 21"/>
          <p:cNvSpPr txBox="1"/>
          <p:nvPr/>
        </p:nvSpPr>
        <p:spPr>
          <a:xfrm>
            <a:off x="3840480" y="3383280"/>
            <a:ext cx="3291840" cy="822960"/>
          </a:xfrm>
          <a:prstGeom prst="rect">
            <a:avLst/>
          </a:prstGeom>
          <a:noFill/>
          <a:ln/>
        </p:spPr>
        <p:txBody>
          <a:bodyPr wrap="square" lIns="0" tIns="0" rIns="0" bIns="0" rtlCol="0" anchor="ctr"/>
          <a:lstStyle/>
          <a:p>
            <a:pPr algn="ctr" indent="0" marL="0">
              <a:buNone/>
            </a:pPr>
            <a:r>
              <a:rPr lang="en-US" sz="1700" b="1" dirty="0">
                <a:solidFill>
                  <a:schemeClr val="tx1"/>
                </a:solidFill>
              </a:rPr>
              <a:t>Kafka: shipment events</a:t>
            </a:r>
            <a:endParaRPr lang="en-US" sz="1700" dirty="0"/>
          </a:p>
        </p:txBody>
      </p:sp>
      <p:sp>
        <p:nvSpPr>
          <p:cNvPr id="25" name="Shape 22"/>
          <p:cNvSpPr/>
          <p:nvPr/>
        </p:nvSpPr>
        <p:spPr>
          <a:xfrm>
            <a:off x="3218688" y="2304288"/>
            <a:ext cx="603504" cy="0"/>
          </a:xfrm>
          <a:prstGeom prst="line">
            <a:avLst/>
          </a:prstGeom>
          <a:noFill/>
          <a:ln w="28575">
            <a:solidFill>
              <a:srgbClr val="3E5C76"/>
            </a:solidFill>
            <a:prstDash val="solid"/>
            <a:tailEnd type="triangle"/>
          </a:ln>
        </p:spPr>
      </p:sp>
      <p:sp>
        <p:nvSpPr>
          <p:cNvPr id="26" name="Shape 23"/>
          <p:cNvSpPr/>
          <p:nvPr/>
        </p:nvSpPr>
        <p:spPr>
          <a:xfrm>
            <a:off x="3218688" y="5285232"/>
            <a:ext cx="603504" cy="0"/>
          </a:xfrm>
          <a:prstGeom prst="line">
            <a:avLst/>
          </a:prstGeom>
          <a:noFill/>
          <a:ln w="28575">
            <a:solidFill>
              <a:srgbClr val="3E5C76"/>
            </a:solidFill>
            <a:prstDash val="solid"/>
            <a:tailEnd type="triangle"/>
          </a:ln>
        </p:spPr>
      </p:sp>
      <p:sp>
        <p:nvSpPr>
          <p:cNvPr id="27" name="Shape 24"/>
          <p:cNvSpPr/>
          <p:nvPr/>
        </p:nvSpPr>
        <p:spPr>
          <a:xfrm>
            <a:off x="7150608" y="2304288"/>
            <a:ext cx="603504" cy="0"/>
          </a:xfrm>
          <a:prstGeom prst="line">
            <a:avLst/>
          </a:prstGeom>
          <a:noFill/>
          <a:ln w="28575">
            <a:solidFill>
              <a:srgbClr val="3E5C76"/>
            </a:solidFill>
            <a:prstDash val="solid"/>
            <a:tailEnd type="triangle"/>
          </a:ln>
        </p:spPr>
      </p:sp>
      <p:sp>
        <p:nvSpPr>
          <p:cNvPr id="28" name="Shape 25"/>
          <p:cNvSpPr/>
          <p:nvPr/>
        </p:nvSpPr>
        <p:spPr>
          <a:xfrm>
            <a:off x="7150608" y="5285232"/>
            <a:ext cx="603504" cy="0"/>
          </a:xfrm>
          <a:prstGeom prst="line">
            <a:avLst/>
          </a:prstGeom>
          <a:noFill/>
          <a:ln w="28575">
            <a:solidFill>
              <a:srgbClr val="3E5C76"/>
            </a:solidFill>
            <a:prstDash val="solid"/>
            <a:tailEnd type="triangle"/>
          </a:ln>
        </p:spPr>
      </p:sp>
      <p:sp>
        <p:nvSpPr>
          <p:cNvPr id="29" name="Shape 26"/>
          <p:cNvSpPr/>
          <p:nvPr/>
        </p:nvSpPr>
        <p:spPr>
          <a:xfrm>
            <a:off x="5486400" y="2990088"/>
            <a:ext cx="0" cy="374904"/>
          </a:xfrm>
          <a:prstGeom prst="line">
            <a:avLst/>
          </a:prstGeom>
          <a:noFill/>
          <a:ln w="28575">
            <a:solidFill>
              <a:srgbClr val="3E5C76"/>
            </a:solidFill>
            <a:prstDash val="solid"/>
            <a:tailEnd type="triangle"/>
          </a:ln>
        </p:spPr>
      </p:sp>
      <p:sp>
        <p:nvSpPr>
          <p:cNvPr id="30" name="Shape 27"/>
          <p:cNvSpPr/>
          <p:nvPr/>
        </p:nvSpPr>
        <p:spPr>
          <a:xfrm>
            <a:off x="5486400" y="4224528"/>
            <a:ext cx="0" cy="374904"/>
          </a:xfrm>
          <a:prstGeom prst="line">
            <a:avLst/>
          </a:prstGeom>
          <a:noFill/>
          <a:ln w="28575">
            <a:solidFill>
              <a:srgbClr val="3E5C76"/>
            </a:solidFill>
            <a:prstDash val="solid"/>
            <a:tailEnd type="triangle"/>
          </a:ln>
        </p:spPr>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PROJECT FEASIBILITY ANALYSIS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Is DockFlow feasible? Yes, on four counts</a:t>
            </a:r>
            <a:endParaRPr lang="en-US" sz="3200" dirty="0"/>
          </a:p>
        </p:txBody>
      </p:sp>
      <p:sp>
        <p:nvSpPr>
          <p:cNvPr id="6" name="Feasibility Technical"/>
          <p:cNvSpPr/>
          <p:nvPr/>
        </p:nvSpPr>
        <p:spPr>
          <a:xfrm>
            <a:off x="548640" y="1554480"/>
            <a:ext cx="5440680" cy="2103120"/>
          </a:xfrm>
          <a:prstGeom prst="roundRect">
            <a:avLst>
              <a:gd name="adj" fmla="val 4348"/>
            </a:avLst>
          </a:prstGeom>
          <a:solidFill>
            <a:schemeClr val="tx2"/>
          </a:solidFill>
          <a:ln w="12700">
            <a:solidFill>
              <a:schemeClr val="tx2"/>
            </a:solidFill>
            <a:prstDash val="solid"/>
          </a:ln>
        </p:spPr>
      </p:sp>
      <p:sp>
        <p:nvSpPr>
          <p:cNvPr id="7" name="Technical circle"/>
          <p:cNvSpPr/>
          <p:nvPr/>
        </p:nvSpPr>
        <p:spPr>
          <a:xfrm>
            <a:off x="822960" y="1828800"/>
            <a:ext cx="640080" cy="640080"/>
          </a:xfrm>
          <a:prstGeom prst="ellipse">
            <a:avLst/>
          </a:prstGeom>
          <a:solidFill>
            <a:schemeClr val="accent1"/>
          </a:solidFill>
          <a:ln w="12700">
            <a:solidFill>
              <a:schemeClr val="accent1"/>
            </a:solidFill>
            <a:prstDash val="solid"/>
          </a:ln>
        </p:spPr>
      </p:sp>
      <p:pic>
        <p:nvPicPr>
          <p:cNvPr id="8" name="Image 0" descr="Technical icon">    </p:cNvPr>
          <p:cNvPicPr>
            <a:picLocks noChangeAspect="1"/>
          </p:cNvPicPr>
          <p:nvPr/>
        </p:nvPicPr>
        <p:blipFill>
          <a:blip r:embed="rId1"/>
          <a:stretch>
            <a:fillRect/>
          </a:stretch>
        </p:blipFill>
        <p:spPr>
          <a:xfrm>
            <a:off x="963778" y="1969618"/>
            <a:ext cx="358445" cy="358445"/>
          </a:xfrm>
          <a:prstGeom prst="rect">
            <a:avLst/>
          </a:prstGeom>
        </p:spPr>
      </p:pic>
      <p:sp>
        <p:nvSpPr>
          <p:cNvPr id="9" name="Text 6"/>
          <p:cNvSpPr txBox="1"/>
          <p:nvPr/>
        </p:nvSpPr>
        <p:spPr>
          <a:xfrm>
            <a:off x="1645920" y="1828800"/>
            <a:ext cx="2651760" cy="640080"/>
          </a:xfrm>
          <a:prstGeom prst="rect">
            <a:avLst/>
          </a:prstGeom>
          <a:noFill/>
          <a:ln/>
        </p:spPr>
        <p:txBody>
          <a:bodyPr wrap="square" lIns="0" tIns="0" rIns="0" bIns="0" rtlCol="0" anchor="ctr"/>
          <a:lstStyle/>
          <a:p>
            <a:pPr indent="0" marL="0">
              <a:buNone/>
            </a:pPr>
            <a:r>
              <a:rPr lang="en-US" sz="2000" b="1" dirty="0">
                <a:solidFill>
                  <a:schemeClr val="bg1"/>
                </a:solidFill>
              </a:rPr>
              <a:t>Technical</a:t>
            </a:r>
            <a:endParaRPr lang="en-US" sz="2000" dirty="0"/>
          </a:p>
        </p:txBody>
      </p:sp>
      <p:sp>
        <p:nvSpPr>
          <p:cNvPr id="10" name="Pill FEASIBLE"/>
          <p:cNvSpPr/>
          <p:nvPr/>
        </p:nvSpPr>
        <p:spPr>
          <a:xfrm>
            <a:off x="4572000" y="2002536"/>
            <a:ext cx="1188720" cy="292608"/>
          </a:xfrm>
          <a:prstGeom prst="roundRect">
            <a:avLst>
              <a:gd name="adj" fmla="val 50000"/>
            </a:avLst>
          </a:prstGeom>
          <a:solidFill>
            <a:schemeClr val="accent1"/>
          </a:solidFill>
          <a:ln w="12700">
            <a:solidFill>
              <a:schemeClr val="accent1"/>
            </a:solidFill>
            <a:prstDash val="solid"/>
          </a:ln>
        </p:spPr>
      </p:sp>
      <p:sp>
        <p:nvSpPr>
          <p:cNvPr id="11" name="Text 8"/>
          <p:cNvSpPr txBox="1"/>
          <p:nvPr/>
        </p:nvSpPr>
        <p:spPr>
          <a:xfrm>
            <a:off x="4572000" y="2002536"/>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FEASIBLE</a:t>
            </a:r>
            <a:endParaRPr lang="en-US" sz="1100" dirty="0"/>
          </a:p>
        </p:txBody>
      </p:sp>
      <p:sp>
        <p:nvSpPr>
          <p:cNvPr id="12" name="Text 9"/>
          <p:cNvSpPr txBox="1"/>
          <p:nvPr/>
        </p:nvSpPr>
        <p:spPr>
          <a:xfrm>
            <a:off x="868680" y="2651760"/>
            <a:ext cx="4846320" cy="8686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accent4"/>
                </a:solidFill>
              </a:rPr>
              <a:t>MySQL, MongoDB and Kafka are established, open-source tools</a:t>
            </a:r>
            <a:endParaRPr lang="en-US" sz="1400" dirty="0"/>
          </a:p>
          <a:p>
            <a:pPr marL="203200" indent="-203200">
              <a:spcAft>
                <a:spcPts val="500"/>
              </a:spcAft>
              <a:buSzPct val="100000"/>
              <a:buChar char="•"/>
            </a:pPr>
            <a:r>
              <a:rPr lang="en-US" sz="1400" dirty="0">
                <a:solidFill>
                  <a:schemeClr val="accent4"/>
                </a:solidFill>
              </a:rPr>
              <a:t>Each tool has a clear job in the design</a:t>
            </a:r>
            <a:endParaRPr lang="en-US" sz="1400" dirty="0"/>
          </a:p>
        </p:txBody>
      </p:sp>
      <p:sp>
        <p:nvSpPr>
          <p:cNvPr id="13" name="Feasibility Operational"/>
          <p:cNvSpPr/>
          <p:nvPr/>
        </p:nvSpPr>
        <p:spPr>
          <a:xfrm>
            <a:off x="6172200" y="1554480"/>
            <a:ext cx="5440680" cy="2103120"/>
          </a:xfrm>
          <a:prstGeom prst="roundRect">
            <a:avLst>
              <a:gd name="adj" fmla="val 4348"/>
            </a:avLst>
          </a:prstGeom>
          <a:solidFill>
            <a:schemeClr val="tx2"/>
          </a:solidFill>
          <a:ln w="12700">
            <a:solidFill>
              <a:schemeClr val="tx2"/>
            </a:solidFill>
            <a:prstDash val="solid"/>
          </a:ln>
        </p:spPr>
      </p:sp>
      <p:sp>
        <p:nvSpPr>
          <p:cNvPr id="14" name="Operational circle"/>
          <p:cNvSpPr/>
          <p:nvPr/>
        </p:nvSpPr>
        <p:spPr>
          <a:xfrm>
            <a:off x="6446520" y="1828800"/>
            <a:ext cx="640080" cy="640080"/>
          </a:xfrm>
          <a:prstGeom prst="ellipse">
            <a:avLst/>
          </a:prstGeom>
          <a:solidFill>
            <a:schemeClr val="accent1"/>
          </a:solidFill>
          <a:ln w="12700">
            <a:solidFill>
              <a:schemeClr val="accent1"/>
            </a:solidFill>
            <a:prstDash val="solid"/>
          </a:ln>
        </p:spPr>
      </p:sp>
      <p:pic>
        <p:nvPicPr>
          <p:cNvPr id="15" name="Image 1" descr="Operational icon">    </p:cNvPr>
          <p:cNvPicPr>
            <a:picLocks noChangeAspect="1"/>
          </p:cNvPicPr>
          <p:nvPr/>
        </p:nvPicPr>
        <p:blipFill>
          <a:blip r:embed="rId2"/>
          <a:stretch>
            <a:fillRect/>
          </a:stretch>
        </p:blipFill>
        <p:spPr>
          <a:xfrm>
            <a:off x="6587338" y="1969618"/>
            <a:ext cx="358445" cy="358445"/>
          </a:xfrm>
          <a:prstGeom prst="rect">
            <a:avLst/>
          </a:prstGeom>
        </p:spPr>
      </p:pic>
      <p:sp>
        <p:nvSpPr>
          <p:cNvPr id="16" name="Text 12"/>
          <p:cNvSpPr txBox="1"/>
          <p:nvPr/>
        </p:nvSpPr>
        <p:spPr>
          <a:xfrm>
            <a:off x="7269480" y="1828800"/>
            <a:ext cx="2651760" cy="640080"/>
          </a:xfrm>
          <a:prstGeom prst="rect">
            <a:avLst/>
          </a:prstGeom>
          <a:noFill/>
          <a:ln/>
        </p:spPr>
        <p:txBody>
          <a:bodyPr wrap="square" lIns="0" tIns="0" rIns="0" bIns="0" rtlCol="0" anchor="ctr"/>
          <a:lstStyle/>
          <a:p>
            <a:pPr indent="0" marL="0">
              <a:buNone/>
            </a:pPr>
            <a:r>
              <a:rPr lang="en-US" sz="2000" b="1" dirty="0">
                <a:solidFill>
                  <a:schemeClr val="bg1"/>
                </a:solidFill>
              </a:rPr>
              <a:t>Operational</a:t>
            </a:r>
            <a:endParaRPr lang="en-US" sz="2000" dirty="0"/>
          </a:p>
        </p:txBody>
      </p:sp>
      <p:sp>
        <p:nvSpPr>
          <p:cNvPr id="17" name="Pill FEASIBLE"/>
          <p:cNvSpPr/>
          <p:nvPr/>
        </p:nvSpPr>
        <p:spPr>
          <a:xfrm>
            <a:off x="10195560" y="2002536"/>
            <a:ext cx="1188720" cy="292608"/>
          </a:xfrm>
          <a:prstGeom prst="roundRect">
            <a:avLst>
              <a:gd name="adj" fmla="val 50000"/>
            </a:avLst>
          </a:prstGeom>
          <a:solidFill>
            <a:schemeClr val="accent1"/>
          </a:solidFill>
          <a:ln w="12700">
            <a:solidFill>
              <a:schemeClr val="accent1"/>
            </a:solidFill>
            <a:prstDash val="solid"/>
          </a:ln>
        </p:spPr>
      </p:sp>
      <p:sp>
        <p:nvSpPr>
          <p:cNvPr id="18" name="Text 14"/>
          <p:cNvSpPr txBox="1"/>
          <p:nvPr/>
        </p:nvSpPr>
        <p:spPr>
          <a:xfrm>
            <a:off x="10195560" y="2002536"/>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FEASIBLE</a:t>
            </a:r>
            <a:endParaRPr lang="en-US" sz="1100" dirty="0"/>
          </a:p>
        </p:txBody>
      </p:sp>
      <p:sp>
        <p:nvSpPr>
          <p:cNvPr id="19" name="Text 15"/>
          <p:cNvSpPr txBox="1"/>
          <p:nvPr/>
        </p:nvSpPr>
        <p:spPr>
          <a:xfrm>
            <a:off x="6492240" y="2651760"/>
            <a:ext cx="4846320" cy="8686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accent4"/>
                </a:solidFill>
              </a:rPr>
              <a:t>One simple website for staff</a:t>
            </a:r>
            <a:endParaRPr lang="en-US" sz="1400" dirty="0"/>
          </a:p>
          <a:p>
            <a:pPr marL="203200" indent="-203200">
              <a:spcAft>
                <a:spcPts val="500"/>
              </a:spcAft>
              <a:buSzPct val="100000"/>
              <a:buChar char="•"/>
            </a:pPr>
            <a:r>
              <a:rPr lang="en-US" sz="1400" dirty="0">
                <a:solidFill>
                  <a:schemeClr val="accent4"/>
                </a:solidFill>
              </a:rPr>
              <a:t>Add stock, create orders, update deliveries</a:t>
            </a:r>
            <a:endParaRPr lang="en-US" sz="1400" dirty="0"/>
          </a:p>
        </p:txBody>
      </p:sp>
      <p:sp>
        <p:nvSpPr>
          <p:cNvPr id="20" name="Feasibility Economic"/>
          <p:cNvSpPr/>
          <p:nvPr/>
        </p:nvSpPr>
        <p:spPr>
          <a:xfrm>
            <a:off x="548640" y="3840480"/>
            <a:ext cx="5440680" cy="2103120"/>
          </a:xfrm>
          <a:prstGeom prst="roundRect">
            <a:avLst>
              <a:gd name="adj" fmla="val 4348"/>
            </a:avLst>
          </a:prstGeom>
          <a:solidFill>
            <a:schemeClr val="tx2"/>
          </a:solidFill>
          <a:ln w="12700">
            <a:solidFill>
              <a:schemeClr val="tx2"/>
            </a:solidFill>
            <a:prstDash val="solid"/>
          </a:ln>
        </p:spPr>
      </p:sp>
      <p:sp>
        <p:nvSpPr>
          <p:cNvPr id="21" name="Economic circle"/>
          <p:cNvSpPr/>
          <p:nvPr/>
        </p:nvSpPr>
        <p:spPr>
          <a:xfrm>
            <a:off x="822960" y="4114800"/>
            <a:ext cx="640080" cy="640080"/>
          </a:xfrm>
          <a:prstGeom prst="ellipse">
            <a:avLst/>
          </a:prstGeom>
          <a:solidFill>
            <a:schemeClr val="accent1"/>
          </a:solidFill>
          <a:ln w="12700">
            <a:solidFill>
              <a:schemeClr val="accent1"/>
            </a:solidFill>
            <a:prstDash val="solid"/>
          </a:ln>
        </p:spPr>
      </p:sp>
      <p:pic>
        <p:nvPicPr>
          <p:cNvPr id="22" name="Image 2" descr="Economic icon">    </p:cNvPr>
          <p:cNvPicPr>
            <a:picLocks noChangeAspect="1"/>
          </p:cNvPicPr>
          <p:nvPr/>
        </p:nvPicPr>
        <p:blipFill>
          <a:blip r:embed="rId3"/>
          <a:stretch>
            <a:fillRect/>
          </a:stretch>
        </p:blipFill>
        <p:spPr>
          <a:xfrm>
            <a:off x="963778" y="4255618"/>
            <a:ext cx="358445" cy="358445"/>
          </a:xfrm>
          <a:prstGeom prst="rect">
            <a:avLst/>
          </a:prstGeom>
        </p:spPr>
      </p:pic>
      <p:sp>
        <p:nvSpPr>
          <p:cNvPr id="23" name="Text 18"/>
          <p:cNvSpPr txBox="1"/>
          <p:nvPr/>
        </p:nvSpPr>
        <p:spPr>
          <a:xfrm>
            <a:off x="1645920" y="4114800"/>
            <a:ext cx="2651760" cy="640080"/>
          </a:xfrm>
          <a:prstGeom prst="rect">
            <a:avLst/>
          </a:prstGeom>
          <a:noFill/>
          <a:ln/>
        </p:spPr>
        <p:txBody>
          <a:bodyPr wrap="square" lIns="0" tIns="0" rIns="0" bIns="0" rtlCol="0" anchor="ctr"/>
          <a:lstStyle/>
          <a:p>
            <a:pPr indent="0" marL="0">
              <a:buNone/>
            </a:pPr>
            <a:r>
              <a:rPr lang="en-US" sz="2000" b="1" dirty="0">
                <a:solidFill>
                  <a:schemeClr val="bg1"/>
                </a:solidFill>
              </a:rPr>
              <a:t>Economic</a:t>
            </a:r>
            <a:endParaRPr lang="en-US" sz="2000" dirty="0"/>
          </a:p>
        </p:txBody>
      </p:sp>
      <p:sp>
        <p:nvSpPr>
          <p:cNvPr id="24" name="Pill FEASIBLE"/>
          <p:cNvSpPr/>
          <p:nvPr/>
        </p:nvSpPr>
        <p:spPr>
          <a:xfrm>
            <a:off x="4572000" y="4288536"/>
            <a:ext cx="1188720" cy="292608"/>
          </a:xfrm>
          <a:prstGeom prst="roundRect">
            <a:avLst>
              <a:gd name="adj" fmla="val 50000"/>
            </a:avLst>
          </a:prstGeom>
          <a:solidFill>
            <a:schemeClr val="accent1"/>
          </a:solidFill>
          <a:ln w="12700">
            <a:solidFill>
              <a:schemeClr val="accent1"/>
            </a:solidFill>
            <a:prstDash val="solid"/>
          </a:ln>
        </p:spPr>
      </p:sp>
      <p:sp>
        <p:nvSpPr>
          <p:cNvPr id="25" name="Text 20"/>
          <p:cNvSpPr txBox="1"/>
          <p:nvPr/>
        </p:nvSpPr>
        <p:spPr>
          <a:xfrm>
            <a:off x="4572000" y="4288536"/>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FEASIBLE</a:t>
            </a:r>
            <a:endParaRPr lang="en-US" sz="1100" dirty="0"/>
          </a:p>
        </p:txBody>
      </p:sp>
      <p:sp>
        <p:nvSpPr>
          <p:cNvPr id="26" name="Text 21"/>
          <p:cNvSpPr txBox="1"/>
          <p:nvPr/>
        </p:nvSpPr>
        <p:spPr>
          <a:xfrm>
            <a:off x="868680" y="4937760"/>
            <a:ext cx="4846320" cy="8686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accent4"/>
                </a:solidFill>
              </a:rPr>
              <a:t>Open-source stack, no paid integrations</a:t>
            </a:r>
            <a:endParaRPr lang="en-US" sz="1400" dirty="0"/>
          </a:p>
          <a:p>
            <a:pPr marL="203200" indent="-203200">
              <a:spcAft>
                <a:spcPts val="500"/>
              </a:spcAft>
              <a:buSzPct val="100000"/>
              <a:buChar char="•"/>
            </a:pPr>
            <a:r>
              <a:rPr lang="en-US" sz="1400" dirty="0">
                <a:solidFill>
                  <a:schemeClr val="accent4"/>
                </a:solidFill>
              </a:rPr>
              <a:t>Payments and courier GPS are out of scope</a:t>
            </a:r>
            <a:endParaRPr lang="en-US" sz="1400" dirty="0"/>
          </a:p>
        </p:txBody>
      </p:sp>
      <p:sp>
        <p:nvSpPr>
          <p:cNvPr id="27" name="Feasibility Schedule &amp; scope"/>
          <p:cNvSpPr/>
          <p:nvPr/>
        </p:nvSpPr>
        <p:spPr>
          <a:xfrm>
            <a:off x="6172200" y="3840480"/>
            <a:ext cx="5440680" cy="2103120"/>
          </a:xfrm>
          <a:prstGeom prst="roundRect">
            <a:avLst>
              <a:gd name="adj" fmla="val 4348"/>
            </a:avLst>
          </a:prstGeom>
          <a:solidFill>
            <a:schemeClr val="tx2"/>
          </a:solidFill>
          <a:ln w="12700">
            <a:solidFill>
              <a:schemeClr val="tx2"/>
            </a:solidFill>
            <a:prstDash val="solid"/>
          </a:ln>
        </p:spPr>
      </p:sp>
      <p:sp>
        <p:nvSpPr>
          <p:cNvPr id="28" name="Schedule &amp; scope circle"/>
          <p:cNvSpPr/>
          <p:nvPr/>
        </p:nvSpPr>
        <p:spPr>
          <a:xfrm>
            <a:off x="6446520" y="4114800"/>
            <a:ext cx="640080" cy="640080"/>
          </a:xfrm>
          <a:prstGeom prst="ellipse">
            <a:avLst/>
          </a:prstGeom>
          <a:solidFill>
            <a:schemeClr val="accent1"/>
          </a:solidFill>
          <a:ln w="12700">
            <a:solidFill>
              <a:schemeClr val="accent1"/>
            </a:solidFill>
            <a:prstDash val="solid"/>
          </a:ln>
        </p:spPr>
      </p:sp>
      <p:pic>
        <p:nvPicPr>
          <p:cNvPr id="29" name="Image 3" descr="Schedule &amp; scope icon">    </p:cNvPr>
          <p:cNvPicPr>
            <a:picLocks noChangeAspect="1"/>
          </p:cNvPicPr>
          <p:nvPr/>
        </p:nvPicPr>
        <p:blipFill>
          <a:blip r:embed="rId4"/>
          <a:stretch>
            <a:fillRect/>
          </a:stretch>
        </p:blipFill>
        <p:spPr>
          <a:xfrm>
            <a:off x="6587338" y="4255618"/>
            <a:ext cx="358445" cy="358445"/>
          </a:xfrm>
          <a:prstGeom prst="rect">
            <a:avLst/>
          </a:prstGeom>
        </p:spPr>
      </p:pic>
      <p:sp>
        <p:nvSpPr>
          <p:cNvPr id="30" name="Text 24"/>
          <p:cNvSpPr txBox="1"/>
          <p:nvPr/>
        </p:nvSpPr>
        <p:spPr>
          <a:xfrm>
            <a:off x="7269480" y="4114800"/>
            <a:ext cx="2651760" cy="640080"/>
          </a:xfrm>
          <a:prstGeom prst="rect">
            <a:avLst/>
          </a:prstGeom>
          <a:noFill/>
          <a:ln/>
        </p:spPr>
        <p:txBody>
          <a:bodyPr wrap="square" lIns="0" tIns="0" rIns="0" bIns="0" rtlCol="0" anchor="ctr"/>
          <a:lstStyle/>
          <a:p>
            <a:pPr indent="0" marL="0">
              <a:buNone/>
            </a:pPr>
            <a:r>
              <a:rPr lang="en-US" sz="2000" b="1" dirty="0">
                <a:solidFill>
                  <a:schemeClr val="bg1"/>
                </a:solidFill>
              </a:rPr>
              <a:t>Schedule &amp; scope</a:t>
            </a:r>
            <a:endParaRPr lang="en-US" sz="2000" dirty="0"/>
          </a:p>
        </p:txBody>
      </p:sp>
      <p:sp>
        <p:nvSpPr>
          <p:cNvPr id="31" name="Pill FEASIBLE"/>
          <p:cNvSpPr/>
          <p:nvPr/>
        </p:nvSpPr>
        <p:spPr>
          <a:xfrm>
            <a:off x="10195560" y="4288536"/>
            <a:ext cx="1188720" cy="292608"/>
          </a:xfrm>
          <a:prstGeom prst="roundRect">
            <a:avLst>
              <a:gd name="adj" fmla="val 50000"/>
            </a:avLst>
          </a:prstGeom>
          <a:solidFill>
            <a:schemeClr val="accent1"/>
          </a:solidFill>
          <a:ln w="12700">
            <a:solidFill>
              <a:schemeClr val="accent1"/>
            </a:solidFill>
            <a:prstDash val="solid"/>
          </a:ln>
        </p:spPr>
      </p:sp>
      <p:sp>
        <p:nvSpPr>
          <p:cNvPr id="32" name="Text 26"/>
          <p:cNvSpPr txBox="1"/>
          <p:nvPr/>
        </p:nvSpPr>
        <p:spPr>
          <a:xfrm>
            <a:off x="10195560" y="4288536"/>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FEASIBLE</a:t>
            </a:r>
            <a:endParaRPr lang="en-US" sz="1100" dirty="0"/>
          </a:p>
        </p:txBody>
      </p:sp>
      <p:sp>
        <p:nvSpPr>
          <p:cNvPr id="33" name="Text 27"/>
          <p:cNvSpPr txBox="1"/>
          <p:nvPr/>
        </p:nvSpPr>
        <p:spPr>
          <a:xfrm>
            <a:off x="6492240" y="4937760"/>
            <a:ext cx="4846320" cy="8686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accent4"/>
                </a:solidFill>
              </a:rPr>
              <a:t>Core flow is already a working course project</a:t>
            </a:r>
            <a:endParaRPr lang="en-US" sz="1400" dirty="0"/>
          </a:p>
          <a:p>
            <a:pPr marL="203200" indent="-203200">
              <a:spcAft>
                <a:spcPts val="500"/>
              </a:spcAft>
              <a:buSzPct val="100000"/>
              <a:buChar char="•"/>
            </a:pPr>
            <a:r>
              <a:rPr lang="en-US" sz="1400" dirty="0">
                <a:solidFill>
                  <a:schemeClr val="accent4"/>
                </a:solidFill>
              </a:rPr>
              <a:t>Extras are kept as future improvements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PROJECT FEASIBILITY ANALYSIS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Current status, limits and risks</a:t>
            </a:r>
            <a:endParaRPr lang="en-US" sz="3200" dirty="0"/>
          </a:p>
        </p:txBody>
      </p:sp>
      <p:sp>
        <p:nvSpPr>
          <p:cNvPr id="6" name="Column Built now"/>
          <p:cNvSpPr/>
          <p:nvPr/>
        </p:nvSpPr>
        <p:spPr>
          <a:xfrm>
            <a:off x="548640" y="1554480"/>
            <a:ext cx="4937760" cy="2514600"/>
          </a:xfrm>
          <a:prstGeom prst="roundRect">
            <a:avLst>
              <a:gd name="adj" fmla="val 3636"/>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Built now circle"/>
          <p:cNvSpPr/>
          <p:nvPr/>
        </p:nvSpPr>
        <p:spPr>
          <a:xfrm>
            <a:off x="777240" y="1737360"/>
            <a:ext cx="548640" cy="548640"/>
          </a:xfrm>
          <a:prstGeom prst="ellipse">
            <a:avLst/>
          </a:prstGeom>
          <a:solidFill>
            <a:schemeClr val="tx1"/>
          </a:solidFill>
          <a:ln w="12700">
            <a:solidFill>
              <a:schemeClr val="tx1"/>
            </a:solidFill>
            <a:prstDash val="solid"/>
          </a:ln>
        </p:spPr>
      </p:sp>
      <p:pic>
        <p:nvPicPr>
          <p:cNvPr id="8" name="Image 0" descr="Built now icon">    </p:cNvPr>
          <p:cNvPicPr>
            <a:picLocks noChangeAspect="1"/>
          </p:cNvPicPr>
          <p:nvPr/>
        </p:nvPicPr>
        <p:blipFill>
          <a:blip r:embed="rId1"/>
          <a:stretch>
            <a:fillRect/>
          </a:stretch>
        </p:blipFill>
        <p:spPr>
          <a:xfrm>
            <a:off x="897941" y="1858061"/>
            <a:ext cx="307238" cy="307238"/>
          </a:xfrm>
          <a:prstGeom prst="rect">
            <a:avLst/>
          </a:prstGeom>
        </p:spPr>
      </p:pic>
      <p:sp>
        <p:nvSpPr>
          <p:cNvPr id="9" name="Text 6"/>
          <p:cNvSpPr txBox="1"/>
          <p:nvPr/>
        </p:nvSpPr>
        <p:spPr>
          <a:xfrm>
            <a:off x="1508760" y="1737360"/>
            <a:ext cx="3840480" cy="548640"/>
          </a:xfrm>
          <a:prstGeom prst="rect">
            <a:avLst/>
          </a:prstGeom>
          <a:noFill/>
          <a:ln/>
        </p:spPr>
        <p:txBody>
          <a:bodyPr wrap="square" lIns="0" tIns="0" rIns="0" bIns="0" rtlCol="0" anchor="ctr"/>
          <a:lstStyle/>
          <a:p>
            <a:pPr indent="0" marL="0">
              <a:buNone/>
            </a:pPr>
            <a:r>
              <a:rPr lang="en-US" sz="1800" b="1" dirty="0">
                <a:solidFill>
                  <a:schemeClr val="tx1"/>
                </a:solidFill>
              </a:rPr>
              <a:t>Built now</a:t>
            </a:r>
            <a:endParaRPr lang="en-US" sz="1800" dirty="0"/>
          </a:p>
        </p:txBody>
      </p:sp>
      <p:sp>
        <p:nvSpPr>
          <p:cNvPr id="10" name="Text 7"/>
          <p:cNvSpPr txBox="1"/>
          <p:nvPr/>
        </p:nvSpPr>
        <p:spPr>
          <a:xfrm>
            <a:off x="822960" y="2468880"/>
            <a:ext cx="4434840" cy="1508760"/>
          </a:xfrm>
          <a:prstGeom prst="rect">
            <a:avLst/>
          </a:prstGeom>
          <a:noFill/>
          <a:ln/>
        </p:spPr>
        <p:txBody>
          <a:bodyPr wrap="square" lIns="0" tIns="0" rIns="0" bIns="0" rtlCol="0" anchor="t"/>
          <a:lstStyle/>
          <a:p>
            <a:pPr marL="203200" indent="-203200">
              <a:spcAft>
                <a:spcPts val="500"/>
              </a:spcAft>
              <a:buSzPct val="100000"/>
              <a:buChar char="•"/>
            </a:pPr>
            <a:r>
              <a:rPr lang="en-US" sz="1350" dirty="0">
                <a:solidFill>
                  <a:schemeClr val="accent3"/>
                </a:solidFill>
              </a:rPr>
              <a:t>Clothes tracked by size, color and location</a:t>
            </a:r>
            <a:endParaRPr lang="en-US" sz="1350" dirty="0"/>
          </a:p>
          <a:p>
            <a:pPr marL="203200" indent="-203200">
              <a:spcAft>
                <a:spcPts val="500"/>
              </a:spcAft>
              <a:buSzPct val="100000"/>
              <a:buChar char="•"/>
            </a:pPr>
            <a:r>
              <a:rPr lang="en-US" sz="1350" dirty="0">
                <a:solidFill>
                  <a:schemeClr val="accent3"/>
                </a:solidFill>
              </a:rPr>
              <a:t>Add stock and create orders (MySQL)</a:t>
            </a:r>
            <a:endParaRPr lang="en-US" sz="1350" dirty="0"/>
          </a:p>
          <a:p>
            <a:pPr marL="203200" indent="-203200">
              <a:spcAft>
                <a:spcPts val="500"/>
              </a:spcAft>
              <a:buSzPct val="100000"/>
              <a:buChar char="•"/>
            </a:pPr>
            <a:r>
              <a:rPr lang="en-US" sz="1350" dirty="0">
                <a:solidFill>
                  <a:schemeClr val="accent3"/>
                </a:solidFill>
              </a:rPr>
              <a:t>Flexible delivery updates (MongoDB)</a:t>
            </a:r>
            <a:endParaRPr lang="en-US" sz="1350" dirty="0"/>
          </a:p>
          <a:p>
            <a:pPr marL="203200" indent="-203200">
              <a:spcAft>
                <a:spcPts val="500"/>
              </a:spcAft>
              <a:buSzPct val="100000"/>
              <a:buChar char="•"/>
            </a:pPr>
            <a:r>
              <a:rPr lang="en-US" sz="1350" dirty="0">
                <a:solidFill>
                  <a:schemeClr val="accent3"/>
                </a:solidFill>
              </a:rPr>
              <a:t>Shipment events passed with Kafka</a:t>
            </a:r>
            <a:endParaRPr lang="en-US" sz="1350" dirty="0"/>
          </a:p>
        </p:txBody>
      </p:sp>
      <p:sp>
        <p:nvSpPr>
          <p:cNvPr id="11" name="Column Not connected"/>
          <p:cNvSpPr/>
          <p:nvPr/>
        </p:nvSpPr>
        <p:spPr>
          <a:xfrm>
            <a:off x="5669280" y="1554480"/>
            <a:ext cx="2834640" cy="2514600"/>
          </a:xfrm>
          <a:prstGeom prst="roundRect">
            <a:avLst>
              <a:gd name="adj" fmla="val 3636"/>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2" name="Not connected circle"/>
          <p:cNvSpPr/>
          <p:nvPr/>
        </p:nvSpPr>
        <p:spPr>
          <a:xfrm>
            <a:off x="5897880" y="1737360"/>
            <a:ext cx="548640" cy="548640"/>
          </a:xfrm>
          <a:prstGeom prst="ellipse">
            <a:avLst/>
          </a:prstGeom>
          <a:solidFill>
            <a:schemeClr val="tx1"/>
          </a:solidFill>
          <a:ln w="12700">
            <a:solidFill>
              <a:schemeClr val="tx1"/>
            </a:solidFill>
            <a:prstDash val="solid"/>
          </a:ln>
        </p:spPr>
      </p:sp>
      <p:pic>
        <p:nvPicPr>
          <p:cNvPr id="13" name="Image 1" descr="Not connected icon">    </p:cNvPr>
          <p:cNvPicPr>
            <a:picLocks noChangeAspect="1"/>
          </p:cNvPicPr>
          <p:nvPr/>
        </p:nvPicPr>
        <p:blipFill>
          <a:blip r:embed="rId2"/>
          <a:stretch>
            <a:fillRect/>
          </a:stretch>
        </p:blipFill>
        <p:spPr>
          <a:xfrm>
            <a:off x="6018581" y="1858061"/>
            <a:ext cx="307238" cy="307238"/>
          </a:xfrm>
          <a:prstGeom prst="rect">
            <a:avLst/>
          </a:prstGeom>
        </p:spPr>
      </p:pic>
      <p:sp>
        <p:nvSpPr>
          <p:cNvPr id="14" name="Text 10"/>
          <p:cNvSpPr txBox="1"/>
          <p:nvPr/>
        </p:nvSpPr>
        <p:spPr>
          <a:xfrm>
            <a:off x="6629400" y="1737360"/>
            <a:ext cx="1737360" cy="548640"/>
          </a:xfrm>
          <a:prstGeom prst="rect">
            <a:avLst/>
          </a:prstGeom>
          <a:noFill/>
          <a:ln/>
        </p:spPr>
        <p:txBody>
          <a:bodyPr wrap="square" lIns="0" tIns="0" rIns="0" bIns="0" rtlCol="0" anchor="ctr"/>
          <a:lstStyle/>
          <a:p>
            <a:pPr indent="0" marL="0">
              <a:buNone/>
            </a:pPr>
            <a:r>
              <a:rPr lang="en-US" sz="1800" b="1" dirty="0">
                <a:solidFill>
                  <a:schemeClr val="tx1"/>
                </a:solidFill>
              </a:rPr>
              <a:t>Not connected</a:t>
            </a:r>
            <a:endParaRPr lang="en-US" sz="1800" dirty="0"/>
          </a:p>
        </p:txBody>
      </p:sp>
      <p:sp>
        <p:nvSpPr>
          <p:cNvPr id="15" name="Text 11"/>
          <p:cNvSpPr txBox="1"/>
          <p:nvPr/>
        </p:nvSpPr>
        <p:spPr>
          <a:xfrm>
            <a:off x="5943600" y="2468880"/>
            <a:ext cx="2331720" cy="1508760"/>
          </a:xfrm>
          <a:prstGeom prst="rect">
            <a:avLst/>
          </a:prstGeom>
          <a:noFill/>
          <a:ln/>
        </p:spPr>
        <p:txBody>
          <a:bodyPr wrap="square" lIns="0" tIns="0" rIns="0" bIns="0" rtlCol="0" anchor="t"/>
          <a:lstStyle/>
          <a:p>
            <a:pPr marL="203200" indent="-203200">
              <a:spcAft>
                <a:spcPts val="500"/>
              </a:spcAft>
              <a:buSzPct val="100000"/>
              <a:buChar char="•"/>
            </a:pPr>
            <a:r>
              <a:rPr lang="en-US" sz="1350" dirty="0">
                <a:solidFill>
                  <a:schemeClr val="accent3"/>
                </a:solidFill>
              </a:rPr>
              <a:t>Real courier GPS</a:t>
            </a:r>
            <a:endParaRPr lang="en-US" sz="1350" dirty="0"/>
          </a:p>
          <a:p>
            <a:pPr marL="203200" indent="-203200">
              <a:spcAft>
                <a:spcPts val="500"/>
              </a:spcAft>
              <a:buSzPct val="100000"/>
              <a:buChar char="•"/>
            </a:pPr>
            <a:r>
              <a:rPr lang="en-US" sz="1350" dirty="0">
                <a:solidFill>
                  <a:schemeClr val="accent3"/>
                </a:solidFill>
              </a:rPr>
              <a:t>Payments</a:t>
            </a:r>
            <a:endParaRPr lang="en-US" sz="1350" dirty="0"/>
          </a:p>
        </p:txBody>
      </p:sp>
      <p:sp>
        <p:nvSpPr>
          <p:cNvPr id="16" name="Column Future work"/>
          <p:cNvSpPr/>
          <p:nvPr/>
        </p:nvSpPr>
        <p:spPr>
          <a:xfrm>
            <a:off x="8686800" y="1554480"/>
            <a:ext cx="2926080" cy="2514600"/>
          </a:xfrm>
          <a:prstGeom prst="roundRect">
            <a:avLst>
              <a:gd name="adj" fmla="val 3636"/>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7" name="Future work circle"/>
          <p:cNvSpPr/>
          <p:nvPr/>
        </p:nvSpPr>
        <p:spPr>
          <a:xfrm>
            <a:off x="8915400" y="1737360"/>
            <a:ext cx="548640" cy="548640"/>
          </a:xfrm>
          <a:prstGeom prst="ellipse">
            <a:avLst/>
          </a:prstGeom>
          <a:solidFill>
            <a:schemeClr val="tx1"/>
          </a:solidFill>
          <a:ln w="12700">
            <a:solidFill>
              <a:schemeClr val="tx1"/>
            </a:solidFill>
            <a:prstDash val="solid"/>
          </a:ln>
        </p:spPr>
      </p:sp>
      <p:pic>
        <p:nvPicPr>
          <p:cNvPr id="18" name="Image 2" descr="Future work icon">    </p:cNvPr>
          <p:cNvPicPr>
            <a:picLocks noChangeAspect="1"/>
          </p:cNvPicPr>
          <p:nvPr/>
        </p:nvPicPr>
        <p:blipFill>
          <a:blip r:embed="rId3"/>
          <a:stretch>
            <a:fillRect/>
          </a:stretch>
        </p:blipFill>
        <p:spPr>
          <a:xfrm>
            <a:off x="9036101" y="1858061"/>
            <a:ext cx="307238" cy="307238"/>
          </a:xfrm>
          <a:prstGeom prst="rect">
            <a:avLst/>
          </a:prstGeom>
        </p:spPr>
      </p:pic>
      <p:sp>
        <p:nvSpPr>
          <p:cNvPr id="19" name="Text 14"/>
          <p:cNvSpPr txBox="1"/>
          <p:nvPr/>
        </p:nvSpPr>
        <p:spPr>
          <a:xfrm>
            <a:off x="9646920" y="1737360"/>
            <a:ext cx="1828800" cy="548640"/>
          </a:xfrm>
          <a:prstGeom prst="rect">
            <a:avLst/>
          </a:prstGeom>
          <a:noFill/>
          <a:ln/>
        </p:spPr>
        <p:txBody>
          <a:bodyPr wrap="square" lIns="0" tIns="0" rIns="0" bIns="0" rtlCol="0" anchor="ctr"/>
          <a:lstStyle/>
          <a:p>
            <a:pPr indent="0" marL="0">
              <a:buNone/>
            </a:pPr>
            <a:r>
              <a:rPr lang="en-US" sz="1800" b="1" dirty="0">
                <a:solidFill>
                  <a:schemeClr val="tx1"/>
                </a:solidFill>
              </a:rPr>
              <a:t>Future work</a:t>
            </a:r>
            <a:endParaRPr lang="en-US" sz="1800" dirty="0"/>
          </a:p>
        </p:txBody>
      </p:sp>
      <p:sp>
        <p:nvSpPr>
          <p:cNvPr id="20" name="Text 15"/>
          <p:cNvSpPr txBox="1"/>
          <p:nvPr/>
        </p:nvSpPr>
        <p:spPr>
          <a:xfrm>
            <a:off x="8961120" y="2468880"/>
            <a:ext cx="2423160" cy="1508760"/>
          </a:xfrm>
          <a:prstGeom prst="rect">
            <a:avLst/>
          </a:prstGeom>
          <a:noFill/>
          <a:ln/>
        </p:spPr>
        <p:txBody>
          <a:bodyPr wrap="square" lIns="0" tIns="0" rIns="0" bIns="0" rtlCol="0" anchor="t"/>
          <a:lstStyle/>
          <a:p>
            <a:pPr marL="203200" indent="-203200">
              <a:spcAft>
                <a:spcPts val="500"/>
              </a:spcAft>
              <a:buSzPct val="100000"/>
              <a:buChar char="•"/>
            </a:pPr>
            <a:r>
              <a:rPr lang="en-US" sz="1350" dirty="0">
                <a:solidFill>
                  <a:schemeClr val="accent3"/>
                </a:solidFill>
              </a:rPr>
              <a:t>CI/CD</a:t>
            </a:r>
            <a:endParaRPr lang="en-US" sz="1350" dirty="0"/>
          </a:p>
          <a:p>
            <a:pPr marL="203200" indent="-203200">
              <a:spcAft>
                <a:spcPts val="500"/>
              </a:spcAft>
              <a:buSzPct val="100000"/>
              <a:buChar char="•"/>
            </a:pPr>
            <a:r>
              <a:rPr lang="en-US" sz="1350" dirty="0">
                <a:solidFill>
                  <a:schemeClr val="accent3"/>
                </a:solidFill>
              </a:rPr>
              <a:t>Full C4 diagrams</a:t>
            </a:r>
            <a:endParaRPr lang="en-US" sz="1350" dirty="0"/>
          </a:p>
        </p:txBody>
      </p:sp>
      <p:graphicFrame>
        <p:nvGraphicFramePr>
          <p:cNvPr id="8" name="Risk table"/>
          <p:cNvGraphicFramePr>
            <a:graphicFrameLocks noGrp="1"/>
          </p:cNvGraphicFramePr>
          <p:nvPr>
            <p:extLst>
              <p:ext uri="{D42A27DB-BD31-4B8C-83A1-F6EECF244321}">
                <p14:modId xmlns:p14="http://schemas.microsoft.com/office/powerpoint/2010/main" val="1579011935"/>
              </p:ext>
            </p:extLst>
          </p:nvPr>
        </p:nvGraphicFramePr>
        <p:xfrm>
          <a:off x="548640" y="4297680"/>
          <a:ext cx="11064240" cy="914400"/>
        </p:xfrm>
        <a:graphic>
          <a:graphicData uri="http://schemas.openxmlformats.org/drawingml/2006/table">
            <a:tbl>
              <a:tblPr/>
              <a:tblGrid>
                <a:gridCol w="3291840"/>
                <a:gridCol w="7772400"/>
              </a:tblGrid>
              <a:tr h="411480">
                <a:tc>
                  <a:txBody>
                    <a:bodyPr/>
                    <a:lstStyle/>
                    <a:p>
                      <a:pPr indent="0" marL="0">
                        <a:buNone/>
                      </a:pPr>
                      <a:r>
                        <a:rPr lang="en-US" sz="1300" b="1" dirty="0">
                          <a:solidFill>
                            <a:srgbClr val="FFFFFF"/>
                          </a:solidFill>
                        </a:rPr>
                        <a:t>Risk</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rPr>
                        <a:t>How DockFlow handles it</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r>
              <a:tr h="411480">
                <a:tc>
                  <a:txBody>
                    <a:bodyPr/>
                    <a:lstStyle/>
                    <a:p>
                      <a:pPr indent="0" marL="0">
                        <a:buNone/>
                      </a:pPr>
                      <a:r>
                        <a:rPr lang="en-US" sz="1250" b="1" dirty="0">
                          <a:solidFill>
                            <a:srgbClr val="1B2A41"/>
                          </a:solidFill>
                        </a:rPr>
                        <a:t>Three tools add setup effort</a:t>
                      </a:r>
                      <a:endParaRPr lang="en-US" sz="12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rPr>
                        <a:t>Each tool has one narrow job: MySQL for stock and orders, MongoDB for delivery updates, Kafka for shipment events.</a:t>
                      </a:r>
                      <a:endParaRPr lang="en-US" sz="12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2A41"/>
                          </a:solidFill>
                        </a:rPr>
                        <a:t>No real courier GPS</a:t>
                      </a:r>
                      <a:endParaRPr lang="en-US" sz="12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rPr>
                        <a:t>Delivery status is updated by staff on the website; GPS is a planned extension.</a:t>
                      </a:r>
                      <a:endParaRPr lang="en-US" sz="12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2A41"/>
                          </a:solidFill>
                        </a:rPr>
                        <a:t>Project is not yet production-ready</a:t>
                      </a:r>
                      <a:endParaRPr lang="en-US" sz="12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250" dirty="0">
                          <a:solidFill>
                            <a:srgbClr val="1B2A41"/>
                          </a:solidFill>
                        </a:rPr>
                        <a:t>Scoped as a working course project; CI/CD and C4 diagrams are listed as future improvements.</a:t>
                      </a:r>
                      <a:endParaRPr lang="en-US" sz="12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ORIENTED WITH SOCIETAL NEEDS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The real-world need behind DockFlow</a:t>
            </a:r>
            <a:endParaRPr lang="en-US" sz="3200" dirty="0"/>
          </a:p>
        </p:txBody>
      </p:sp>
      <p:sp>
        <p:nvSpPr>
          <p:cNvPr id="6" name="Text 4"/>
          <p:cNvSpPr txBox="1"/>
          <p:nvPr/>
        </p:nvSpPr>
        <p:spPr>
          <a:xfrm>
            <a:off x="548640" y="1463040"/>
            <a:ext cx="5486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 GOES WRONG TODAY</a:t>
            </a:r>
            <a:endParaRPr lang="en-US" sz="1200" dirty="0"/>
          </a:p>
        </p:txBody>
      </p:sp>
      <p:sp>
        <p:nvSpPr>
          <p:cNvPr id="7" name="Problem 1"/>
          <p:cNvSpPr/>
          <p:nvPr/>
        </p:nvSpPr>
        <p:spPr>
          <a:xfrm>
            <a:off x="548640" y="1828800"/>
            <a:ext cx="5852160" cy="960120"/>
          </a:xfrm>
          <a:prstGeom prst="roundRect">
            <a:avLst>
              <a:gd name="adj" fmla="val 9524"/>
            </a:avLst>
          </a:prstGeom>
          <a:solidFill>
            <a:schemeClr val="tx2"/>
          </a:solidFill>
          <a:ln w="12700">
            <a:solidFill>
              <a:schemeClr val="tx2"/>
            </a:solidFill>
            <a:prstDash val="solid"/>
          </a:ln>
        </p:spPr>
      </p:sp>
      <p:sp>
        <p:nvSpPr>
          <p:cNvPr id="8" name="Inaccurate stock records circle"/>
          <p:cNvSpPr/>
          <p:nvPr/>
        </p:nvSpPr>
        <p:spPr>
          <a:xfrm>
            <a:off x="777240" y="2011680"/>
            <a:ext cx="594360" cy="594360"/>
          </a:xfrm>
          <a:prstGeom prst="ellipse">
            <a:avLst/>
          </a:prstGeom>
          <a:solidFill>
            <a:schemeClr val="accent1"/>
          </a:solidFill>
          <a:ln w="12700">
            <a:solidFill>
              <a:schemeClr val="accent1"/>
            </a:solidFill>
            <a:prstDash val="solid"/>
          </a:ln>
        </p:spPr>
      </p:sp>
      <p:pic>
        <p:nvPicPr>
          <p:cNvPr id="9" name="Image 0" descr="Inaccurate stock records icon">    </p:cNvPr>
          <p:cNvPicPr>
            <a:picLocks noChangeAspect="1"/>
          </p:cNvPicPr>
          <p:nvPr/>
        </p:nvPicPr>
        <p:blipFill>
          <a:blip r:embed="rId1"/>
          <a:stretch>
            <a:fillRect/>
          </a:stretch>
        </p:blipFill>
        <p:spPr>
          <a:xfrm>
            <a:off x="907999" y="2142439"/>
            <a:ext cx="332842" cy="332842"/>
          </a:xfrm>
          <a:prstGeom prst="rect">
            <a:avLst/>
          </a:prstGeom>
        </p:spPr>
      </p:pic>
      <p:sp>
        <p:nvSpPr>
          <p:cNvPr id="10" name="Text 7"/>
          <p:cNvSpPr txBox="1"/>
          <p:nvPr/>
        </p:nvSpPr>
        <p:spPr>
          <a:xfrm>
            <a:off x="1600200" y="1938528"/>
            <a:ext cx="4663440" cy="365760"/>
          </a:xfrm>
          <a:prstGeom prst="rect">
            <a:avLst/>
          </a:prstGeom>
          <a:noFill/>
          <a:ln/>
        </p:spPr>
        <p:txBody>
          <a:bodyPr wrap="square" lIns="0" tIns="0" rIns="0" bIns="0" rtlCol="0" anchor="ctr"/>
          <a:lstStyle/>
          <a:p>
            <a:pPr indent="0" marL="0">
              <a:buNone/>
            </a:pPr>
            <a:r>
              <a:rPr lang="en-US" sz="1600" b="1" dirty="0">
                <a:solidFill>
                  <a:schemeClr val="bg1"/>
                </a:solidFill>
              </a:rPr>
              <a:t>Inaccurate stock records</a:t>
            </a:r>
            <a:endParaRPr lang="en-US" sz="1600" dirty="0"/>
          </a:p>
        </p:txBody>
      </p:sp>
      <p:sp>
        <p:nvSpPr>
          <p:cNvPr id="11" name="Text 8"/>
          <p:cNvSpPr txBox="1"/>
          <p:nvPr/>
        </p:nvSpPr>
        <p:spPr>
          <a:xfrm>
            <a:off x="1600200" y="2304288"/>
            <a:ext cx="4663440" cy="411480"/>
          </a:xfrm>
          <a:prstGeom prst="rect">
            <a:avLst/>
          </a:prstGeom>
          <a:noFill/>
          <a:ln/>
        </p:spPr>
        <p:txBody>
          <a:bodyPr wrap="square" lIns="0" tIns="0" rIns="0" bIns="0" rtlCol="0" anchor="t"/>
          <a:lstStyle/>
          <a:p>
            <a:pPr indent="0" marL="0">
              <a:buNone/>
            </a:pPr>
            <a:r>
              <a:rPr lang="en-US" sz="1300" dirty="0">
                <a:solidFill>
                  <a:schemeClr val="accent4"/>
                </a:solidFill>
              </a:rPr>
              <a:t>Customers may get wrong or missing clothes.</a:t>
            </a:r>
            <a:endParaRPr lang="en-US" sz="1300" dirty="0"/>
          </a:p>
        </p:txBody>
      </p:sp>
      <p:sp>
        <p:nvSpPr>
          <p:cNvPr id="12" name="Problem 2"/>
          <p:cNvSpPr/>
          <p:nvPr/>
        </p:nvSpPr>
        <p:spPr>
          <a:xfrm>
            <a:off x="548640" y="2907792"/>
            <a:ext cx="5852160" cy="960120"/>
          </a:xfrm>
          <a:prstGeom prst="roundRect">
            <a:avLst>
              <a:gd name="adj" fmla="val 9524"/>
            </a:avLst>
          </a:prstGeom>
          <a:solidFill>
            <a:schemeClr val="tx2"/>
          </a:solidFill>
          <a:ln w="12700">
            <a:solidFill>
              <a:schemeClr val="tx2"/>
            </a:solidFill>
            <a:prstDash val="solid"/>
          </a:ln>
        </p:spPr>
      </p:sp>
      <p:sp>
        <p:nvSpPr>
          <p:cNvPr id="13" name="Delayed orders circle"/>
          <p:cNvSpPr/>
          <p:nvPr/>
        </p:nvSpPr>
        <p:spPr>
          <a:xfrm>
            <a:off x="777240" y="3090672"/>
            <a:ext cx="594360" cy="594360"/>
          </a:xfrm>
          <a:prstGeom prst="ellipse">
            <a:avLst/>
          </a:prstGeom>
          <a:solidFill>
            <a:schemeClr val="accent1"/>
          </a:solidFill>
          <a:ln w="12700">
            <a:solidFill>
              <a:schemeClr val="accent1"/>
            </a:solidFill>
            <a:prstDash val="solid"/>
          </a:ln>
        </p:spPr>
      </p:sp>
      <p:pic>
        <p:nvPicPr>
          <p:cNvPr id="14" name="Image 1" descr="Delayed orders icon">    </p:cNvPr>
          <p:cNvPicPr>
            <a:picLocks noChangeAspect="1"/>
          </p:cNvPicPr>
          <p:nvPr/>
        </p:nvPicPr>
        <p:blipFill>
          <a:blip r:embed="rId2"/>
          <a:stretch>
            <a:fillRect/>
          </a:stretch>
        </p:blipFill>
        <p:spPr>
          <a:xfrm>
            <a:off x="907999" y="3221431"/>
            <a:ext cx="332842" cy="332842"/>
          </a:xfrm>
          <a:prstGeom prst="rect">
            <a:avLst/>
          </a:prstGeom>
        </p:spPr>
      </p:pic>
      <p:sp>
        <p:nvSpPr>
          <p:cNvPr id="15" name="Text 11"/>
          <p:cNvSpPr txBox="1"/>
          <p:nvPr/>
        </p:nvSpPr>
        <p:spPr>
          <a:xfrm>
            <a:off x="1600200" y="3017520"/>
            <a:ext cx="4663440" cy="365760"/>
          </a:xfrm>
          <a:prstGeom prst="rect">
            <a:avLst/>
          </a:prstGeom>
          <a:noFill/>
          <a:ln/>
        </p:spPr>
        <p:txBody>
          <a:bodyPr wrap="square" lIns="0" tIns="0" rIns="0" bIns="0" rtlCol="0" anchor="ctr"/>
          <a:lstStyle/>
          <a:p>
            <a:pPr indent="0" marL="0">
              <a:buNone/>
            </a:pPr>
            <a:r>
              <a:rPr lang="en-US" sz="1600" b="1" dirty="0">
                <a:solidFill>
                  <a:schemeClr val="bg1"/>
                </a:solidFill>
              </a:rPr>
              <a:t>Delayed orders</a:t>
            </a:r>
            <a:endParaRPr lang="en-US" sz="1600" dirty="0"/>
          </a:p>
        </p:txBody>
      </p:sp>
      <p:sp>
        <p:nvSpPr>
          <p:cNvPr id="16" name="Text 12"/>
          <p:cNvSpPr txBox="1"/>
          <p:nvPr/>
        </p:nvSpPr>
        <p:spPr>
          <a:xfrm>
            <a:off x="1600200" y="3383280"/>
            <a:ext cx="4663440" cy="411480"/>
          </a:xfrm>
          <a:prstGeom prst="rect">
            <a:avLst/>
          </a:prstGeom>
          <a:noFill/>
          <a:ln/>
        </p:spPr>
        <p:txBody>
          <a:bodyPr wrap="square" lIns="0" tIns="0" rIns="0" bIns="0" rtlCol="0" anchor="t"/>
          <a:lstStyle/>
          <a:p>
            <a:pPr indent="0" marL="0">
              <a:buNone/>
            </a:pPr>
            <a:r>
              <a:rPr lang="en-US" sz="1300" dirty="0">
                <a:solidFill>
                  <a:schemeClr val="accent4"/>
                </a:solidFill>
              </a:rPr>
              <a:t>Slow orders mean long waits for deliveries.</a:t>
            </a:r>
            <a:endParaRPr lang="en-US" sz="1300" dirty="0"/>
          </a:p>
        </p:txBody>
      </p:sp>
      <p:sp>
        <p:nvSpPr>
          <p:cNvPr id="17" name="Problem 3"/>
          <p:cNvSpPr/>
          <p:nvPr/>
        </p:nvSpPr>
        <p:spPr>
          <a:xfrm>
            <a:off x="548640" y="3986784"/>
            <a:ext cx="5852160" cy="960120"/>
          </a:xfrm>
          <a:prstGeom prst="roundRect">
            <a:avLst>
              <a:gd name="adj" fmla="val 9524"/>
            </a:avLst>
          </a:prstGeom>
          <a:solidFill>
            <a:schemeClr val="tx2"/>
          </a:solidFill>
          <a:ln w="12700">
            <a:solidFill>
              <a:schemeClr val="tx2"/>
            </a:solidFill>
            <a:prstDash val="solid"/>
          </a:ln>
        </p:spPr>
      </p:sp>
      <p:sp>
        <p:nvSpPr>
          <p:cNvPr id="18" name="Unclear delivery status circle"/>
          <p:cNvSpPr/>
          <p:nvPr/>
        </p:nvSpPr>
        <p:spPr>
          <a:xfrm>
            <a:off x="777240" y="4169664"/>
            <a:ext cx="594360" cy="594360"/>
          </a:xfrm>
          <a:prstGeom prst="ellipse">
            <a:avLst/>
          </a:prstGeom>
          <a:solidFill>
            <a:schemeClr val="accent1"/>
          </a:solidFill>
          <a:ln w="12700">
            <a:solidFill>
              <a:schemeClr val="accent1"/>
            </a:solidFill>
            <a:prstDash val="solid"/>
          </a:ln>
        </p:spPr>
      </p:sp>
      <p:pic>
        <p:nvPicPr>
          <p:cNvPr id="19" name="Image 2" descr="Unclear delivery status icon">    </p:cNvPr>
          <p:cNvPicPr>
            <a:picLocks noChangeAspect="1"/>
          </p:cNvPicPr>
          <p:nvPr/>
        </p:nvPicPr>
        <p:blipFill>
          <a:blip r:embed="rId3"/>
          <a:stretch>
            <a:fillRect/>
          </a:stretch>
        </p:blipFill>
        <p:spPr>
          <a:xfrm>
            <a:off x="907999" y="4300423"/>
            <a:ext cx="332842" cy="332842"/>
          </a:xfrm>
          <a:prstGeom prst="rect">
            <a:avLst/>
          </a:prstGeom>
        </p:spPr>
      </p:pic>
      <p:sp>
        <p:nvSpPr>
          <p:cNvPr id="20" name="Text 15"/>
          <p:cNvSpPr txBox="1"/>
          <p:nvPr/>
        </p:nvSpPr>
        <p:spPr>
          <a:xfrm>
            <a:off x="1600200" y="4096512"/>
            <a:ext cx="4663440" cy="365760"/>
          </a:xfrm>
          <a:prstGeom prst="rect">
            <a:avLst/>
          </a:prstGeom>
          <a:noFill/>
          <a:ln/>
        </p:spPr>
        <p:txBody>
          <a:bodyPr wrap="square" lIns="0" tIns="0" rIns="0" bIns="0" rtlCol="0" anchor="ctr"/>
          <a:lstStyle/>
          <a:p>
            <a:pPr indent="0" marL="0">
              <a:buNone/>
            </a:pPr>
            <a:r>
              <a:rPr lang="en-US" sz="1600" b="1" dirty="0">
                <a:solidFill>
                  <a:schemeClr val="bg1"/>
                </a:solidFill>
              </a:rPr>
              <a:t>Unclear delivery status</a:t>
            </a:r>
            <a:endParaRPr lang="en-US" sz="1600" dirty="0"/>
          </a:p>
        </p:txBody>
      </p:sp>
      <p:sp>
        <p:nvSpPr>
          <p:cNvPr id="21" name="Text 16"/>
          <p:cNvSpPr txBox="1"/>
          <p:nvPr/>
        </p:nvSpPr>
        <p:spPr>
          <a:xfrm>
            <a:off x="1600200" y="4462272"/>
            <a:ext cx="4663440" cy="411480"/>
          </a:xfrm>
          <a:prstGeom prst="rect">
            <a:avLst/>
          </a:prstGeom>
          <a:noFill/>
          <a:ln/>
        </p:spPr>
        <p:txBody>
          <a:bodyPr wrap="square" lIns="0" tIns="0" rIns="0" bIns="0" rtlCol="0" anchor="t"/>
          <a:lstStyle/>
          <a:p>
            <a:pPr indent="0" marL="0">
              <a:buNone/>
            </a:pPr>
            <a:r>
              <a:rPr lang="en-US" sz="1300" dirty="0">
                <a:solidFill>
                  <a:schemeClr val="accent4"/>
                </a:solidFill>
              </a:rPr>
              <a:t>Staff and customers cannot see where a shipment is.</a:t>
            </a:r>
            <a:endParaRPr lang="en-US" sz="1300" dirty="0"/>
          </a:p>
        </p:txBody>
      </p:sp>
      <p:sp>
        <p:nvSpPr>
          <p:cNvPr id="22" name="Problem 4"/>
          <p:cNvSpPr/>
          <p:nvPr/>
        </p:nvSpPr>
        <p:spPr>
          <a:xfrm>
            <a:off x="548640" y="5065776"/>
            <a:ext cx="5852160" cy="960120"/>
          </a:xfrm>
          <a:prstGeom prst="roundRect">
            <a:avLst>
              <a:gd name="adj" fmla="val 9524"/>
            </a:avLst>
          </a:prstGeom>
          <a:solidFill>
            <a:schemeClr val="tx2"/>
          </a:solidFill>
          <a:ln w="12700">
            <a:solidFill>
              <a:schemeClr val="tx2"/>
            </a:solidFill>
            <a:prstDash val="solid"/>
          </a:ln>
        </p:spPr>
      </p:sp>
      <p:sp>
        <p:nvSpPr>
          <p:cNvPr id="23" name="Disconnected tools circle"/>
          <p:cNvSpPr/>
          <p:nvPr/>
        </p:nvSpPr>
        <p:spPr>
          <a:xfrm>
            <a:off x="777240" y="5248656"/>
            <a:ext cx="594360" cy="594360"/>
          </a:xfrm>
          <a:prstGeom prst="ellipse">
            <a:avLst/>
          </a:prstGeom>
          <a:solidFill>
            <a:schemeClr val="accent1"/>
          </a:solidFill>
          <a:ln w="12700">
            <a:solidFill>
              <a:schemeClr val="accent1"/>
            </a:solidFill>
            <a:prstDash val="solid"/>
          </a:ln>
        </p:spPr>
      </p:sp>
      <p:pic>
        <p:nvPicPr>
          <p:cNvPr id="24" name="Image 3" descr="Disconnected tools icon">    </p:cNvPr>
          <p:cNvPicPr>
            <a:picLocks noChangeAspect="1"/>
          </p:cNvPicPr>
          <p:nvPr/>
        </p:nvPicPr>
        <p:blipFill>
          <a:blip r:embed="rId4"/>
          <a:stretch>
            <a:fillRect/>
          </a:stretch>
        </p:blipFill>
        <p:spPr>
          <a:xfrm>
            <a:off x="907999" y="5379415"/>
            <a:ext cx="332842" cy="332842"/>
          </a:xfrm>
          <a:prstGeom prst="rect">
            <a:avLst/>
          </a:prstGeom>
        </p:spPr>
      </p:pic>
      <p:sp>
        <p:nvSpPr>
          <p:cNvPr id="25" name="Text 19"/>
          <p:cNvSpPr txBox="1"/>
          <p:nvPr/>
        </p:nvSpPr>
        <p:spPr>
          <a:xfrm>
            <a:off x="1600200" y="5175504"/>
            <a:ext cx="4663440" cy="365760"/>
          </a:xfrm>
          <a:prstGeom prst="rect">
            <a:avLst/>
          </a:prstGeom>
          <a:noFill/>
          <a:ln/>
        </p:spPr>
        <p:txBody>
          <a:bodyPr wrap="square" lIns="0" tIns="0" rIns="0" bIns="0" rtlCol="0" anchor="ctr"/>
          <a:lstStyle/>
          <a:p>
            <a:pPr indent="0" marL="0">
              <a:buNone/>
            </a:pPr>
            <a:r>
              <a:rPr lang="en-US" sz="1600" b="1" dirty="0">
                <a:solidFill>
                  <a:schemeClr val="bg1"/>
                </a:solidFill>
              </a:rPr>
              <a:t>Disconnected tools</a:t>
            </a:r>
            <a:endParaRPr lang="en-US" sz="1600" dirty="0"/>
          </a:p>
        </p:txBody>
      </p:sp>
      <p:sp>
        <p:nvSpPr>
          <p:cNvPr id="26" name="Text 20"/>
          <p:cNvSpPr txBox="1"/>
          <p:nvPr/>
        </p:nvSpPr>
        <p:spPr>
          <a:xfrm>
            <a:off x="1600200" y="5541264"/>
            <a:ext cx="4663440" cy="411480"/>
          </a:xfrm>
          <a:prstGeom prst="rect">
            <a:avLst/>
          </a:prstGeom>
          <a:noFill/>
          <a:ln/>
        </p:spPr>
        <p:txBody>
          <a:bodyPr wrap="square" lIns="0" tIns="0" rIns="0" bIns="0" rtlCol="0" anchor="t"/>
          <a:lstStyle/>
          <a:p>
            <a:pPr indent="0" marL="0">
              <a:buNone/>
            </a:pPr>
            <a:r>
              <a:rPr lang="en-US" sz="1300" dirty="0">
                <a:solidFill>
                  <a:schemeClr val="accent4"/>
                </a:solidFill>
              </a:rPr>
              <a:t>Staff lose time moving between separate records.</a:t>
            </a:r>
            <a:endParaRPr lang="en-US" sz="1300" dirty="0"/>
          </a:p>
        </p:txBody>
      </p:sp>
      <p:sp>
        <p:nvSpPr>
          <p:cNvPr id="27" name="Text 21"/>
          <p:cNvSpPr txBox="1"/>
          <p:nvPr/>
        </p:nvSpPr>
        <p:spPr>
          <a:xfrm>
            <a:off x="6766560" y="1463040"/>
            <a:ext cx="48463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WHO BENEFITS FROM DOCKFLOW</a:t>
            </a:r>
            <a:endParaRPr lang="en-US" sz="1200" dirty="0"/>
          </a:p>
        </p:txBody>
      </p:sp>
      <p:sp>
        <p:nvSpPr>
          <p:cNvPr id="28" name="Beneficiary 1"/>
          <p:cNvSpPr/>
          <p:nvPr/>
        </p:nvSpPr>
        <p:spPr>
          <a:xfrm>
            <a:off x="6766560" y="1828800"/>
            <a:ext cx="4846320" cy="960120"/>
          </a:xfrm>
          <a:prstGeom prst="roundRect">
            <a:avLst>
              <a:gd name="adj" fmla="val 9524"/>
            </a:avLst>
          </a:prstGeom>
          <a:solidFill>
            <a:schemeClr val="bg2"/>
          </a:solidFill>
          <a:ln w="12700">
            <a:solidFill>
              <a:schemeClr val="bg2"/>
            </a:solidFill>
            <a:prstDash val="solid"/>
          </a:ln>
        </p:spPr>
      </p:sp>
      <p:sp>
        <p:nvSpPr>
          <p:cNvPr id="29" name="Warehouse staff circle"/>
          <p:cNvSpPr/>
          <p:nvPr/>
        </p:nvSpPr>
        <p:spPr>
          <a:xfrm>
            <a:off x="6995160" y="2011680"/>
            <a:ext cx="594360" cy="594360"/>
          </a:xfrm>
          <a:prstGeom prst="ellipse">
            <a:avLst/>
          </a:prstGeom>
          <a:solidFill>
            <a:schemeClr val="tx1"/>
          </a:solidFill>
          <a:ln w="12700">
            <a:solidFill>
              <a:schemeClr val="tx1"/>
            </a:solidFill>
            <a:prstDash val="solid"/>
          </a:ln>
        </p:spPr>
      </p:sp>
      <p:pic>
        <p:nvPicPr>
          <p:cNvPr id="30" name="Image 4" descr="Warehouse staff icon">    </p:cNvPr>
          <p:cNvPicPr>
            <a:picLocks noChangeAspect="1"/>
          </p:cNvPicPr>
          <p:nvPr/>
        </p:nvPicPr>
        <p:blipFill>
          <a:blip r:embed="rId5"/>
          <a:stretch>
            <a:fillRect/>
          </a:stretch>
        </p:blipFill>
        <p:spPr>
          <a:xfrm>
            <a:off x="7125919" y="2142439"/>
            <a:ext cx="332842" cy="332842"/>
          </a:xfrm>
          <a:prstGeom prst="rect">
            <a:avLst/>
          </a:prstGeom>
        </p:spPr>
      </p:pic>
      <p:sp>
        <p:nvSpPr>
          <p:cNvPr id="31" name="Text 24"/>
          <p:cNvSpPr txBox="1"/>
          <p:nvPr/>
        </p:nvSpPr>
        <p:spPr>
          <a:xfrm>
            <a:off x="7772400" y="1938528"/>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Warehouse staff</a:t>
            </a:r>
            <a:endParaRPr lang="en-US" sz="1500" dirty="0"/>
          </a:p>
        </p:txBody>
      </p:sp>
      <p:sp>
        <p:nvSpPr>
          <p:cNvPr id="32" name="Text 25"/>
          <p:cNvSpPr txBox="1"/>
          <p:nvPr/>
        </p:nvSpPr>
        <p:spPr>
          <a:xfrm>
            <a:off x="7772400" y="2304288"/>
            <a:ext cx="3657600" cy="411480"/>
          </a:xfrm>
          <a:prstGeom prst="rect">
            <a:avLst/>
          </a:prstGeom>
          <a:noFill/>
          <a:ln/>
        </p:spPr>
        <p:txBody>
          <a:bodyPr wrap="square" lIns="0" tIns="0" rIns="0" bIns="0" rtlCol="0" anchor="t"/>
          <a:lstStyle/>
          <a:p>
            <a:pPr indent="0" marL="0">
              <a:buNone/>
            </a:pPr>
            <a:r>
              <a:rPr lang="en-US" sz="1250" dirty="0">
                <a:solidFill>
                  <a:schemeClr val="accent3"/>
                </a:solidFill>
              </a:rPr>
              <a:t>One place for stock, orders and deliveries</a:t>
            </a:r>
            <a:endParaRPr lang="en-US" sz="1250" dirty="0"/>
          </a:p>
        </p:txBody>
      </p:sp>
      <p:sp>
        <p:nvSpPr>
          <p:cNvPr id="33" name="Beneficiary 2"/>
          <p:cNvSpPr/>
          <p:nvPr/>
        </p:nvSpPr>
        <p:spPr>
          <a:xfrm>
            <a:off x="6766560" y="2907792"/>
            <a:ext cx="4846320" cy="960120"/>
          </a:xfrm>
          <a:prstGeom prst="roundRect">
            <a:avLst>
              <a:gd name="adj" fmla="val 9524"/>
            </a:avLst>
          </a:prstGeom>
          <a:solidFill>
            <a:schemeClr val="bg2"/>
          </a:solidFill>
          <a:ln w="12700">
            <a:solidFill>
              <a:schemeClr val="bg2"/>
            </a:solidFill>
            <a:prstDash val="solid"/>
          </a:ln>
        </p:spPr>
      </p:sp>
      <p:sp>
        <p:nvSpPr>
          <p:cNvPr id="34" name="Clothing businesses circle"/>
          <p:cNvSpPr/>
          <p:nvPr/>
        </p:nvSpPr>
        <p:spPr>
          <a:xfrm>
            <a:off x="6995160" y="3090672"/>
            <a:ext cx="594360" cy="594360"/>
          </a:xfrm>
          <a:prstGeom prst="ellipse">
            <a:avLst/>
          </a:prstGeom>
          <a:solidFill>
            <a:schemeClr val="tx1"/>
          </a:solidFill>
          <a:ln w="12700">
            <a:solidFill>
              <a:schemeClr val="tx1"/>
            </a:solidFill>
            <a:prstDash val="solid"/>
          </a:ln>
        </p:spPr>
      </p:sp>
      <p:pic>
        <p:nvPicPr>
          <p:cNvPr id="35" name="Image 5" descr="Clothing businesses icon">    </p:cNvPr>
          <p:cNvPicPr>
            <a:picLocks noChangeAspect="1"/>
          </p:cNvPicPr>
          <p:nvPr/>
        </p:nvPicPr>
        <p:blipFill>
          <a:blip r:embed="rId6"/>
          <a:stretch>
            <a:fillRect/>
          </a:stretch>
        </p:blipFill>
        <p:spPr>
          <a:xfrm>
            <a:off x="7125919" y="3221431"/>
            <a:ext cx="332842" cy="332842"/>
          </a:xfrm>
          <a:prstGeom prst="rect">
            <a:avLst/>
          </a:prstGeom>
        </p:spPr>
      </p:pic>
      <p:sp>
        <p:nvSpPr>
          <p:cNvPr id="36" name="Text 28"/>
          <p:cNvSpPr txBox="1"/>
          <p:nvPr/>
        </p:nvSpPr>
        <p:spPr>
          <a:xfrm>
            <a:off x="7772400" y="301752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Clothing businesses</a:t>
            </a:r>
            <a:endParaRPr lang="en-US" sz="1500" dirty="0"/>
          </a:p>
        </p:txBody>
      </p:sp>
      <p:sp>
        <p:nvSpPr>
          <p:cNvPr id="37" name="Text 29"/>
          <p:cNvSpPr txBox="1"/>
          <p:nvPr/>
        </p:nvSpPr>
        <p:spPr>
          <a:xfrm>
            <a:off x="7772400" y="3383280"/>
            <a:ext cx="3657600" cy="411480"/>
          </a:xfrm>
          <a:prstGeom prst="rect">
            <a:avLst/>
          </a:prstGeom>
          <a:noFill/>
          <a:ln/>
        </p:spPr>
        <p:txBody>
          <a:bodyPr wrap="square" lIns="0" tIns="0" rIns="0" bIns="0" rtlCol="0" anchor="t"/>
          <a:lstStyle/>
          <a:p>
            <a:pPr indent="0" marL="0">
              <a:buNone/>
            </a:pPr>
            <a:r>
              <a:rPr lang="en-US" sz="1250" dirty="0">
                <a:solidFill>
                  <a:schemeClr val="accent3"/>
                </a:solidFill>
              </a:rPr>
              <a:t>Accurate stock and smoother order handling</a:t>
            </a:r>
            <a:endParaRPr lang="en-US" sz="1250" dirty="0"/>
          </a:p>
        </p:txBody>
      </p:sp>
      <p:sp>
        <p:nvSpPr>
          <p:cNvPr id="38" name="Beneficiary 3"/>
          <p:cNvSpPr/>
          <p:nvPr/>
        </p:nvSpPr>
        <p:spPr>
          <a:xfrm>
            <a:off x="6766560" y="3986784"/>
            <a:ext cx="4846320" cy="960120"/>
          </a:xfrm>
          <a:prstGeom prst="roundRect">
            <a:avLst>
              <a:gd name="adj" fmla="val 9524"/>
            </a:avLst>
          </a:prstGeom>
          <a:solidFill>
            <a:schemeClr val="bg2"/>
          </a:solidFill>
          <a:ln w="12700">
            <a:solidFill>
              <a:schemeClr val="bg2"/>
            </a:solidFill>
            <a:prstDash val="solid"/>
          </a:ln>
        </p:spPr>
      </p:sp>
      <p:sp>
        <p:nvSpPr>
          <p:cNvPr id="39" name="Customers: men, women, kids circle"/>
          <p:cNvSpPr/>
          <p:nvPr/>
        </p:nvSpPr>
        <p:spPr>
          <a:xfrm>
            <a:off x="6995160" y="4169664"/>
            <a:ext cx="594360" cy="594360"/>
          </a:xfrm>
          <a:prstGeom prst="ellipse">
            <a:avLst/>
          </a:prstGeom>
          <a:solidFill>
            <a:schemeClr val="tx1"/>
          </a:solidFill>
          <a:ln w="12700">
            <a:solidFill>
              <a:schemeClr val="tx1"/>
            </a:solidFill>
            <a:prstDash val="solid"/>
          </a:ln>
        </p:spPr>
      </p:sp>
      <p:pic>
        <p:nvPicPr>
          <p:cNvPr id="40" name="Image 6" descr="Customers: men, women, kids icon">    </p:cNvPr>
          <p:cNvPicPr>
            <a:picLocks noChangeAspect="1"/>
          </p:cNvPicPr>
          <p:nvPr/>
        </p:nvPicPr>
        <p:blipFill>
          <a:blip r:embed="rId7"/>
          <a:stretch>
            <a:fillRect/>
          </a:stretch>
        </p:blipFill>
        <p:spPr>
          <a:xfrm>
            <a:off x="7125919" y="4300423"/>
            <a:ext cx="332842" cy="332842"/>
          </a:xfrm>
          <a:prstGeom prst="rect">
            <a:avLst/>
          </a:prstGeom>
        </p:spPr>
      </p:pic>
      <p:sp>
        <p:nvSpPr>
          <p:cNvPr id="41" name="Text 32"/>
          <p:cNvSpPr txBox="1"/>
          <p:nvPr/>
        </p:nvSpPr>
        <p:spPr>
          <a:xfrm>
            <a:off x="7772400" y="4096512"/>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Customers: men, women, kids</a:t>
            </a:r>
            <a:endParaRPr lang="en-US" sz="1500" dirty="0"/>
          </a:p>
        </p:txBody>
      </p:sp>
      <p:sp>
        <p:nvSpPr>
          <p:cNvPr id="42" name="Text 33"/>
          <p:cNvSpPr txBox="1"/>
          <p:nvPr/>
        </p:nvSpPr>
        <p:spPr>
          <a:xfrm>
            <a:off x="7772400" y="4462272"/>
            <a:ext cx="3657600" cy="411480"/>
          </a:xfrm>
          <a:prstGeom prst="rect">
            <a:avLst/>
          </a:prstGeom>
          <a:noFill/>
          <a:ln/>
        </p:spPr>
        <p:txBody>
          <a:bodyPr wrap="square" lIns="0" tIns="0" rIns="0" bIns="0" rtlCol="0" anchor="t"/>
          <a:lstStyle/>
          <a:p>
            <a:pPr indent="0" marL="0">
              <a:buNone/>
            </a:pPr>
            <a:r>
              <a:rPr lang="en-US" sz="1250" dirty="0">
                <a:solidFill>
                  <a:schemeClr val="accent3"/>
                </a:solidFill>
              </a:rPr>
              <a:t>Right clothes, delivered with clear status</a:t>
            </a:r>
            <a:endParaRPr lang="en-US" sz="1250" dirty="0"/>
          </a:p>
        </p:txBody>
      </p:sp>
      <p:sp>
        <p:nvSpPr>
          <p:cNvPr id="43" name="Beneficiary 4"/>
          <p:cNvSpPr/>
          <p:nvPr/>
        </p:nvSpPr>
        <p:spPr>
          <a:xfrm>
            <a:off x="6766560" y="5065776"/>
            <a:ext cx="4846320" cy="960120"/>
          </a:xfrm>
          <a:prstGeom prst="roundRect">
            <a:avLst>
              <a:gd name="adj" fmla="val 9524"/>
            </a:avLst>
          </a:prstGeom>
          <a:solidFill>
            <a:schemeClr val="bg2"/>
          </a:solidFill>
          <a:ln w="12700">
            <a:solidFill>
              <a:schemeClr val="bg2"/>
            </a:solidFill>
            <a:prstDash val="solid"/>
          </a:ln>
        </p:spPr>
      </p:sp>
      <p:sp>
        <p:nvSpPr>
          <p:cNvPr id="44" name="Delivery partners circle"/>
          <p:cNvSpPr/>
          <p:nvPr/>
        </p:nvSpPr>
        <p:spPr>
          <a:xfrm>
            <a:off x="6995160" y="5248656"/>
            <a:ext cx="594360" cy="594360"/>
          </a:xfrm>
          <a:prstGeom prst="ellipse">
            <a:avLst/>
          </a:prstGeom>
          <a:solidFill>
            <a:schemeClr val="tx1"/>
          </a:solidFill>
          <a:ln w="12700">
            <a:solidFill>
              <a:schemeClr val="tx1"/>
            </a:solidFill>
            <a:prstDash val="solid"/>
          </a:ln>
        </p:spPr>
      </p:sp>
      <p:pic>
        <p:nvPicPr>
          <p:cNvPr id="45" name="Image 7" descr="Delivery partners icon">    </p:cNvPr>
          <p:cNvPicPr>
            <a:picLocks noChangeAspect="1"/>
          </p:cNvPicPr>
          <p:nvPr/>
        </p:nvPicPr>
        <p:blipFill>
          <a:blip r:embed="rId8"/>
          <a:stretch>
            <a:fillRect/>
          </a:stretch>
        </p:blipFill>
        <p:spPr>
          <a:xfrm>
            <a:off x="7125919" y="5379415"/>
            <a:ext cx="332842" cy="332842"/>
          </a:xfrm>
          <a:prstGeom prst="rect">
            <a:avLst/>
          </a:prstGeom>
        </p:spPr>
      </p:pic>
      <p:sp>
        <p:nvSpPr>
          <p:cNvPr id="46" name="Text 36"/>
          <p:cNvSpPr txBox="1"/>
          <p:nvPr/>
        </p:nvSpPr>
        <p:spPr>
          <a:xfrm>
            <a:off x="7772400" y="5175504"/>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Delivery partners</a:t>
            </a:r>
            <a:endParaRPr lang="en-US" sz="1500" dirty="0"/>
          </a:p>
        </p:txBody>
      </p:sp>
      <p:sp>
        <p:nvSpPr>
          <p:cNvPr id="47" name="Text 37"/>
          <p:cNvSpPr txBox="1"/>
          <p:nvPr/>
        </p:nvSpPr>
        <p:spPr>
          <a:xfrm>
            <a:off x="7772400" y="5541264"/>
            <a:ext cx="3657600" cy="411480"/>
          </a:xfrm>
          <a:prstGeom prst="rect">
            <a:avLst/>
          </a:prstGeom>
          <a:noFill/>
          <a:ln/>
        </p:spPr>
        <p:txBody>
          <a:bodyPr wrap="square" lIns="0" tIns="0" rIns="0" bIns="0" rtlCol="0" anchor="t"/>
          <a:lstStyle/>
          <a:p>
            <a:pPr indent="0" marL="0">
              <a:buNone/>
            </a:pPr>
            <a:r>
              <a:rPr lang="en-US" sz="1250" dirty="0">
                <a:solidFill>
                  <a:schemeClr val="accent3"/>
                </a:solidFill>
              </a:rPr>
              <a:t>Clear shipment updates passed between services</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ORIENTED WITH SOCIETAL NEEDS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Social impact and SDG alignment</a:t>
            </a:r>
            <a:endParaRPr lang="en-US" sz="3200" dirty="0"/>
          </a:p>
        </p:txBody>
      </p:sp>
      <p:sp>
        <p:nvSpPr>
          <p:cNvPr id="6" name="SDG 9"/>
          <p:cNvSpPr/>
          <p:nvPr/>
        </p:nvSpPr>
        <p:spPr>
          <a:xfrm>
            <a:off x="548640" y="1600200"/>
            <a:ext cx="3474720" cy="3200400"/>
          </a:xfrm>
          <a:prstGeom prst="roundRect">
            <a:avLst>
              <a:gd name="adj" fmla="val 2857"/>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SDG number 9"/>
          <p:cNvSpPr/>
          <p:nvPr/>
        </p:nvSpPr>
        <p:spPr>
          <a:xfrm>
            <a:off x="822960" y="1874520"/>
            <a:ext cx="1005840" cy="914400"/>
          </a:xfrm>
          <a:prstGeom prst="roundRect">
            <a:avLst>
              <a:gd name="adj" fmla="val 10000"/>
            </a:avLst>
          </a:prstGeom>
          <a:solidFill>
            <a:schemeClr val="tx1"/>
          </a:solidFill>
          <a:ln w="12700">
            <a:solidFill>
              <a:schemeClr val="tx1"/>
            </a:solidFill>
            <a:prstDash val="solid"/>
          </a:ln>
        </p:spPr>
      </p:sp>
      <p:sp>
        <p:nvSpPr>
          <p:cNvPr id="8" name="Text 6"/>
          <p:cNvSpPr txBox="1"/>
          <p:nvPr/>
        </p:nvSpPr>
        <p:spPr>
          <a:xfrm>
            <a:off x="822960" y="1874520"/>
            <a:ext cx="1005840"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9</a:t>
            </a:r>
            <a:endParaRPr lang="en-US" sz="4000" dirty="0"/>
          </a:p>
        </p:txBody>
      </p:sp>
      <p:sp>
        <p:nvSpPr>
          <p:cNvPr id="9" name="Text 7"/>
          <p:cNvSpPr txBox="1"/>
          <p:nvPr/>
        </p:nvSpPr>
        <p:spPr>
          <a:xfrm>
            <a:off x="2011680" y="1920240"/>
            <a:ext cx="1371600" cy="274320"/>
          </a:xfrm>
          <a:prstGeom prst="rect">
            <a:avLst/>
          </a:prstGeom>
          <a:noFill/>
          <a:ln/>
        </p:spPr>
        <p:txBody>
          <a:bodyPr wrap="square" lIns="0" tIns="0" rIns="0" bIns="0" rtlCol="0" anchor="ctr"/>
          <a:lstStyle/>
          <a:p>
            <a:pPr indent="0" marL="0">
              <a:buNone/>
            </a:pPr>
            <a:r>
              <a:rPr lang="en-US" sz="1100" b="1" spc="300" kern="0" dirty="0">
                <a:solidFill>
                  <a:schemeClr val="accent3"/>
                </a:solidFill>
              </a:rPr>
              <a:t>SDG</a:t>
            </a:r>
            <a:endParaRPr lang="en-US" sz="1100" dirty="0"/>
          </a:p>
        </p:txBody>
      </p:sp>
      <p:sp>
        <p:nvSpPr>
          <p:cNvPr id="10" name="Text 8"/>
          <p:cNvSpPr txBox="1"/>
          <p:nvPr/>
        </p:nvSpPr>
        <p:spPr>
          <a:xfrm>
            <a:off x="2011680" y="2194560"/>
            <a:ext cx="1874520" cy="731520"/>
          </a:xfrm>
          <a:prstGeom prst="rect">
            <a:avLst/>
          </a:prstGeom>
          <a:noFill/>
          <a:ln/>
        </p:spPr>
        <p:txBody>
          <a:bodyPr wrap="square" lIns="0" tIns="0" rIns="0" bIns="0" rtlCol="0" anchor="t"/>
          <a:lstStyle/>
          <a:p>
            <a:pPr indent="0" marL="0">
              <a:buNone/>
            </a:pPr>
            <a:r>
              <a:rPr lang="en-US" sz="1400" b="1" dirty="0">
                <a:solidFill>
                  <a:schemeClr val="tx1"/>
                </a:solidFill>
              </a:rPr>
              <a:t>Industry, Innovation &amp; Infrastructure</a:t>
            </a:r>
            <a:endParaRPr lang="en-US" sz="1400" dirty="0"/>
          </a:p>
        </p:txBody>
      </p:sp>
      <p:sp>
        <p:nvSpPr>
          <p:cNvPr id="11" name="Text 9"/>
          <p:cNvSpPr txBox="1"/>
          <p:nvPr/>
        </p:nvSpPr>
        <p:spPr>
          <a:xfrm>
            <a:off x="822960" y="3200400"/>
            <a:ext cx="2926080" cy="1371600"/>
          </a:xfrm>
          <a:prstGeom prst="rect">
            <a:avLst/>
          </a:prstGeom>
          <a:noFill/>
          <a:ln/>
        </p:spPr>
        <p:txBody>
          <a:bodyPr wrap="square" lIns="0" tIns="0" rIns="0" bIns="0" rtlCol="0" anchor="t"/>
          <a:lstStyle/>
          <a:p>
            <a:pPr indent="0" marL="0">
              <a:buNone/>
            </a:pPr>
            <a:r>
              <a:rPr lang="en-US" sz="1500" dirty="0">
                <a:solidFill>
                  <a:schemeClr val="accent3"/>
                </a:solidFill>
              </a:rPr>
              <a:t>Modern, database-driven tools for a small logistics operation.</a:t>
            </a:r>
            <a:endParaRPr lang="en-US" sz="1500" dirty="0"/>
          </a:p>
        </p:txBody>
      </p:sp>
      <p:sp>
        <p:nvSpPr>
          <p:cNvPr id="12" name="SDG 12"/>
          <p:cNvSpPr/>
          <p:nvPr/>
        </p:nvSpPr>
        <p:spPr>
          <a:xfrm>
            <a:off x="4343400" y="1600200"/>
            <a:ext cx="3474720" cy="3200400"/>
          </a:xfrm>
          <a:prstGeom prst="roundRect">
            <a:avLst>
              <a:gd name="adj" fmla="val 2857"/>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3" name="SDG number 12"/>
          <p:cNvSpPr/>
          <p:nvPr/>
        </p:nvSpPr>
        <p:spPr>
          <a:xfrm>
            <a:off x="4617720" y="1874520"/>
            <a:ext cx="1005840" cy="914400"/>
          </a:xfrm>
          <a:prstGeom prst="roundRect">
            <a:avLst>
              <a:gd name="adj" fmla="val 10000"/>
            </a:avLst>
          </a:prstGeom>
          <a:solidFill>
            <a:schemeClr val="tx1"/>
          </a:solidFill>
          <a:ln w="12700">
            <a:solidFill>
              <a:schemeClr val="tx1"/>
            </a:solidFill>
            <a:prstDash val="solid"/>
          </a:ln>
        </p:spPr>
      </p:sp>
      <p:sp>
        <p:nvSpPr>
          <p:cNvPr id="14" name="Text 12"/>
          <p:cNvSpPr txBox="1"/>
          <p:nvPr/>
        </p:nvSpPr>
        <p:spPr>
          <a:xfrm>
            <a:off x="4617720" y="1874520"/>
            <a:ext cx="1005840"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12</a:t>
            </a:r>
            <a:endParaRPr lang="en-US" sz="4000" dirty="0"/>
          </a:p>
        </p:txBody>
      </p:sp>
      <p:sp>
        <p:nvSpPr>
          <p:cNvPr id="15" name="Text 13"/>
          <p:cNvSpPr txBox="1"/>
          <p:nvPr/>
        </p:nvSpPr>
        <p:spPr>
          <a:xfrm>
            <a:off x="5806440" y="1920240"/>
            <a:ext cx="1371600" cy="274320"/>
          </a:xfrm>
          <a:prstGeom prst="rect">
            <a:avLst/>
          </a:prstGeom>
          <a:noFill/>
          <a:ln/>
        </p:spPr>
        <p:txBody>
          <a:bodyPr wrap="square" lIns="0" tIns="0" rIns="0" bIns="0" rtlCol="0" anchor="ctr"/>
          <a:lstStyle/>
          <a:p>
            <a:pPr indent="0" marL="0">
              <a:buNone/>
            </a:pPr>
            <a:r>
              <a:rPr lang="en-US" sz="1100" b="1" spc="300" kern="0" dirty="0">
                <a:solidFill>
                  <a:schemeClr val="accent3"/>
                </a:solidFill>
              </a:rPr>
              <a:t>SDG</a:t>
            </a:r>
            <a:endParaRPr lang="en-US" sz="1100" dirty="0"/>
          </a:p>
        </p:txBody>
      </p:sp>
      <p:sp>
        <p:nvSpPr>
          <p:cNvPr id="16" name="Text 14"/>
          <p:cNvSpPr txBox="1"/>
          <p:nvPr/>
        </p:nvSpPr>
        <p:spPr>
          <a:xfrm>
            <a:off x="5806440" y="2194560"/>
            <a:ext cx="1874520" cy="731520"/>
          </a:xfrm>
          <a:prstGeom prst="rect">
            <a:avLst/>
          </a:prstGeom>
          <a:noFill/>
          <a:ln/>
        </p:spPr>
        <p:txBody>
          <a:bodyPr wrap="square" lIns="0" tIns="0" rIns="0" bIns="0" rtlCol="0" anchor="t"/>
          <a:lstStyle/>
          <a:p>
            <a:pPr indent="0" marL="0">
              <a:buNone/>
            </a:pPr>
            <a:r>
              <a:rPr lang="en-US" sz="1400" b="1" dirty="0">
                <a:solidFill>
                  <a:schemeClr val="tx1"/>
                </a:solidFill>
              </a:rPr>
              <a:t>Responsible Consumption &amp; Production</a:t>
            </a:r>
            <a:endParaRPr lang="en-US" sz="1400" dirty="0"/>
          </a:p>
        </p:txBody>
      </p:sp>
      <p:sp>
        <p:nvSpPr>
          <p:cNvPr id="17" name="Text 15"/>
          <p:cNvSpPr txBox="1"/>
          <p:nvPr/>
        </p:nvSpPr>
        <p:spPr>
          <a:xfrm>
            <a:off x="4617720" y="3200400"/>
            <a:ext cx="2926080" cy="1371600"/>
          </a:xfrm>
          <a:prstGeom prst="rect">
            <a:avLst/>
          </a:prstGeom>
          <a:noFill/>
          <a:ln/>
        </p:spPr>
        <p:txBody>
          <a:bodyPr wrap="square" lIns="0" tIns="0" rIns="0" bIns="0" rtlCol="0" anchor="t"/>
          <a:lstStyle/>
          <a:p>
            <a:pPr indent="0" marL="0">
              <a:buNone/>
            </a:pPr>
            <a:r>
              <a:rPr lang="en-US" sz="1500" dirty="0">
                <a:solidFill>
                  <a:schemeClr val="accent3"/>
                </a:solidFill>
              </a:rPr>
              <a:t>Accurate stock records reduce wrong, lost or surplus items.</a:t>
            </a:r>
            <a:endParaRPr lang="en-US" sz="1500" dirty="0"/>
          </a:p>
        </p:txBody>
      </p:sp>
      <p:sp>
        <p:nvSpPr>
          <p:cNvPr id="18" name="SDG 8"/>
          <p:cNvSpPr/>
          <p:nvPr/>
        </p:nvSpPr>
        <p:spPr>
          <a:xfrm>
            <a:off x="8138160" y="1600200"/>
            <a:ext cx="3474720" cy="3200400"/>
          </a:xfrm>
          <a:prstGeom prst="roundRect">
            <a:avLst>
              <a:gd name="adj" fmla="val 2857"/>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9" name="SDG number 8"/>
          <p:cNvSpPr/>
          <p:nvPr/>
        </p:nvSpPr>
        <p:spPr>
          <a:xfrm>
            <a:off x="8412480" y="1874520"/>
            <a:ext cx="1005840" cy="914400"/>
          </a:xfrm>
          <a:prstGeom prst="roundRect">
            <a:avLst>
              <a:gd name="adj" fmla="val 10000"/>
            </a:avLst>
          </a:prstGeom>
          <a:solidFill>
            <a:schemeClr val="tx1"/>
          </a:solidFill>
          <a:ln w="12700">
            <a:solidFill>
              <a:schemeClr val="tx1"/>
            </a:solidFill>
            <a:prstDash val="solid"/>
          </a:ln>
        </p:spPr>
      </p:sp>
      <p:sp>
        <p:nvSpPr>
          <p:cNvPr id="20" name="Text 18"/>
          <p:cNvSpPr txBox="1"/>
          <p:nvPr/>
        </p:nvSpPr>
        <p:spPr>
          <a:xfrm>
            <a:off x="8412480" y="1874520"/>
            <a:ext cx="1005840"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21" name="Text 19"/>
          <p:cNvSpPr txBox="1"/>
          <p:nvPr/>
        </p:nvSpPr>
        <p:spPr>
          <a:xfrm>
            <a:off x="9601200" y="1920240"/>
            <a:ext cx="1371600" cy="274320"/>
          </a:xfrm>
          <a:prstGeom prst="rect">
            <a:avLst/>
          </a:prstGeom>
          <a:noFill/>
          <a:ln/>
        </p:spPr>
        <p:txBody>
          <a:bodyPr wrap="square" lIns="0" tIns="0" rIns="0" bIns="0" rtlCol="0" anchor="ctr"/>
          <a:lstStyle/>
          <a:p>
            <a:pPr indent="0" marL="0">
              <a:buNone/>
            </a:pPr>
            <a:r>
              <a:rPr lang="en-US" sz="1100" b="1" spc="300" kern="0" dirty="0">
                <a:solidFill>
                  <a:schemeClr val="accent3"/>
                </a:solidFill>
              </a:rPr>
              <a:t>SDG</a:t>
            </a:r>
            <a:endParaRPr lang="en-US" sz="1100" dirty="0"/>
          </a:p>
        </p:txBody>
      </p:sp>
      <p:sp>
        <p:nvSpPr>
          <p:cNvPr id="22" name="Text 20"/>
          <p:cNvSpPr txBox="1"/>
          <p:nvPr/>
        </p:nvSpPr>
        <p:spPr>
          <a:xfrm>
            <a:off x="9601200" y="2194560"/>
            <a:ext cx="1874520" cy="731520"/>
          </a:xfrm>
          <a:prstGeom prst="rect">
            <a:avLst/>
          </a:prstGeom>
          <a:noFill/>
          <a:ln/>
        </p:spPr>
        <p:txBody>
          <a:bodyPr wrap="square" lIns="0" tIns="0" rIns="0" bIns="0" rtlCol="0" anchor="t"/>
          <a:lstStyle/>
          <a:p>
            <a:pPr indent="0" marL="0">
              <a:buNone/>
            </a:pPr>
            <a:r>
              <a:rPr lang="en-US" sz="1400" b="1" dirty="0">
                <a:solidFill>
                  <a:schemeClr val="tx1"/>
                </a:solidFill>
              </a:rPr>
              <a:t>Decent Work &amp; Economic Growth</a:t>
            </a:r>
            <a:endParaRPr lang="en-US" sz="1400" dirty="0"/>
          </a:p>
        </p:txBody>
      </p:sp>
      <p:sp>
        <p:nvSpPr>
          <p:cNvPr id="23" name="Text 21"/>
          <p:cNvSpPr txBox="1"/>
          <p:nvPr/>
        </p:nvSpPr>
        <p:spPr>
          <a:xfrm>
            <a:off x="8412480" y="3200400"/>
            <a:ext cx="2926080" cy="1371600"/>
          </a:xfrm>
          <a:prstGeom prst="rect">
            <a:avLst/>
          </a:prstGeom>
          <a:noFill/>
          <a:ln/>
        </p:spPr>
        <p:txBody>
          <a:bodyPr wrap="square" lIns="0" tIns="0" rIns="0" bIns="0" rtlCol="0" anchor="t"/>
          <a:lstStyle/>
          <a:p>
            <a:pPr indent="0" marL="0">
              <a:buNone/>
            </a:pPr>
            <a:r>
              <a:rPr lang="en-US" sz="1500" dirty="0">
                <a:solidFill>
                  <a:schemeClr val="accent3"/>
                </a:solidFill>
              </a:rPr>
              <a:t>Less manual re-entry lets staff spend time on real work.</a:t>
            </a:r>
            <a:endParaRPr lang="en-US" sz="1500" dirty="0"/>
          </a:p>
        </p:txBody>
      </p:sp>
      <p:sp>
        <p:nvSpPr>
          <p:cNvPr id="24" name="Outcome strip"/>
          <p:cNvSpPr/>
          <p:nvPr/>
        </p:nvSpPr>
        <p:spPr>
          <a:xfrm>
            <a:off x="548640" y="5074920"/>
            <a:ext cx="11064240" cy="1051560"/>
          </a:xfrm>
          <a:prstGeom prst="roundRect">
            <a:avLst>
              <a:gd name="adj" fmla="val 8696"/>
            </a:avLst>
          </a:prstGeom>
          <a:solidFill>
            <a:schemeClr val="tx1"/>
          </a:solidFill>
          <a:ln w="12700">
            <a:solidFill>
              <a:schemeClr val="tx1"/>
            </a:solidFill>
            <a:prstDash val="solid"/>
          </a:ln>
        </p:spPr>
      </p:sp>
      <p:sp>
        <p:nvSpPr>
          <p:cNvPr id="25" name="Text 23"/>
          <p:cNvSpPr txBox="1"/>
          <p:nvPr/>
        </p:nvSpPr>
        <p:spPr>
          <a:xfrm>
            <a:off x="914400" y="5212080"/>
            <a:ext cx="3657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SOCIETAL OUTCOME</a:t>
            </a:r>
            <a:endParaRPr lang="en-US" sz="1200" dirty="0"/>
          </a:p>
        </p:txBody>
      </p:sp>
      <p:sp>
        <p:nvSpPr>
          <p:cNvPr id="26" name="Text 24"/>
          <p:cNvSpPr txBox="1"/>
          <p:nvPr/>
        </p:nvSpPr>
        <p:spPr>
          <a:xfrm>
            <a:off x="914400" y="5486400"/>
            <a:ext cx="10332720" cy="548640"/>
          </a:xfrm>
          <a:prstGeom prst="rect">
            <a:avLst/>
          </a:prstGeom>
          <a:noFill/>
          <a:ln/>
        </p:spPr>
        <p:txBody>
          <a:bodyPr wrap="square" lIns="0" tIns="0" rIns="0" bIns="0" rtlCol="0" anchor="t"/>
          <a:lstStyle/>
          <a:p>
            <a:pPr indent="0" marL="0">
              <a:buNone/>
            </a:pPr>
            <a:r>
              <a:rPr lang="en-US" sz="1600" dirty="0">
                <a:solidFill>
                  <a:schemeClr val="bg1"/>
                </a:solidFill>
              </a:rPr>
              <a:t>Fewer errors and delays between the warehouse and the customer, and clearer delivery updates for everyone involved.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4  ·  NOVELTY OF THE PROJECT TITLE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DockFlow compared with existing approaches</a:t>
            </a:r>
            <a:endParaRPr lang="en-US" sz="3200" dirty="0"/>
          </a:p>
        </p:txBody>
      </p:sp>
      <p:graphicFrame>
        <p:nvGraphicFramePr>
          <p:cNvPr id="11" name="Comparison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011680"/>
                <a:gridCol w="2743200"/>
                <a:gridCol w="2926080"/>
                <a:gridCol w="3383280"/>
              </a:tblGrid>
              <a:tr h="502920">
                <a:tc>
                  <a:txBody>
                    <a:bodyPr/>
                    <a:lstStyle/>
                    <a:p>
                      <a:pPr algn="l" indent="0" marL="0">
                        <a:buNone/>
                      </a:pPr>
                      <a:r>
                        <a:rPr lang="en-US" sz="1500" b="1" dirty="0">
                          <a:solidFill>
                            <a:srgbClr val="FFFFFF"/>
                          </a:solidFill>
                        </a:rPr>
                        <a:t>Aspect</a:t>
                      </a:r>
                      <a:endParaRPr lang="en-US" sz="150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500" b="1" dirty="0">
                          <a:solidFill>
                            <a:srgbClr val="FFFFFF"/>
                          </a:solidFill>
                        </a:rPr>
                        <a:t>Manual records and spreadsheets</a:t>
                      </a:r>
                      <a:endParaRPr lang="en-US" sz="150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500" b="1" dirty="0">
                          <a:solidFill>
                            <a:srgbClr val="FFFFFF"/>
                          </a:solidFill>
                        </a:rPr>
                        <a:t>Typical single-database system</a:t>
                      </a:r>
                      <a:endParaRPr lang="en-US" sz="150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500" b="1" dirty="0">
                          <a:solidFill>
                            <a:srgbClr val="1B2A41"/>
                          </a:solidFill>
                        </a:rPr>
                        <a:t>DockFlow</a:t>
                      </a:r>
                      <a:endParaRPr lang="en-US" sz="150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777240">
                <a:tc>
                  <a:txBody>
                    <a:bodyPr/>
                    <a:lstStyle/>
                    <a:p>
                      <a:pPr indent="0" marL="0">
                        <a:buNone/>
                      </a:pPr>
                      <a:r>
                        <a:rPr lang="en-US" sz="1350" b="1" dirty="0">
                          <a:solidFill>
                            <a:srgbClr val="1B2A41"/>
                          </a:solidFill>
                        </a:rPr>
                        <a:t>Stock tracking</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Counts drift from real stock</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dirty="0">
                          <a:solidFill>
                            <a:srgbClr val="1B2A41"/>
                          </a:solidFill>
                        </a:rPr>
                        <a:t>Tracks stock in one database</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By size, color and location for men's, women's and kids' clothes</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77240">
                <a:tc>
                  <a:txBody>
                    <a:bodyPr/>
                    <a:lstStyle/>
                    <a:p>
                      <a:pPr indent="0" marL="0">
                        <a:buNone/>
                      </a:pPr>
                      <a:r>
                        <a:rPr lang="en-US" sz="1350" b="1" dirty="0">
                          <a:solidFill>
                            <a:srgbClr val="1B2A41"/>
                          </a:solidFill>
                        </a:rPr>
                        <a:t>Order handling</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Separate sheets, manual re-entry</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dirty="0">
                          <a:solidFill>
                            <a:srgbClr val="1B2A41"/>
                          </a:solidFill>
                        </a:rPr>
                        <a:t>Orders in the same database</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Orders created against tracked stock in MySQL</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77240">
                <a:tc>
                  <a:txBody>
                    <a:bodyPr/>
                    <a:lstStyle/>
                    <a:p>
                      <a:pPr indent="0" marL="0">
                        <a:buNone/>
                      </a:pPr>
                      <a:r>
                        <a:rPr lang="en-US" sz="1350" b="1" dirty="0">
                          <a:solidFill>
                            <a:srgbClr val="1B2A41"/>
                          </a:solidFill>
                        </a:rPr>
                        <a:t>Delivery updates</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Phone calls and notes</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dirty="0">
                          <a:solidFill>
                            <a:srgbClr val="1B2A41"/>
                          </a:solidFill>
                        </a:rPr>
                        <a:t>Fixed table columns</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Flexible updates stored in MongoDB</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77240">
                <a:tc>
                  <a:txBody>
                    <a:bodyPr/>
                    <a:lstStyle/>
                    <a:p>
                      <a:pPr indent="0" marL="0">
                        <a:buNone/>
                      </a:pPr>
                      <a:r>
                        <a:rPr lang="en-US" sz="1350" b="1" dirty="0">
                          <a:solidFill>
                            <a:srgbClr val="1B2A41"/>
                          </a:solidFill>
                        </a:rPr>
                        <a:t>Service communication</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None</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dirty="0">
                          <a:solidFill>
                            <a:srgbClr val="1B2A41"/>
                          </a:solidFill>
                        </a:rPr>
                        <a:t>Direct calls between modules</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Shipment events passed through Kafka</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77240">
                <a:tc>
                  <a:txBody>
                    <a:bodyPr/>
                    <a:lstStyle/>
                    <a:p>
                      <a:pPr indent="0" marL="0">
                        <a:buNone/>
                      </a:pPr>
                      <a:r>
                        <a:rPr lang="en-US" sz="1350" b="1" dirty="0">
                          <a:solidFill>
                            <a:srgbClr val="1B2A41"/>
                          </a:solidFill>
                        </a:rPr>
                        <a:t>Database choice</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No database</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dirty="0">
                          <a:solidFill>
                            <a:srgbClr val="1B2A41"/>
                          </a:solidFill>
                        </a:rPr>
                        <a:t>One database for everything</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A different tool for each job</a:t>
                      </a:r>
                      <a:endParaRPr lang="en-US" sz="1350" dirty="0"/>
                    </a:p>
                  </a:txBody>
                  <a:tcPr marL="109728" marR="109728" marT="45720" marB="45720"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4  ·  NOVELTY OF THE PROJECT TITLE</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What is new in DockFlow</a:t>
            </a:r>
            <a:endParaRPr lang="en-US" sz="3200" dirty="0"/>
          </a:p>
        </p:txBody>
      </p:sp>
      <p:sp>
        <p:nvSpPr>
          <p:cNvPr id="6" name="Novelty 1"/>
          <p:cNvSpPr/>
          <p:nvPr/>
        </p:nvSpPr>
        <p:spPr>
          <a:xfrm>
            <a:off x="548640" y="1554480"/>
            <a:ext cx="3474720" cy="2743200"/>
          </a:xfrm>
          <a:prstGeom prst="roundRect">
            <a:avLst>
              <a:gd name="adj" fmla="val 3333"/>
            </a:avLst>
          </a:prstGeom>
          <a:solidFill>
            <a:schemeClr val="tx2"/>
          </a:solidFill>
          <a:ln w="12700">
            <a:solidFill>
              <a:schemeClr val="tx2"/>
            </a:solidFill>
            <a:prstDash val="solid"/>
          </a:ln>
        </p:spPr>
      </p:sp>
      <p:sp>
        <p:nvSpPr>
          <p:cNvPr id="7" name="Right database for each job circle"/>
          <p:cNvSpPr/>
          <p:nvPr/>
        </p:nvSpPr>
        <p:spPr>
          <a:xfrm>
            <a:off x="822960" y="1783080"/>
            <a:ext cx="731520" cy="731520"/>
          </a:xfrm>
          <a:prstGeom prst="ellipse">
            <a:avLst/>
          </a:prstGeom>
          <a:solidFill>
            <a:schemeClr val="accent1"/>
          </a:solidFill>
          <a:ln w="12700">
            <a:solidFill>
              <a:schemeClr val="accent1"/>
            </a:solidFill>
            <a:prstDash val="solid"/>
          </a:ln>
        </p:spPr>
      </p:sp>
      <p:pic>
        <p:nvPicPr>
          <p:cNvPr id="8" name="Image 0" descr="Right database for each job icon">    </p:cNvPr>
          <p:cNvPicPr>
            <a:picLocks noChangeAspect="1"/>
          </p:cNvPicPr>
          <p:nvPr/>
        </p:nvPicPr>
        <p:blipFill>
          <a:blip r:embed="rId1"/>
          <a:stretch>
            <a:fillRect/>
          </a:stretch>
        </p:blipFill>
        <p:spPr>
          <a:xfrm>
            <a:off x="983894" y="1944014"/>
            <a:ext cx="409651" cy="409651"/>
          </a:xfrm>
          <a:prstGeom prst="rect">
            <a:avLst/>
          </a:prstGeom>
        </p:spPr>
      </p:pic>
      <p:sp>
        <p:nvSpPr>
          <p:cNvPr id="9" name="Text 6"/>
          <p:cNvSpPr txBox="1"/>
          <p:nvPr/>
        </p:nvSpPr>
        <p:spPr>
          <a:xfrm>
            <a:off x="822960" y="2697480"/>
            <a:ext cx="2926080" cy="548640"/>
          </a:xfrm>
          <a:prstGeom prst="rect">
            <a:avLst/>
          </a:prstGeom>
          <a:noFill/>
          <a:ln/>
        </p:spPr>
        <p:txBody>
          <a:bodyPr wrap="square" lIns="0" tIns="0" rIns="0" bIns="0" rtlCol="0" anchor="t"/>
          <a:lstStyle/>
          <a:p>
            <a:pPr indent="0" marL="0">
              <a:buNone/>
            </a:pPr>
            <a:r>
              <a:rPr lang="en-US" sz="1800" b="1" dirty="0">
                <a:solidFill>
                  <a:schemeClr val="bg1"/>
                </a:solidFill>
              </a:rPr>
              <a:t>Right database for each job</a:t>
            </a:r>
            <a:endParaRPr lang="en-US" sz="1800" dirty="0"/>
          </a:p>
        </p:txBody>
      </p:sp>
      <p:sp>
        <p:nvSpPr>
          <p:cNvPr id="10" name="Text 7"/>
          <p:cNvSpPr txBox="1"/>
          <p:nvPr/>
        </p:nvSpPr>
        <p:spPr>
          <a:xfrm>
            <a:off x="822960" y="3291840"/>
            <a:ext cx="2971800" cy="914400"/>
          </a:xfrm>
          <a:prstGeom prst="rect">
            <a:avLst/>
          </a:prstGeom>
          <a:noFill/>
          <a:ln/>
        </p:spPr>
        <p:txBody>
          <a:bodyPr wrap="square" lIns="0" tIns="0" rIns="0" bIns="0" rtlCol="0" anchor="t"/>
          <a:lstStyle/>
          <a:p>
            <a:pPr indent="0" marL="0">
              <a:buNone/>
            </a:pPr>
            <a:r>
              <a:rPr lang="en-US" sz="1350" dirty="0">
                <a:solidFill>
                  <a:schemeClr val="accent4"/>
                </a:solidFill>
              </a:rPr>
              <a:t>MySQL keeps stock and orders consistent. MongoDB stores delivery updates flexibly.</a:t>
            </a:r>
            <a:endParaRPr lang="en-US" sz="1350" dirty="0"/>
          </a:p>
        </p:txBody>
      </p:sp>
      <p:sp>
        <p:nvSpPr>
          <p:cNvPr id="11" name="Novelty 2"/>
          <p:cNvSpPr/>
          <p:nvPr/>
        </p:nvSpPr>
        <p:spPr>
          <a:xfrm>
            <a:off x="4343400" y="1554480"/>
            <a:ext cx="3474720" cy="2743200"/>
          </a:xfrm>
          <a:prstGeom prst="roundRect">
            <a:avLst>
              <a:gd name="adj" fmla="val 3333"/>
            </a:avLst>
          </a:prstGeom>
          <a:solidFill>
            <a:schemeClr val="tx2"/>
          </a:solidFill>
          <a:ln w="12700">
            <a:solidFill>
              <a:schemeClr val="tx2"/>
            </a:solidFill>
            <a:prstDash val="solid"/>
          </a:ln>
        </p:spPr>
      </p:sp>
      <p:sp>
        <p:nvSpPr>
          <p:cNvPr id="12" name="Event-driven shipments circle"/>
          <p:cNvSpPr/>
          <p:nvPr/>
        </p:nvSpPr>
        <p:spPr>
          <a:xfrm>
            <a:off x="4617720" y="1783080"/>
            <a:ext cx="731520" cy="731520"/>
          </a:xfrm>
          <a:prstGeom prst="ellipse">
            <a:avLst/>
          </a:prstGeom>
          <a:solidFill>
            <a:schemeClr val="accent1"/>
          </a:solidFill>
          <a:ln w="12700">
            <a:solidFill>
              <a:schemeClr val="accent1"/>
            </a:solidFill>
            <a:prstDash val="solid"/>
          </a:ln>
        </p:spPr>
      </p:sp>
      <p:pic>
        <p:nvPicPr>
          <p:cNvPr id="13" name="Image 1" descr="Event-driven shipments icon">    </p:cNvPr>
          <p:cNvPicPr>
            <a:picLocks noChangeAspect="1"/>
          </p:cNvPicPr>
          <p:nvPr/>
        </p:nvPicPr>
        <p:blipFill>
          <a:blip r:embed="rId2"/>
          <a:stretch>
            <a:fillRect/>
          </a:stretch>
        </p:blipFill>
        <p:spPr>
          <a:xfrm>
            <a:off x="4778654" y="1944014"/>
            <a:ext cx="409651" cy="409651"/>
          </a:xfrm>
          <a:prstGeom prst="rect">
            <a:avLst/>
          </a:prstGeom>
        </p:spPr>
      </p:pic>
      <p:sp>
        <p:nvSpPr>
          <p:cNvPr id="14" name="Text 10"/>
          <p:cNvSpPr txBox="1"/>
          <p:nvPr/>
        </p:nvSpPr>
        <p:spPr>
          <a:xfrm>
            <a:off x="4617720" y="2697480"/>
            <a:ext cx="2926080" cy="548640"/>
          </a:xfrm>
          <a:prstGeom prst="rect">
            <a:avLst/>
          </a:prstGeom>
          <a:noFill/>
          <a:ln/>
        </p:spPr>
        <p:txBody>
          <a:bodyPr wrap="square" lIns="0" tIns="0" rIns="0" bIns="0" rtlCol="0" anchor="t"/>
          <a:lstStyle/>
          <a:p>
            <a:pPr indent="0" marL="0">
              <a:buNone/>
            </a:pPr>
            <a:r>
              <a:rPr lang="en-US" sz="1800" b="1" dirty="0">
                <a:solidFill>
                  <a:schemeClr val="bg1"/>
                </a:solidFill>
              </a:rPr>
              <a:t>Event-driven shipments</a:t>
            </a:r>
            <a:endParaRPr lang="en-US" sz="1800" dirty="0"/>
          </a:p>
        </p:txBody>
      </p:sp>
      <p:sp>
        <p:nvSpPr>
          <p:cNvPr id="15" name="Text 11"/>
          <p:cNvSpPr txBox="1"/>
          <p:nvPr/>
        </p:nvSpPr>
        <p:spPr>
          <a:xfrm>
            <a:off x="4617720" y="3291840"/>
            <a:ext cx="2971800" cy="914400"/>
          </a:xfrm>
          <a:prstGeom prst="rect">
            <a:avLst/>
          </a:prstGeom>
          <a:noFill/>
          <a:ln/>
        </p:spPr>
        <p:txBody>
          <a:bodyPr wrap="square" lIns="0" tIns="0" rIns="0" bIns="0" rtlCol="0" anchor="t"/>
          <a:lstStyle/>
          <a:p>
            <a:pPr indent="0" marL="0">
              <a:buNone/>
            </a:pPr>
            <a:r>
              <a:rPr lang="en-US" sz="1350" dirty="0">
                <a:solidFill>
                  <a:schemeClr val="accent4"/>
                </a:solidFill>
              </a:rPr>
              <a:t>Kafka passes shipment events between services as they happen.</a:t>
            </a:r>
            <a:endParaRPr lang="en-US" sz="1350" dirty="0"/>
          </a:p>
        </p:txBody>
      </p:sp>
      <p:sp>
        <p:nvSpPr>
          <p:cNvPr id="16" name="Novelty 3"/>
          <p:cNvSpPr/>
          <p:nvPr/>
        </p:nvSpPr>
        <p:spPr>
          <a:xfrm>
            <a:off x="8138160" y="1554480"/>
            <a:ext cx="3474720" cy="2743200"/>
          </a:xfrm>
          <a:prstGeom prst="roundRect">
            <a:avLst>
              <a:gd name="adj" fmla="val 3333"/>
            </a:avLst>
          </a:prstGeom>
          <a:solidFill>
            <a:schemeClr val="tx2"/>
          </a:solidFill>
          <a:ln w="12700">
            <a:solidFill>
              <a:schemeClr val="tx2"/>
            </a:solidFill>
            <a:prstDash val="solid"/>
          </a:ln>
        </p:spPr>
      </p:sp>
      <p:sp>
        <p:nvSpPr>
          <p:cNvPr id="17" name="One place for everything circle"/>
          <p:cNvSpPr/>
          <p:nvPr/>
        </p:nvSpPr>
        <p:spPr>
          <a:xfrm>
            <a:off x="8412480" y="1783080"/>
            <a:ext cx="731520" cy="731520"/>
          </a:xfrm>
          <a:prstGeom prst="ellipse">
            <a:avLst/>
          </a:prstGeom>
          <a:solidFill>
            <a:schemeClr val="accent1"/>
          </a:solidFill>
          <a:ln w="12700">
            <a:solidFill>
              <a:schemeClr val="accent1"/>
            </a:solidFill>
            <a:prstDash val="solid"/>
          </a:ln>
        </p:spPr>
      </p:sp>
      <p:pic>
        <p:nvPicPr>
          <p:cNvPr id="18" name="Image 2" descr="One place for everything icon">    </p:cNvPr>
          <p:cNvPicPr>
            <a:picLocks noChangeAspect="1"/>
          </p:cNvPicPr>
          <p:nvPr/>
        </p:nvPicPr>
        <p:blipFill>
          <a:blip r:embed="rId3"/>
          <a:stretch>
            <a:fillRect/>
          </a:stretch>
        </p:blipFill>
        <p:spPr>
          <a:xfrm>
            <a:off x="8573414" y="1944014"/>
            <a:ext cx="409651" cy="409651"/>
          </a:xfrm>
          <a:prstGeom prst="rect">
            <a:avLst/>
          </a:prstGeom>
        </p:spPr>
      </p:pic>
      <p:sp>
        <p:nvSpPr>
          <p:cNvPr id="19" name="Text 14"/>
          <p:cNvSpPr txBox="1"/>
          <p:nvPr/>
        </p:nvSpPr>
        <p:spPr>
          <a:xfrm>
            <a:off x="8412480" y="2697480"/>
            <a:ext cx="2926080" cy="548640"/>
          </a:xfrm>
          <a:prstGeom prst="rect">
            <a:avLst/>
          </a:prstGeom>
          <a:noFill/>
          <a:ln/>
        </p:spPr>
        <p:txBody>
          <a:bodyPr wrap="square" lIns="0" tIns="0" rIns="0" bIns="0" rtlCol="0" anchor="t"/>
          <a:lstStyle/>
          <a:p>
            <a:pPr indent="0" marL="0">
              <a:buNone/>
            </a:pPr>
            <a:r>
              <a:rPr lang="en-US" sz="1800" b="1" dirty="0">
                <a:solidFill>
                  <a:schemeClr val="bg1"/>
                </a:solidFill>
              </a:rPr>
              <a:t>One place for everything</a:t>
            </a:r>
            <a:endParaRPr lang="en-US" sz="1800" dirty="0"/>
          </a:p>
        </p:txBody>
      </p:sp>
      <p:sp>
        <p:nvSpPr>
          <p:cNvPr id="20" name="Text 15"/>
          <p:cNvSpPr txBox="1"/>
          <p:nvPr/>
        </p:nvSpPr>
        <p:spPr>
          <a:xfrm>
            <a:off x="8412480" y="3291840"/>
            <a:ext cx="2971800" cy="914400"/>
          </a:xfrm>
          <a:prstGeom prst="rect">
            <a:avLst/>
          </a:prstGeom>
          <a:noFill/>
          <a:ln/>
        </p:spPr>
        <p:txBody>
          <a:bodyPr wrap="square" lIns="0" tIns="0" rIns="0" bIns="0" rtlCol="0" anchor="t"/>
          <a:lstStyle/>
          <a:p>
            <a:pPr indent="0" marL="0">
              <a:buNone/>
            </a:pPr>
            <a:r>
              <a:rPr lang="en-US" sz="1350" dirty="0">
                <a:solidFill>
                  <a:schemeClr val="accent4"/>
                </a:solidFill>
              </a:rPr>
              <a:t>Stock, orders and delivery updates come together in a single website.</a:t>
            </a:r>
            <a:endParaRPr lang="en-US" sz="1350" dirty="0"/>
          </a:p>
        </p:txBody>
      </p:sp>
      <p:sp>
        <p:nvSpPr>
          <p:cNvPr id="21" name="Text 16"/>
          <p:cNvSpPr txBox="1"/>
          <p:nvPr/>
        </p:nvSpPr>
        <p:spPr>
          <a:xfrm>
            <a:off x="548640" y="457200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HOW ONE DELIVERY MOVES THROUGH DOCKFLOW</a:t>
            </a:r>
            <a:endParaRPr lang="en-US" sz="1200" dirty="0"/>
          </a:p>
        </p:txBody>
      </p:sp>
      <p:sp>
        <p:nvSpPr>
          <p:cNvPr id="22" name="Flow 1"/>
          <p:cNvSpPr/>
          <p:nvPr/>
        </p:nvSpPr>
        <p:spPr>
          <a:xfrm>
            <a:off x="548640" y="4937760"/>
            <a:ext cx="2468880" cy="1097280"/>
          </a:xfrm>
          <a:prstGeom prst="roundRect">
            <a:avLst>
              <a:gd name="adj" fmla="val 8333"/>
            </a:avLst>
          </a:prstGeom>
          <a:solidFill>
            <a:schemeClr val="bg2"/>
          </a:solidFill>
          <a:ln w="12700">
            <a:solidFill>
              <a:schemeClr val="bg2"/>
            </a:solidFill>
            <a:prstDash val="solid"/>
          </a:ln>
        </p:spPr>
      </p:sp>
      <p:sp>
        <p:nvSpPr>
          <p:cNvPr id="23" name="Text 18"/>
          <p:cNvSpPr txBox="1"/>
          <p:nvPr/>
        </p:nvSpPr>
        <p:spPr>
          <a:xfrm>
            <a:off x="731520" y="507492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Add stock</a:t>
            </a:r>
            <a:endParaRPr lang="en-US" sz="1700" dirty="0"/>
          </a:p>
        </p:txBody>
      </p:sp>
      <p:sp>
        <p:nvSpPr>
          <p:cNvPr id="24" name="Pill MySQL"/>
          <p:cNvSpPr/>
          <p:nvPr/>
        </p:nvSpPr>
        <p:spPr>
          <a:xfrm>
            <a:off x="1234440" y="5577840"/>
            <a:ext cx="1097280" cy="292608"/>
          </a:xfrm>
          <a:prstGeom prst="roundRect">
            <a:avLst>
              <a:gd name="adj" fmla="val 50000"/>
            </a:avLst>
          </a:prstGeom>
          <a:solidFill>
            <a:schemeClr val="tx1"/>
          </a:solidFill>
          <a:ln w="12700">
            <a:solidFill>
              <a:schemeClr val="tx1"/>
            </a:solidFill>
            <a:prstDash val="solid"/>
          </a:ln>
        </p:spPr>
      </p:sp>
      <p:sp>
        <p:nvSpPr>
          <p:cNvPr id="25" name="Text 20"/>
          <p:cNvSpPr txBox="1"/>
          <p:nvPr/>
        </p:nvSpPr>
        <p:spPr>
          <a:xfrm>
            <a:off x="1234440" y="5577840"/>
            <a:ext cx="1097280" cy="292608"/>
          </a:xfrm>
          <a:prstGeom prst="rect">
            <a:avLst/>
          </a:prstGeom>
          <a:noFill/>
          <a:ln/>
        </p:spPr>
        <p:txBody>
          <a:bodyPr wrap="square" lIns="0" tIns="0" rIns="0" bIns="0" rtlCol="0" anchor="ctr"/>
          <a:lstStyle/>
          <a:p>
            <a:pPr algn="ctr" indent="0" marL="0">
              <a:buNone/>
            </a:pPr>
            <a:r>
              <a:rPr lang="en-US" sz="1100" b="1" dirty="0">
                <a:solidFill>
                  <a:srgbClr val="F2A541"/>
                </a:solidFill>
              </a:rPr>
              <a:t>MySQL</a:t>
            </a:r>
            <a:endParaRPr lang="en-US" sz="1100" dirty="0"/>
          </a:p>
        </p:txBody>
      </p:sp>
      <p:sp>
        <p:nvSpPr>
          <p:cNvPr id="26" name="Shape 21"/>
          <p:cNvSpPr/>
          <p:nvPr/>
        </p:nvSpPr>
        <p:spPr>
          <a:xfrm>
            <a:off x="3035808" y="5486400"/>
            <a:ext cx="329184" cy="0"/>
          </a:xfrm>
          <a:prstGeom prst="line">
            <a:avLst/>
          </a:prstGeom>
          <a:noFill/>
          <a:ln w="28575">
            <a:solidFill>
              <a:srgbClr val="F2A541"/>
            </a:solidFill>
            <a:prstDash val="solid"/>
            <a:tailEnd type="triangle"/>
          </a:ln>
        </p:spPr>
      </p:sp>
      <p:sp>
        <p:nvSpPr>
          <p:cNvPr id="27" name="Flow 2"/>
          <p:cNvSpPr/>
          <p:nvPr/>
        </p:nvSpPr>
        <p:spPr>
          <a:xfrm>
            <a:off x="3383280" y="4937760"/>
            <a:ext cx="2468880" cy="1097280"/>
          </a:xfrm>
          <a:prstGeom prst="roundRect">
            <a:avLst>
              <a:gd name="adj" fmla="val 8333"/>
            </a:avLst>
          </a:prstGeom>
          <a:solidFill>
            <a:schemeClr val="bg2"/>
          </a:solidFill>
          <a:ln w="12700">
            <a:solidFill>
              <a:schemeClr val="bg2"/>
            </a:solidFill>
            <a:prstDash val="solid"/>
          </a:ln>
        </p:spPr>
      </p:sp>
      <p:sp>
        <p:nvSpPr>
          <p:cNvPr id="28" name="Text 23"/>
          <p:cNvSpPr txBox="1"/>
          <p:nvPr/>
        </p:nvSpPr>
        <p:spPr>
          <a:xfrm>
            <a:off x="3566160" y="507492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Create order</a:t>
            </a:r>
            <a:endParaRPr lang="en-US" sz="1700" dirty="0"/>
          </a:p>
        </p:txBody>
      </p:sp>
      <p:sp>
        <p:nvSpPr>
          <p:cNvPr id="29" name="Pill MySQL"/>
          <p:cNvSpPr/>
          <p:nvPr/>
        </p:nvSpPr>
        <p:spPr>
          <a:xfrm>
            <a:off x="4069080" y="5577840"/>
            <a:ext cx="1097280" cy="292608"/>
          </a:xfrm>
          <a:prstGeom prst="roundRect">
            <a:avLst>
              <a:gd name="adj" fmla="val 50000"/>
            </a:avLst>
          </a:prstGeom>
          <a:solidFill>
            <a:schemeClr val="tx1"/>
          </a:solidFill>
          <a:ln w="12700">
            <a:solidFill>
              <a:schemeClr val="tx1"/>
            </a:solidFill>
            <a:prstDash val="solid"/>
          </a:ln>
        </p:spPr>
      </p:sp>
      <p:sp>
        <p:nvSpPr>
          <p:cNvPr id="30" name="Text 25"/>
          <p:cNvSpPr txBox="1"/>
          <p:nvPr/>
        </p:nvSpPr>
        <p:spPr>
          <a:xfrm>
            <a:off x="4069080" y="5577840"/>
            <a:ext cx="1097280" cy="292608"/>
          </a:xfrm>
          <a:prstGeom prst="rect">
            <a:avLst/>
          </a:prstGeom>
          <a:noFill/>
          <a:ln/>
        </p:spPr>
        <p:txBody>
          <a:bodyPr wrap="square" lIns="0" tIns="0" rIns="0" bIns="0" rtlCol="0" anchor="ctr"/>
          <a:lstStyle/>
          <a:p>
            <a:pPr algn="ctr" indent="0" marL="0">
              <a:buNone/>
            </a:pPr>
            <a:r>
              <a:rPr lang="en-US" sz="1100" b="1" dirty="0">
                <a:solidFill>
                  <a:srgbClr val="F2A541"/>
                </a:solidFill>
              </a:rPr>
              <a:t>MySQL</a:t>
            </a:r>
            <a:endParaRPr lang="en-US" sz="1100" dirty="0"/>
          </a:p>
        </p:txBody>
      </p:sp>
      <p:sp>
        <p:nvSpPr>
          <p:cNvPr id="31" name="Shape 26"/>
          <p:cNvSpPr/>
          <p:nvPr/>
        </p:nvSpPr>
        <p:spPr>
          <a:xfrm>
            <a:off x="5870448" y="5486400"/>
            <a:ext cx="329184" cy="0"/>
          </a:xfrm>
          <a:prstGeom prst="line">
            <a:avLst/>
          </a:prstGeom>
          <a:noFill/>
          <a:ln w="28575">
            <a:solidFill>
              <a:srgbClr val="F2A541"/>
            </a:solidFill>
            <a:prstDash val="solid"/>
            <a:tailEnd type="triangle"/>
          </a:ln>
        </p:spPr>
      </p:sp>
      <p:sp>
        <p:nvSpPr>
          <p:cNvPr id="32" name="Flow 3"/>
          <p:cNvSpPr/>
          <p:nvPr/>
        </p:nvSpPr>
        <p:spPr>
          <a:xfrm>
            <a:off x="6217920" y="4937760"/>
            <a:ext cx="2468880" cy="1097280"/>
          </a:xfrm>
          <a:prstGeom prst="roundRect">
            <a:avLst>
              <a:gd name="adj" fmla="val 8333"/>
            </a:avLst>
          </a:prstGeom>
          <a:solidFill>
            <a:schemeClr val="bg2"/>
          </a:solidFill>
          <a:ln w="12700">
            <a:solidFill>
              <a:schemeClr val="bg2"/>
            </a:solidFill>
            <a:prstDash val="solid"/>
          </a:ln>
        </p:spPr>
      </p:sp>
      <p:sp>
        <p:nvSpPr>
          <p:cNvPr id="33" name="Text 28"/>
          <p:cNvSpPr txBox="1"/>
          <p:nvPr/>
        </p:nvSpPr>
        <p:spPr>
          <a:xfrm>
            <a:off x="6400800" y="507492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Shipment event</a:t>
            </a:r>
            <a:endParaRPr lang="en-US" sz="1700" dirty="0"/>
          </a:p>
        </p:txBody>
      </p:sp>
      <p:sp>
        <p:nvSpPr>
          <p:cNvPr id="34" name="Pill Kafka"/>
          <p:cNvSpPr/>
          <p:nvPr/>
        </p:nvSpPr>
        <p:spPr>
          <a:xfrm>
            <a:off x="6903720" y="5577840"/>
            <a:ext cx="1097280" cy="292608"/>
          </a:xfrm>
          <a:prstGeom prst="roundRect">
            <a:avLst>
              <a:gd name="adj" fmla="val 50000"/>
            </a:avLst>
          </a:prstGeom>
          <a:solidFill>
            <a:schemeClr val="tx1"/>
          </a:solidFill>
          <a:ln w="12700">
            <a:solidFill>
              <a:schemeClr val="tx1"/>
            </a:solidFill>
            <a:prstDash val="solid"/>
          </a:ln>
        </p:spPr>
      </p:sp>
      <p:sp>
        <p:nvSpPr>
          <p:cNvPr id="35" name="Text 30"/>
          <p:cNvSpPr txBox="1"/>
          <p:nvPr/>
        </p:nvSpPr>
        <p:spPr>
          <a:xfrm>
            <a:off x="6903720" y="5577840"/>
            <a:ext cx="1097280" cy="292608"/>
          </a:xfrm>
          <a:prstGeom prst="rect">
            <a:avLst/>
          </a:prstGeom>
          <a:noFill/>
          <a:ln/>
        </p:spPr>
        <p:txBody>
          <a:bodyPr wrap="square" lIns="0" tIns="0" rIns="0" bIns="0" rtlCol="0" anchor="ctr"/>
          <a:lstStyle/>
          <a:p>
            <a:pPr algn="ctr" indent="0" marL="0">
              <a:buNone/>
            </a:pPr>
            <a:r>
              <a:rPr lang="en-US" sz="1100" b="1" dirty="0">
                <a:solidFill>
                  <a:srgbClr val="F2A541"/>
                </a:solidFill>
              </a:rPr>
              <a:t>Kafka</a:t>
            </a:r>
            <a:endParaRPr lang="en-US" sz="1100" dirty="0"/>
          </a:p>
        </p:txBody>
      </p:sp>
      <p:sp>
        <p:nvSpPr>
          <p:cNvPr id="36" name="Shape 31"/>
          <p:cNvSpPr/>
          <p:nvPr/>
        </p:nvSpPr>
        <p:spPr>
          <a:xfrm>
            <a:off x="8705088" y="5486400"/>
            <a:ext cx="329184" cy="0"/>
          </a:xfrm>
          <a:prstGeom prst="line">
            <a:avLst/>
          </a:prstGeom>
          <a:noFill/>
          <a:ln w="28575">
            <a:solidFill>
              <a:srgbClr val="F2A541"/>
            </a:solidFill>
            <a:prstDash val="solid"/>
            <a:tailEnd type="triangle"/>
          </a:ln>
        </p:spPr>
      </p:sp>
      <p:sp>
        <p:nvSpPr>
          <p:cNvPr id="37" name="Flow 4"/>
          <p:cNvSpPr/>
          <p:nvPr/>
        </p:nvSpPr>
        <p:spPr>
          <a:xfrm>
            <a:off x="9052560" y="4937760"/>
            <a:ext cx="2468880" cy="1097280"/>
          </a:xfrm>
          <a:prstGeom prst="roundRect">
            <a:avLst>
              <a:gd name="adj" fmla="val 8333"/>
            </a:avLst>
          </a:prstGeom>
          <a:solidFill>
            <a:schemeClr val="bg2"/>
          </a:solidFill>
          <a:ln w="12700">
            <a:solidFill>
              <a:schemeClr val="bg2"/>
            </a:solidFill>
            <a:prstDash val="solid"/>
          </a:ln>
        </p:spPr>
      </p:sp>
      <p:sp>
        <p:nvSpPr>
          <p:cNvPr id="38" name="Text 33"/>
          <p:cNvSpPr txBox="1"/>
          <p:nvPr/>
        </p:nvSpPr>
        <p:spPr>
          <a:xfrm>
            <a:off x="9235440" y="5074920"/>
            <a:ext cx="2103120" cy="457200"/>
          </a:xfrm>
          <a:prstGeom prst="rect">
            <a:avLst/>
          </a:prstGeom>
          <a:noFill/>
          <a:ln/>
        </p:spPr>
        <p:txBody>
          <a:bodyPr wrap="square" lIns="0" tIns="0" rIns="0" bIns="0" rtlCol="0" anchor="ctr"/>
          <a:lstStyle/>
          <a:p>
            <a:pPr algn="ctr" indent="0" marL="0">
              <a:buNone/>
            </a:pPr>
            <a:r>
              <a:rPr lang="en-US" sz="1700" b="1" dirty="0">
                <a:solidFill>
                  <a:schemeClr val="tx1"/>
                </a:solidFill>
              </a:rPr>
              <a:t>Delivery update</a:t>
            </a:r>
            <a:endParaRPr lang="en-US" sz="1700" dirty="0"/>
          </a:p>
        </p:txBody>
      </p:sp>
      <p:sp>
        <p:nvSpPr>
          <p:cNvPr id="39" name="Pill MongoDB"/>
          <p:cNvSpPr/>
          <p:nvPr/>
        </p:nvSpPr>
        <p:spPr>
          <a:xfrm>
            <a:off x="9738360" y="5577840"/>
            <a:ext cx="1097280" cy="292608"/>
          </a:xfrm>
          <a:prstGeom prst="roundRect">
            <a:avLst>
              <a:gd name="adj" fmla="val 50000"/>
            </a:avLst>
          </a:prstGeom>
          <a:solidFill>
            <a:schemeClr val="tx1"/>
          </a:solidFill>
          <a:ln w="12700">
            <a:solidFill>
              <a:schemeClr val="tx1"/>
            </a:solidFill>
            <a:prstDash val="solid"/>
          </a:ln>
        </p:spPr>
      </p:sp>
      <p:sp>
        <p:nvSpPr>
          <p:cNvPr id="40" name="Text 35"/>
          <p:cNvSpPr txBox="1"/>
          <p:nvPr/>
        </p:nvSpPr>
        <p:spPr>
          <a:xfrm>
            <a:off x="9738360" y="5577840"/>
            <a:ext cx="1097280" cy="292608"/>
          </a:xfrm>
          <a:prstGeom prst="rect">
            <a:avLst/>
          </a:prstGeom>
          <a:noFill/>
          <a:ln/>
        </p:spPr>
        <p:txBody>
          <a:bodyPr wrap="square" lIns="0" tIns="0" rIns="0" bIns="0" rtlCol="0" anchor="ctr"/>
          <a:lstStyle/>
          <a:p>
            <a:pPr algn="ctr" indent="0" marL="0">
              <a:buNone/>
            </a:pPr>
            <a:r>
              <a:rPr lang="en-US" sz="1100" b="1" dirty="0">
                <a:solidFill>
                  <a:srgbClr val="F2A541"/>
                </a:solidFill>
              </a:rPr>
              <a:t>MongoDB</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5  ·  PRESENTATION SKILLS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Summary: DockFlow against the criteria</a:t>
            </a:r>
            <a:endParaRPr lang="en-US" sz="3200" dirty="0"/>
          </a:p>
        </p:txBody>
      </p:sp>
      <p:sp>
        <p:nvSpPr>
          <p:cNvPr id="6" name="Summary 1"/>
          <p:cNvSpPr/>
          <p:nvPr/>
        </p:nvSpPr>
        <p:spPr>
          <a:xfrm>
            <a:off x="548640" y="1554480"/>
            <a:ext cx="2560320" cy="2834640"/>
          </a:xfrm>
          <a:prstGeom prst="roundRect">
            <a:avLst>
              <a:gd name="adj" fmla="val 3571"/>
            </a:avLst>
          </a:prstGeom>
          <a:solidFill>
            <a:schemeClr val="tx2"/>
          </a:solidFill>
          <a:ln w="12700">
            <a:solidFill>
              <a:schemeClr val="tx2"/>
            </a:solidFill>
            <a:prstDash val="solid"/>
          </a:ln>
        </p:spPr>
      </p:sp>
      <p:sp>
        <p:nvSpPr>
          <p:cNvPr id="7" name="Clear title circle"/>
          <p:cNvSpPr/>
          <p:nvPr/>
        </p:nvSpPr>
        <p:spPr>
          <a:xfrm>
            <a:off x="822960" y="1783080"/>
            <a:ext cx="685800" cy="685800"/>
          </a:xfrm>
          <a:prstGeom prst="ellipse">
            <a:avLst/>
          </a:prstGeom>
          <a:solidFill>
            <a:schemeClr val="accent1"/>
          </a:solidFill>
          <a:ln w="12700">
            <a:solidFill>
              <a:schemeClr val="accent1"/>
            </a:solidFill>
            <a:prstDash val="solid"/>
          </a:ln>
        </p:spPr>
      </p:sp>
      <p:pic>
        <p:nvPicPr>
          <p:cNvPr id="8" name="Image 0" descr="Clear title icon">    </p:cNvPr>
          <p:cNvPicPr>
            <a:picLocks noChangeAspect="1"/>
          </p:cNvPicPr>
          <p:nvPr/>
        </p:nvPicPr>
        <p:blipFill>
          <a:blip r:embed="rId1"/>
          <a:stretch>
            <a:fillRect/>
          </a:stretch>
        </p:blipFill>
        <p:spPr>
          <a:xfrm>
            <a:off x="973836" y="1933956"/>
            <a:ext cx="384048" cy="384048"/>
          </a:xfrm>
          <a:prstGeom prst="rect">
            <a:avLst/>
          </a:prstGeom>
        </p:spPr>
      </p:pic>
      <p:sp>
        <p:nvSpPr>
          <p:cNvPr id="9" name="Text 6"/>
          <p:cNvSpPr txBox="1"/>
          <p:nvPr/>
        </p:nvSpPr>
        <p:spPr>
          <a:xfrm>
            <a:off x="822960" y="2651760"/>
            <a:ext cx="210312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Clear title</a:t>
            </a:r>
            <a:endParaRPr lang="en-US" sz="2000" dirty="0"/>
          </a:p>
        </p:txBody>
      </p:sp>
      <p:sp>
        <p:nvSpPr>
          <p:cNvPr id="10" name="Text 7"/>
          <p:cNvSpPr txBox="1"/>
          <p:nvPr/>
        </p:nvSpPr>
        <p:spPr>
          <a:xfrm>
            <a:off x="822960" y="3200400"/>
            <a:ext cx="2057400" cy="1097280"/>
          </a:xfrm>
          <a:prstGeom prst="rect">
            <a:avLst/>
          </a:prstGeom>
          <a:noFill/>
          <a:ln/>
        </p:spPr>
        <p:txBody>
          <a:bodyPr wrap="square" lIns="0" tIns="0" rIns="0" bIns="0" rtlCol="0" anchor="t"/>
          <a:lstStyle/>
          <a:p>
            <a:pPr indent="0" marL="0">
              <a:buNone/>
            </a:pPr>
            <a:r>
              <a:rPr lang="en-US" sz="1300" dirty="0">
                <a:solidFill>
                  <a:schemeClr val="accent4"/>
                </a:solidFill>
              </a:rPr>
              <a:t>Clothing warehouse and delivery management website with defined objectives.</a:t>
            </a:r>
            <a:endParaRPr lang="en-US" sz="1300" dirty="0"/>
          </a:p>
        </p:txBody>
      </p:sp>
      <p:sp>
        <p:nvSpPr>
          <p:cNvPr id="11" name="Summary 2"/>
          <p:cNvSpPr/>
          <p:nvPr/>
        </p:nvSpPr>
        <p:spPr>
          <a:xfrm>
            <a:off x="3383280" y="1554480"/>
            <a:ext cx="2560320" cy="2834640"/>
          </a:xfrm>
          <a:prstGeom prst="roundRect">
            <a:avLst>
              <a:gd name="adj" fmla="val 3571"/>
            </a:avLst>
          </a:prstGeom>
          <a:solidFill>
            <a:schemeClr val="tx2"/>
          </a:solidFill>
          <a:ln w="12700">
            <a:solidFill>
              <a:schemeClr val="tx2"/>
            </a:solidFill>
            <a:prstDash val="solid"/>
          </a:ln>
        </p:spPr>
      </p:sp>
      <p:sp>
        <p:nvSpPr>
          <p:cNvPr id="12" name="Feasible circle"/>
          <p:cNvSpPr/>
          <p:nvPr/>
        </p:nvSpPr>
        <p:spPr>
          <a:xfrm>
            <a:off x="3657600" y="1783080"/>
            <a:ext cx="685800" cy="685800"/>
          </a:xfrm>
          <a:prstGeom prst="ellipse">
            <a:avLst/>
          </a:prstGeom>
          <a:solidFill>
            <a:schemeClr val="accent1"/>
          </a:solidFill>
          <a:ln w="12700">
            <a:solidFill>
              <a:schemeClr val="accent1"/>
            </a:solidFill>
            <a:prstDash val="solid"/>
          </a:ln>
        </p:spPr>
      </p:sp>
      <p:pic>
        <p:nvPicPr>
          <p:cNvPr id="13" name="Image 1" descr="Feasible icon">    </p:cNvPr>
          <p:cNvPicPr>
            <a:picLocks noChangeAspect="1"/>
          </p:cNvPicPr>
          <p:nvPr/>
        </p:nvPicPr>
        <p:blipFill>
          <a:blip r:embed="rId2"/>
          <a:stretch>
            <a:fillRect/>
          </a:stretch>
        </p:blipFill>
        <p:spPr>
          <a:xfrm>
            <a:off x="3808476" y="1933956"/>
            <a:ext cx="384048" cy="384048"/>
          </a:xfrm>
          <a:prstGeom prst="rect">
            <a:avLst/>
          </a:prstGeom>
        </p:spPr>
      </p:pic>
      <p:sp>
        <p:nvSpPr>
          <p:cNvPr id="14" name="Text 10"/>
          <p:cNvSpPr txBox="1"/>
          <p:nvPr/>
        </p:nvSpPr>
        <p:spPr>
          <a:xfrm>
            <a:off x="3657600" y="2651760"/>
            <a:ext cx="210312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Feasible</a:t>
            </a:r>
            <a:endParaRPr lang="en-US" sz="2000" dirty="0"/>
          </a:p>
        </p:txBody>
      </p:sp>
      <p:sp>
        <p:nvSpPr>
          <p:cNvPr id="15" name="Text 11"/>
          <p:cNvSpPr txBox="1"/>
          <p:nvPr/>
        </p:nvSpPr>
        <p:spPr>
          <a:xfrm>
            <a:off x="3657600" y="3200400"/>
            <a:ext cx="2057400" cy="1097280"/>
          </a:xfrm>
          <a:prstGeom prst="rect">
            <a:avLst/>
          </a:prstGeom>
          <a:noFill/>
          <a:ln/>
        </p:spPr>
        <p:txBody>
          <a:bodyPr wrap="square" lIns="0" tIns="0" rIns="0" bIns="0" rtlCol="0" anchor="t"/>
          <a:lstStyle/>
          <a:p>
            <a:pPr indent="0" marL="0">
              <a:buNone/>
            </a:pPr>
            <a:r>
              <a:rPr lang="en-US" sz="1300" dirty="0">
                <a:solidFill>
                  <a:schemeClr val="accent4"/>
                </a:solidFill>
              </a:rPr>
              <a:t>Open-source stack, working core flow, known limits and risks.</a:t>
            </a:r>
            <a:endParaRPr lang="en-US" sz="1300" dirty="0"/>
          </a:p>
        </p:txBody>
      </p:sp>
      <p:sp>
        <p:nvSpPr>
          <p:cNvPr id="16" name="Summary 3"/>
          <p:cNvSpPr/>
          <p:nvPr/>
        </p:nvSpPr>
        <p:spPr>
          <a:xfrm>
            <a:off x="6217920" y="1554480"/>
            <a:ext cx="2560320" cy="2834640"/>
          </a:xfrm>
          <a:prstGeom prst="roundRect">
            <a:avLst>
              <a:gd name="adj" fmla="val 3571"/>
            </a:avLst>
          </a:prstGeom>
          <a:solidFill>
            <a:schemeClr val="tx2"/>
          </a:solidFill>
          <a:ln w="12700">
            <a:solidFill>
              <a:schemeClr val="tx2"/>
            </a:solidFill>
            <a:prstDash val="solid"/>
          </a:ln>
        </p:spPr>
      </p:sp>
      <p:sp>
        <p:nvSpPr>
          <p:cNvPr id="17" name="Societal need circle"/>
          <p:cNvSpPr/>
          <p:nvPr/>
        </p:nvSpPr>
        <p:spPr>
          <a:xfrm>
            <a:off x="6492240" y="1783080"/>
            <a:ext cx="685800" cy="685800"/>
          </a:xfrm>
          <a:prstGeom prst="ellipse">
            <a:avLst/>
          </a:prstGeom>
          <a:solidFill>
            <a:schemeClr val="accent1"/>
          </a:solidFill>
          <a:ln w="12700">
            <a:solidFill>
              <a:schemeClr val="accent1"/>
            </a:solidFill>
            <a:prstDash val="solid"/>
          </a:ln>
        </p:spPr>
      </p:sp>
      <p:pic>
        <p:nvPicPr>
          <p:cNvPr id="18" name="Image 2" descr="Societal need icon">    </p:cNvPr>
          <p:cNvPicPr>
            <a:picLocks noChangeAspect="1"/>
          </p:cNvPicPr>
          <p:nvPr/>
        </p:nvPicPr>
        <p:blipFill>
          <a:blip r:embed="rId3"/>
          <a:stretch>
            <a:fillRect/>
          </a:stretch>
        </p:blipFill>
        <p:spPr>
          <a:xfrm>
            <a:off x="6643116" y="1933956"/>
            <a:ext cx="384048" cy="384048"/>
          </a:xfrm>
          <a:prstGeom prst="rect">
            <a:avLst/>
          </a:prstGeom>
        </p:spPr>
      </p:pic>
      <p:sp>
        <p:nvSpPr>
          <p:cNvPr id="19" name="Text 14"/>
          <p:cNvSpPr txBox="1"/>
          <p:nvPr/>
        </p:nvSpPr>
        <p:spPr>
          <a:xfrm>
            <a:off x="6492240" y="2651760"/>
            <a:ext cx="210312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Societal need</a:t>
            </a:r>
            <a:endParaRPr lang="en-US" sz="2000" dirty="0"/>
          </a:p>
        </p:txBody>
      </p:sp>
      <p:sp>
        <p:nvSpPr>
          <p:cNvPr id="20" name="Text 15"/>
          <p:cNvSpPr txBox="1"/>
          <p:nvPr/>
        </p:nvSpPr>
        <p:spPr>
          <a:xfrm>
            <a:off x="6492240" y="3200400"/>
            <a:ext cx="2057400" cy="1097280"/>
          </a:xfrm>
          <a:prstGeom prst="rect">
            <a:avLst/>
          </a:prstGeom>
          <a:noFill/>
          <a:ln/>
        </p:spPr>
        <p:txBody>
          <a:bodyPr wrap="square" lIns="0" tIns="0" rIns="0" bIns="0" rtlCol="0" anchor="t"/>
          <a:lstStyle/>
          <a:p>
            <a:pPr indent="0" marL="0">
              <a:buNone/>
            </a:pPr>
            <a:r>
              <a:rPr lang="en-US" sz="1300" dirty="0">
                <a:solidFill>
                  <a:schemeClr val="accent4"/>
                </a:solidFill>
              </a:rPr>
              <a:t>Helps staff, businesses, customers and delivery partners; fits SDGs 9, 12 and 8.</a:t>
            </a:r>
            <a:endParaRPr lang="en-US" sz="1300" dirty="0"/>
          </a:p>
        </p:txBody>
      </p:sp>
      <p:sp>
        <p:nvSpPr>
          <p:cNvPr id="21" name="Summary 4"/>
          <p:cNvSpPr/>
          <p:nvPr/>
        </p:nvSpPr>
        <p:spPr>
          <a:xfrm>
            <a:off x="9052560" y="1554480"/>
            <a:ext cx="2560320" cy="2834640"/>
          </a:xfrm>
          <a:prstGeom prst="roundRect">
            <a:avLst>
              <a:gd name="adj" fmla="val 3571"/>
            </a:avLst>
          </a:prstGeom>
          <a:solidFill>
            <a:schemeClr val="tx2"/>
          </a:solidFill>
          <a:ln w="12700">
            <a:solidFill>
              <a:schemeClr val="tx2"/>
            </a:solidFill>
            <a:prstDash val="solid"/>
          </a:ln>
        </p:spPr>
      </p:sp>
      <p:sp>
        <p:nvSpPr>
          <p:cNvPr id="22" name="Novel circle"/>
          <p:cNvSpPr/>
          <p:nvPr/>
        </p:nvSpPr>
        <p:spPr>
          <a:xfrm>
            <a:off x="9326880" y="1783080"/>
            <a:ext cx="685800" cy="685800"/>
          </a:xfrm>
          <a:prstGeom prst="ellipse">
            <a:avLst/>
          </a:prstGeom>
          <a:solidFill>
            <a:schemeClr val="accent1"/>
          </a:solidFill>
          <a:ln w="12700">
            <a:solidFill>
              <a:schemeClr val="accent1"/>
            </a:solidFill>
            <a:prstDash val="solid"/>
          </a:ln>
        </p:spPr>
      </p:sp>
      <p:pic>
        <p:nvPicPr>
          <p:cNvPr id="23" name="Image 3" descr="Novel icon">    </p:cNvPr>
          <p:cNvPicPr>
            <a:picLocks noChangeAspect="1"/>
          </p:cNvPicPr>
          <p:nvPr/>
        </p:nvPicPr>
        <p:blipFill>
          <a:blip r:embed="rId4"/>
          <a:stretch>
            <a:fillRect/>
          </a:stretch>
        </p:blipFill>
        <p:spPr>
          <a:xfrm>
            <a:off x="9477756" y="1933956"/>
            <a:ext cx="384048" cy="384048"/>
          </a:xfrm>
          <a:prstGeom prst="rect">
            <a:avLst/>
          </a:prstGeom>
        </p:spPr>
      </p:pic>
      <p:sp>
        <p:nvSpPr>
          <p:cNvPr id="24" name="Text 18"/>
          <p:cNvSpPr txBox="1"/>
          <p:nvPr/>
        </p:nvSpPr>
        <p:spPr>
          <a:xfrm>
            <a:off x="9326880" y="2651760"/>
            <a:ext cx="210312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Novel</a:t>
            </a:r>
            <a:endParaRPr lang="en-US" sz="2000" dirty="0"/>
          </a:p>
        </p:txBody>
      </p:sp>
      <p:sp>
        <p:nvSpPr>
          <p:cNvPr id="25" name="Text 19"/>
          <p:cNvSpPr txBox="1"/>
          <p:nvPr/>
        </p:nvSpPr>
        <p:spPr>
          <a:xfrm>
            <a:off x="9326880" y="3200400"/>
            <a:ext cx="2057400" cy="1097280"/>
          </a:xfrm>
          <a:prstGeom prst="rect">
            <a:avLst/>
          </a:prstGeom>
          <a:noFill/>
          <a:ln/>
        </p:spPr>
        <p:txBody>
          <a:bodyPr wrap="square" lIns="0" tIns="0" rIns="0" bIns="0" rtlCol="0" anchor="t"/>
          <a:lstStyle/>
          <a:p>
            <a:pPr indent="0" marL="0">
              <a:buNone/>
            </a:pPr>
            <a:r>
              <a:rPr lang="en-US" sz="1300" dirty="0">
                <a:solidFill>
                  <a:schemeClr val="accent4"/>
                </a:solidFill>
              </a:rPr>
              <a:t>MySQL, MongoDB and Kafka, each used for its own job.</a:t>
            </a:r>
            <a:endParaRPr lang="en-US" sz="1300" dirty="0"/>
          </a:p>
        </p:txBody>
      </p:sp>
      <p:sp>
        <p:nvSpPr>
          <p:cNvPr id="26" name="Text 20"/>
          <p:cNvSpPr txBox="1"/>
          <p:nvPr/>
        </p:nvSpPr>
        <p:spPr>
          <a:xfrm>
            <a:off x="548640" y="4754880"/>
            <a:ext cx="54864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Thank you</a:t>
            </a:r>
            <a:endParaRPr lang="en-US" sz="4400" dirty="0"/>
          </a:p>
        </p:txBody>
      </p:sp>
      <p:sp>
        <p:nvSpPr>
          <p:cNvPr id="27" name="Text 21"/>
          <p:cNvSpPr txBox="1"/>
          <p:nvPr/>
        </p:nvSpPr>
        <p:spPr>
          <a:xfrm>
            <a:off x="548640" y="5577840"/>
            <a:ext cx="5943600" cy="365760"/>
          </a:xfrm>
          <a:prstGeom prst="rect">
            <a:avLst/>
          </a:prstGeom>
          <a:noFill/>
          <a:ln/>
        </p:spPr>
        <p:txBody>
          <a:bodyPr wrap="square" lIns="0" tIns="0" rIns="0" bIns="0" rtlCol="0" anchor="ctr"/>
          <a:lstStyle/>
          <a:p>
            <a:pPr indent="0" marL="0">
              <a:buNone/>
            </a:pPr>
            <a:r>
              <a:rPr lang="en-US" sz="1700" dirty="0">
                <a:solidFill>
                  <a:schemeClr val="accent4"/>
                </a:solidFill>
              </a:rPr>
              <a:t>We are happy to take your questions.</a:t>
            </a:r>
            <a:endParaRPr lang="en-US" sz="1700" dirty="0"/>
          </a:p>
        </p:txBody>
      </p:sp>
      <p:sp>
        <p:nvSpPr>
          <p:cNvPr id="28" name="Text 22"/>
          <p:cNvSpPr txBox="1"/>
          <p:nvPr/>
        </p:nvSpPr>
        <p:spPr>
          <a:xfrm>
            <a:off x="6583680" y="5029200"/>
            <a:ext cx="5029200" cy="822960"/>
          </a:xfrm>
          <a:prstGeom prst="rect">
            <a:avLst/>
          </a:prstGeom>
          <a:noFill/>
          <a:ln/>
        </p:spPr>
        <p:txBody>
          <a:bodyPr wrap="square" lIns="0" tIns="0" rIns="0" bIns="0" rtlCol="0" anchor="t"/>
          <a:lstStyle/>
          <a:p>
            <a:pPr algn="r" indent="0" marL="0">
              <a:buNone/>
            </a:pPr>
            <a:r>
              <a:rPr lang="en-US" sz="1400" dirty="0">
                <a:solidFill>
                  <a:schemeClr val="accent4"/>
                </a:solidFill>
              </a:rPr>
              <a:t>U. Sindhuja  •  P. Bhagya Sri  •  S. Rishitha Reddy</a:t>
            </a:r>
            <a:endParaRPr lang="en-US" sz="1400" dirty="0"/>
          </a:p>
          <a:p>
            <a:pPr algn="r" indent="0" marL="0">
              <a:buNone/>
            </a:pPr>
            <a:r>
              <a:rPr lang="en-US" sz="1400" dirty="0">
                <a:solidFill>
                  <a:schemeClr val="accent4"/>
                </a:solidFill>
              </a:rPr>
              <a:t>Team No-14  |  Guided by Dr. M. Gayatri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DockFlow">
  <a:themeElements>
    <a:clrScheme name="DockFlow">
      <a:dk1>
        <a:srgbClr val="1B2A41"/>
      </a:dk1>
      <a:lt1>
        <a:srgbClr val="FFFFFF"/>
      </a:lt1>
      <a:dk2>
        <a:srgbClr val="3E5C76"/>
      </a:dk2>
      <a:lt2>
        <a:srgbClr val="F7F9FB"/>
      </a:lt2>
      <a:accent1>
        <a:srgbClr val="F2A541"/>
      </a:accent1>
      <a:accent2>
        <a:srgbClr val="3E5C76"/>
      </a:accent2>
      <a:accent3>
        <a:srgbClr val="5C6B7A"/>
      </a:accent3>
      <a:accent4>
        <a:srgbClr val="D8E1E9"/>
      </a:accent4>
      <a:accent5>
        <a:srgbClr val="9FB2C4"/>
      </a:accent5>
      <a:accent6>
        <a:srgbClr val="2E7D6B"/>
      </a:accent6>
      <a:hlink>
        <a:srgbClr val="3E5C76"/>
      </a:hlink>
      <a:folHlink>
        <a:srgbClr val="5C6B7A"/>
      </a:folHlink>
    </a:clrScheme>
    <a:fontScheme name="Dock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DockFlow - Review 1</dc:title>
  <dc:subject>PptxGenJS Presentation</dc:subject>
  <dc:creator>Team 14, Section 13</dc:creator>
  <cp:lastModifiedBy>Team 14, Section 13</cp:lastModifiedBy>
  <cp:revision>1</cp:revision>
  <dcterms:created xsi:type="dcterms:W3CDTF">2026-10-02T11:06:51Z</dcterms:created>
  <dcterms:modified xsi:type="dcterms:W3CDTF">2026-10-02T11:06:51Z</dcterms:modified>
</cp:coreProperties>
</file>