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Review 4 for DockFlow. We present the accuracy of our results, our technical competence, what is innovative and sustainable, and the utility of DockFlow to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our slides to the five criteria of the Review 4 marking scheme. Each is worth 10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 accuracy in five ways. Each check compares what DockFlow reports against what we know to be true from the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measured result column with your own test numbers before presenting. Targets are suggestions; adjust them if your guide sets different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has one narrow job and shows a specific skill: relational design in MySQL, flexible documents in MongoDB, event messaging with Kafka, and one web interface for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technical challenges of using three tools together, and how our design handles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Innovation is the combination of the right database for each job with events between services. Sustainability comes from open-source tools, less waste from accurate stock, and a design that adapts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Clothing is a basic need. DockFlow helps staff, businesses, customers and delivery partners, and connects to SDGs 9, 12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our results are checked for accuracy, the technical work is sound, the design is innovative and sustainable, and DockFlow is useful to society.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1005840"/>
            <a:ext cx="7315200" cy="274320"/>
          </a:xfrm>
          <a:prstGeom prst="rect">
            <a:avLst/>
          </a:prstGeom>
          <a:noFill/>
          <a:ln/>
        </p:spPr>
        <p:txBody>
          <a:bodyPr wrap="square" lIns="0" tIns="0" rIns="0" bIns="0" rtlCol="0" anchor="ctr"/>
          <a:lstStyle/>
          <a:p>
            <a:pPr indent="0" marL="0">
              <a:buNone/>
            </a:pPr>
            <a:r>
              <a:rPr lang="en-US" sz="1200" b="1" spc="300" kern="0" dirty="0">
                <a:solidFill>
                  <a:srgbClr val="F2A541"/>
                </a:solidFill>
                <a:latin typeface="Calibri" pitchFamily="34" charset="0"/>
                <a:ea typeface="Calibri" pitchFamily="34" charset="-122"/>
                <a:cs typeface="Calibri" pitchFamily="34" charset="-120"/>
              </a:rPr>
              <a:t>DATABASE SYSTEMS ENGINEERING  |  REVIEW 4</a:t>
            </a:r>
            <a:endParaRPr lang="en-US" sz="1200" dirty="0"/>
          </a:p>
        </p:txBody>
      </p:sp>
      <p:sp>
        <p:nvSpPr>
          <p:cNvPr id="3" name="Text 1"/>
          <p:cNvSpPr txBox="1"/>
          <p:nvPr/>
        </p:nvSpPr>
        <p:spPr>
          <a:xfrm>
            <a:off x="731520" y="1645920"/>
            <a:ext cx="73152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DockFlow</a:t>
            </a:r>
            <a:endParaRPr lang="en-US" sz="6000" dirty="0"/>
          </a:p>
        </p:txBody>
      </p:sp>
      <p:sp>
        <p:nvSpPr>
          <p:cNvPr id="4" name="Text 2"/>
          <p:cNvSpPr txBox="1"/>
          <p:nvPr/>
        </p:nvSpPr>
        <p:spPr>
          <a:xfrm>
            <a:off x="731520" y="2651760"/>
            <a:ext cx="7315200" cy="45720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Results, Technical Work and Impact</a:t>
            </a:r>
            <a:endParaRPr lang="en-US" sz="2200" dirty="0"/>
          </a:p>
        </p:txBody>
      </p:sp>
      <p:sp>
        <p:nvSpPr>
          <p:cNvPr id="5" name="Text 3"/>
          <p:cNvSpPr txBox="1"/>
          <p:nvPr/>
        </p:nvSpPr>
        <p:spPr>
          <a:xfrm>
            <a:off x="731520" y="3200400"/>
            <a:ext cx="7315200" cy="365760"/>
          </a:xfrm>
          <a:prstGeom prst="rect">
            <a:avLst/>
          </a:prstGeom>
          <a:noFill/>
          <a:ln/>
        </p:spPr>
        <p:txBody>
          <a:bodyPr wrap="square" lIns="0" tIns="0" rIns="0" bIns="0" rtlCol="0" anchor="ctr"/>
          <a:lstStyle/>
          <a:p>
            <a:pPr indent="0" marL="0">
              <a:buNone/>
            </a:pPr>
            <a:r>
              <a:rPr lang="en-US" sz="1600" i="1" dirty="0">
                <a:solidFill>
                  <a:srgbClr val="9FB2C4"/>
                </a:solidFill>
                <a:latin typeface="Calibri" pitchFamily="34" charset="0"/>
                <a:ea typeface="Calibri" pitchFamily="34" charset="-122"/>
                <a:cs typeface="Calibri" pitchFamily="34" charset="-120"/>
              </a:rPr>
              <a:t>Clothing Warehouse &amp; Delivery Management System</a:t>
            </a:r>
            <a:endParaRPr lang="en-US" sz="1600" dirty="0"/>
          </a:p>
        </p:txBody>
      </p:sp>
      <p:sp>
        <p:nvSpPr>
          <p:cNvPr id="6" name="Text 4"/>
          <p:cNvSpPr txBox="1"/>
          <p:nvPr/>
        </p:nvSpPr>
        <p:spPr>
          <a:xfrm>
            <a:off x="731520" y="4846320"/>
            <a:ext cx="8229600" cy="10972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Sec No-13  |  Team No-14</a:t>
            </a:r>
            <a:endParaRPr lang="en-US" sz="1500" dirty="0"/>
          </a:p>
          <a:p>
            <a:pPr indent="0" marL="0">
              <a:buNone/>
            </a:pPr>
            <a:r>
              <a:rPr lang="en-US" sz="1400" dirty="0">
                <a:solidFill>
                  <a:srgbClr val="FFFFFF"/>
                </a:solidFill>
                <a:latin typeface="Calibri" pitchFamily="34" charset="0"/>
                <a:ea typeface="Calibri" pitchFamily="34" charset="-122"/>
                <a:cs typeface="Calibri" pitchFamily="34" charset="-120"/>
              </a:rPr>
              <a:t>U. Sindhuja  •  P. Bhagya Sri  •  S. Rishitha Reddy</a:t>
            </a:r>
            <a:endParaRPr lang="en-US" sz="1500" dirty="0"/>
          </a:p>
          <a:p>
            <a:pPr indent="0" marL="0">
              <a:buNone/>
            </a:pPr>
            <a:r>
              <a:rPr lang="en-US" sz="1200" dirty="0">
                <a:solidFill>
                  <a:srgbClr val="9FB2C4"/>
                </a:solidFill>
                <a:latin typeface="Calibri" pitchFamily="34" charset="0"/>
                <a:ea typeface="Calibri" pitchFamily="34" charset="-122"/>
                <a:cs typeface="Calibri" pitchFamily="34" charset="-120"/>
              </a:rPr>
              <a:t>Guided by Dr. M. Gayatri  |  Koneru Lakshmaiah Education Foundation</a:t>
            </a:r>
            <a:endParaRPr lang="en-US" sz="1500" dirty="0"/>
          </a:p>
        </p:txBody>
      </p:sp>
      <p:sp>
        <p:nvSpPr>
          <p:cNvPr id="7" name="Shape 5"/>
          <p:cNvSpPr/>
          <p:nvPr/>
        </p:nvSpPr>
        <p:spPr>
          <a:xfrm>
            <a:off x="8778240" y="1371600"/>
            <a:ext cx="1280160" cy="1280160"/>
          </a:xfrm>
          <a:prstGeom prst="roundRect">
            <a:avLst>
              <a:gd name="adj" fmla="val 7143"/>
            </a:avLst>
          </a:prstGeom>
          <a:solidFill>
            <a:srgbClr val="3E5C76"/>
          </a:solidFill>
          <a:ln w="12700">
            <a:solidFill>
              <a:srgbClr val="3E5C76"/>
            </a:solidFill>
            <a:prstDash val="solid"/>
          </a:ln>
        </p:spPr>
      </p:sp>
      <p:sp>
        <p:nvSpPr>
          <p:cNvPr id="8" name="Shape 6"/>
          <p:cNvSpPr/>
          <p:nvPr/>
        </p:nvSpPr>
        <p:spPr>
          <a:xfrm>
            <a:off x="10241280" y="1371600"/>
            <a:ext cx="1280160" cy="1280160"/>
          </a:xfrm>
          <a:prstGeom prst="roundRect">
            <a:avLst>
              <a:gd name="adj" fmla="val 7143"/>
            </a:avLst>
          </a:prstGeom>
          <a:solidFill>
            <a:srgbClr val="3E5C76"/>
          </a:solidFill>
          <a:ln w="12700">
            <a:solidFill>
              <a:srgbClr val="3E5C76"/>
            </a:solidFill>
            <a:prstDash val="solid"/>
          </a:ln>
        </p:spPr>
      </p:sp>
      <p:sp>
        <p:nvSpPr>
          <p:cNvPr id="9" name="Shape 7"/>
          <p:cNvSpPr/>
          <p:nvPr/>
        </p:nvSpPr>
        <p:spPr>
          <a:xfrm>
            <a:off x="8778240" y="2834640"/>
            <a:ext cx="1280160" cy="1280160"/>
          </a:xfrm>
          <a:prstGeom prst="roundRect">
            <a:avLst>
              <a:gd name="adj" fmla="val 7143"/>
            </a:avLst>
          </a:prstGeom>
          <a:solidFill>
            <a:srgbClr val="3E5C76"/>
          </a:solidFill>
          <a:ln w="12700">
            <a:solidFill>
              <a:srgbClr val="3E5C76"/>
            </a:solidFill>
            <a:prstDash val="solid"/>
          </a:ln>
        </p:spPr>
      </p:sp>
      <p:sp>
        <p:nvSpPr>
          <p:cNvPr id="10" name="Shape 8"/>
          <p:cNvSpPr/>
          <p:nvPr/>
        </p:nvSpPr>
        <p:spPr>
          <a:xfrm>
            <a:off x="10241280" y="2834640"/>
            <a:ext cx="1280160" cy="1280160"/>
          </a:xfrm>
          <a:prstGeom prst="roundRect">
            <a:avLst>
              <a:gd name="adj" fmla="val 7143"/>
            </a:avLst>
          </a:prstGeom>
          <a:solidFill>
            <a:srgbClr val="3E5C76"/>
          </a:solidFill>
          <a:ln w="12700">
            <a:solidFill>
              <a:srgbClr val="3E5C76"/>
            </a:solidFill>
            <a:prstDash val="solid"/>
          </a:ln>
        </p:spPr>
      </p:sp>
      <p:sp>
        <p:nvSpPr>
          <p:cNvPr id="11" name="Text 9"/>
          <p:cNvSpPr txBox="1"/>
          <p:nvPr/>
        </p:nvSpPr>
        <p:spPr>
          <a:xfrm>
            <a:off x="8778240" y="1371600"/>
            <a:ext cx="1280160" cy="1280160"/>
          </a:xfrm>
          <a:prstGeom prst="rect">
            <a:avLst/>
          </a:prstGeom>
          <a:noFill/>
          <a:ln/>
        </p:spPr>
        <p:txBody>
          <a:bodyPr wrap="square" lIns="0" tIns="0" rIns="0" bIns="0" rtlCol="0" anchor="ctr"/>
          <a:lstStyle/>
          <a:p>
            <a:pPr algn="ctr" indent="0" marL="0">
              <a:buNone/>
            </a:pPr>
            <a:r>
              <a:rPr lang="en-US" sz="1800" b="1" dirty="0">
                <a:solidFill>
                  <a:srgbClr val="F2A541"/>
                </a:solidFill>
                <a:latin typeface="Calibri" pitchFamily="34" charset="0"/>
                <a:ea typeface="Calibri" pitchFamily="34" charset="-122"/>
                <a:cs typeface="Calibri" pitchFamily="34" charset="-120"/>
              </a:rPr>
              <a:t>SQL</a:t>
            </a:r>
            <a:endParaRPr lang="en-US" sz="1800" dirty="0"/>
          </a:p>
        </p:txBody>
      </p:sp>
      <p:sp>
        <p:nvSpPr>
          <p:cNvPr id="12" name="Text 10"/>
          <p:cNvSpPr txBox="1"/>
          <p:nvPr/>
        </p:nvSpPr>
        <p:spPr>
          <a:xfrm>
            <a:off x="10241280" y="1371600"/>
            <a:ext cx="1280160" cy="1280160"/>
          </a:xfrm>
          <a:prstGeom prst="rect">
            <a:avLst/>
          </a:prstGeom>
          <a:noFill/>
          <a:ln/>
        </p:spPr>
        <p:txBody>
          <a:bodyPr wrap="square" lIns="0" tIns="0" rIns="0" bIns="0" rtlCol="0" anchor="ctr"/>
          <a:lstStyle/>
          <a:p>
            <a:pPr algn="ctr" indent="0" marL="0">
              <a:buNone/>
            </a:pPr>
            <a:r>
              <a:rPr lang="en-US" sz="1800" b="1" dirty="0">
                <a:solidFill>
                  <a:srgbClr val="F2A541"/>
                </a:solidFill>
                <a:latin typeface="Calibri" pitchFamily="34" charset="0"/>
                <a:ea typeface="Calibri" pitchFamily="34" charset="-122"/>
                <a:cs typeface="Calibri" pitchFamily="34" charset="-120"/>
              </a:rPr>
              <a:t>Doc</a:t>
            </a:r>
            <a:endParaRPr lang="en-US" sz="1800" dirty="0"/>
          </a:p>
        </p:txBody>
      </p:sp>
      <p:sp>
        <p:nvSpPr>
          <p:cNvPr id="13" name="Text 11"/>
          <p:cNvSpPr txBox="1"/>
          <p:nvPr/>
        </p:nvSpPr>
        <p:spPr>
          <a:xfrm>
            <a:off x="8778240" y="2834640"/>
            <a:ext cx="1280160" cy="1280160"/>
          </a:xfrm>
          <a:prstGeom prst="rect">
            <a:avLst/>
          </a:prstGeom>
          <a:noFill/>
          <a:ln/>
        </p:spPr>
        <p:txBody>
          <a:bodyPr wrap="square" lIns="0" tIns="0" rIns="0" bIns="0" rtlCol="0" anchor="ctr"/>
          <a:lstStyle/>
          <a:p>
            <a:pPr algn="ctr" indent="0" marL="0">
              <a:buNone/>
            </a:pPr>
            <a:r>
              <a:rPr lang="en-US" sz="1800" b="1" dirty="0">
                <a:solidFill>
                  <a:srgbClr val="F2A541"/>
                </a:solidFill>
                <a:latin typeface="Calibri" pitchFamily="34" charset="0"/>
                <a:ea typeface="Calibri" pitchFamily="34" charset="-122"/>
                <a:cs typeface="Calibri" pitchFamily="34" charset="-120"/>
              </a:rPr>
              <a:t>Kafka</a:t>
            </a:r>
            <a:endParaRPr lang="en-US" sz="1800" dirty="0"/>
          </a:p>
        </p:txBody>
      </p:sp>
      <p:sp>
        <p:nvSpPr>
          <p:cNvPr id="14" name="Text 12"/>
          <p:cNvSpPr txBox="1"/>
          <p:nvPr/>
        </p:nvSpPr>
        <p:spPr>
          <a:xfrm>
            <a:off x="10241280" y="2834640"/>
            <a:ext cx="1280160" cy="1280160"/>
          </a:xfrm>
          <a:prstGeom prst="rect">
            <a:avLst/>
          </a:prstGeom>
          <a:noFill/>
          <a:ln/>
        </p:spPr>
        <p:txBody>
          <a:bodyPr wrap="square" lIns="0" tIns="0" rIns="0" bIns="0" rtlCol="0" anchor="ctr"/>
          <a:lstStyle/>
          <a:p>
            <a:pPr algn="ctr" indent="0" marL="0">
              <a:buNone/>
            </a:pPr>
            <a:r>
              <a:rPr lang="en-US" sz="1800" b="1" dirty="0">
                <a:solidFill>
                  <a:srgbClr val="F2A541"/>
                </a:solidFill>
                <a:latin typeface="Calibri" pitchFamily="34" charset="0"/>
                <a:ea typeface="Calibri" pitchFamily="34" charset="-122"/>
                <a:cs typeface="Calibri" pitchFamily="34" charset="-120"/>
              </a:rPr>
              <a:t>Web</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REVIEW 4  ·  PRESENTATION ROADMAP</a:t>
            </a:r>
            <a:endParaRPr lang="en-US" sz="1100" dirty="0"/>
          </a:p>
        </p:txBody>
      </p:sp>
      <p:sp>
        <p:nvSpPr>
          <p:cNvPr id="3" name="Shape 1"/>
          <p:cNvSpPr/>
          <p:nvPr/>
        </p:nvSpPr>
        <p:spPr>
          <a:xfrm>
            <a:off x="10332720" y="320040"/>
            <a:ext cx="1417320" cy="36576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10332720" y="320040"/>
            <a:ext cx="1417320" cy="36576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10 MARKS</a:t>
            </a:r>
            <a:endParaRPr lang="en-US" sz="1100" dirty="0"/>
          </a:p>
        </p:txBody>
      </p:sp>
      <p:sp>
        <p:nvSpPr>
          <p:cNvPr id="5" name="Text 3"/>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How this review covers every criterion</a:t>
            </a:r>
            <a:endParaRPr lang="en-US" sz="3000" dirty="0"/>
          </a:p>
        </p:txBody>
      </p:sp>
      <p:sp>
        <p:nvSpPr>
          <p:cNvPr id="6" name="Text 4"/>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7" name="Text 5"/>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2</a:t>
            </a:r>
            <a:endParaRPr lang="en-US" sz="1000" dirty="0"/>
          </a:p>
        </p:txBody>
      </p:sp>
      <p:sp>
        <p:nvSpPr>
          <p:cNvPr id="9" name="Shape 6"/>
          <p:cNvSpPr/>
          <p:nvPr/>
        </p:nvSpPr>
        <p:spPr>
          <a:xfrm>
            <a:off x="457200" y="1737360"/>
            <a:ext cx="2130552" cy="3291840"/>
          </a:xfrm>
          <a:prstGeom prst="roundRect">
            <a:avLst>
              <a:gd name="adj" fmla="val 4292"/>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685800" y="1965960"/>
            <a:ext cx="457200" cy="457200"/>
          </a:xfrm>
          <a:prstGeom prst="ellipse">
            <a:avLst/>
          </a:prstGeom>
          <a:solidFill>
            <a:srgbClr val="F2A541"/>
          </a:solidFill>
          <a:ln w="12700">
            <a:solidFill>
              <a:srgbClr val="F2A541"/>
            </a:solidFill>
            <a:prstDash val="solid"/>
          </a:ln>
        </p:spPr>
      </p:sp>
      <p:sp>
        <p:nvSpPr>
          <p:cNvPr id="11" name="Text 8"/>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1</a:t>
            </a:r>
            <a:endParaRPr lang="en-US" sz="1600" dirty="0"/>
          </a:p>
        </p:txBody>
      </p:sp>
      <p:sp>
        <p:nvSpPr>
          <p:cNvPr id="12" name="Text 9"/>
          <p:cNvSpPr txBox="1"/>
          <p:nvPr/>
        </p:nvSpPr>
        <p:spPr>
          <a:xfrm>
            <a:off x="685800" y="2560320"/>
            <a:ext cx="1673352"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Accuracy of Results</a:t>
            </a:r>
            <a:endParaRPr lang="en-US" sz="1600" dirty="0"/>
          </a:p>
        </p:txBody>
      </p:sp>
      <p:sp>
        <p:nvSpPr>
          <p:cNvPr id="13" name="Text 10"/>
          <p:cNvSpPr txBox="1"/>
          <p:nvPr/>
        </p:nvSpPr>
        <p:spPr>
          <a:xfrm>
            <a:off x="685800" y="3154680"/>
            <a:ext cx="1673352" cy="17373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Slides 3-4</a:t>
            </a:r>
            <a:endParaRPr lang="en-US" sz="1300" dirty="0"/>
          </a:p>
          <a:p>
            <a:pPr indent="0" marL="0">
              <a:buNone/>
            </a:pPr>
            <a:endParaRPr lang="en-US" sz="1300" dirty="0"/>
          </a:p>
          <a:p>
            <a:pPr indent="0" marL="0">
              <a:buNone/>
            </a:pPr>
            <a:r>
              <a:rPr lang="en-US" sz="1300" dirty="0">
                <a:solidFill>
                  <a:srgbClr val="5C6B7A"/>
                </a:solidFill>
                <a:latin typeface="Calibri" pitchFamily="34" charset="0"/>
                <a:ea typeface="Calibri" pitchFamily="34" charset="-122"/>
                <a:cs typeface="Calibri" pitchFamily="34" charset="-120"/>
              </a:rPr>
              <a:t>How results are checked and what we measured</a:t>
            </a:r>
            <a:endParaRPr lang="en-US" sz="1300" dirty="0"/>
          </a:p>
        </p:txBody>
      </p:sp>
      <p:sp>
        <p:nvSpPr>
          <p:cNvPr id="14" name="Shape 11"/>
          <p:cNvSpPr/>
          <p:nvPr/>
        </p:nvSpPr>
        <p:spPr>
          <a:xfrm>
            <a:off x="2743200" y="1737360"/>
            <a:ext cx="2130552" cy="3291840"/>
          </a:xfrm>
          <a:prstGeom prst="roundRect">
            <a:avLst>
              <a:gd name="adj" fmla="val 4292"/>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2971800" y="1965960"/>
            <a:ext cx="457200" cy="457200"/>
          </a:xfrm>
          <a:prstGeom prst="ellipse">
            <a:avLst/>
          </a:prstGeom>
          <a:solidFill>
            <a:srgbClr val="F2A541"/>
          </a:solidFill>
          <a:ln w="12700">
            <a:solidFill>
              <a:srgbClr val="F2A541"/>
            </a:solidFill>
            <a:prstDash val="solid"/>
          </a:ln>
        </p:spPr>
      </p:sp>
      <p:sp>
        <p:nvSpPr>
          <p:cNvPr id="16" name="Text 13"/>
          <p:cNvSpPr txBox="1"/>
          <p:nvPr/>
        </p:nvSpPr>
        <p:spPr>
          <a:xfrm>
            <a:off x="2971800" y="196596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2971800" y="2560320"/>
            <a:ext cx="1673352"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Technical Competence</a:t>
            </a:r>
            <a:endParaRPr lang="en-US" sz="1600" dirty="0"/>
          </a:p>
        </p:txBody>
      </p:sp>
      <p:sp>
        <p:nvSpPr>
          <p:cNvPr id="18" name="Text 15"/>
          <p:cNvSpPr txBox="1"/>
          <p:nvPr/>
        </p:nvSpPr>
        <p:spPr>
          <a:xfrm>
            <a:off x="2971800" y="3154680"/>
            <a:ext cx="1673352" cy="17373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Slides 5-6</a:t>
            </a:r>
            <a:endParaRPr lang="en-US" sz="1300" dirty="0"/>
          </a:p>
          <a:p>
            <a:pPr indent="0" marL="0">
              <a:buNone/>
            </a:pPr>
            <a:endParaRPr lang="en-US" sz="1300" dirty="0"/>
          </a:p>
          <a:p>
            <a:pPr indent="0" marL="0">
              <a:buNone/>
            </a:pPr>
            <a:r>
              <a:rPr lang="en-US" sz="1300" dirty="0">
                <a:solidFill>
                  <a:srgbClr val="5C6B7A"/>
                </a:solidFill>
                <a:latin typeface="Calibri" pitchFamily="34" charset="0"/>
                <a:ea typeface="Calibri" pitchFamily="34" charset="-122"/>
                <a:cs typeface="Calibri" pitchFamily="34" charset="-120"/>
              </a:rPr>
              <a:t>Tools, design skills and problems solved</a:t>
            </a:r>
            <a:endParaRPr lang="en-US" sz="1300" dirty="0"/>
          </a:p>
        </p:txBody>
      </p:sp>
      <p:sp>
        <p:nvSpPr>
          <p:cNvPr id="19" name="Shape 16"/>
          <p:cNvSpPr/>
          <p:nvPr/>
        </p:nvSpPr>
        <p:spPr>
          <a:xfrm>
            <a:off x="5029200" y="1737360"/>
            <a:ext cx="2130552" cy="3291840"/>
          </a:xfrm>
          <a:prstGeom prst="roundRect">
            <a:avLst>
              <a:gd name="adj" fmla="val 4292"/>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5257800" y="1965960"/>
            <a:ext cx="457200" cy="457200"/>
          </a:xfrm>
          <a:prstGeom prst="ellipse">
            <a:avLst/>
          </a:prstGeom>
          <a:solidFill>
            <a:srgbClr val="F2A541"/>
          </a:solidFill>
          <a:ln w="12700">
            <a:solidFill>
              <a:srgbClr val="F2A541"/>
            </a:solidFill>
            <a:prstDash val="solid"/>
          </a:ln>
        </p:spPr>
      </p:sp>
      <p:sp>
        <p:nvSpPr>
          <p:cNvPr id="21" name="Text 18"/>
          <p:cNvSpPr txBox="1"/>
          <p:nvPr/>
        </p:nvSpPr>
        <p:spPr>
          <a:xfrm>
            <a:off x="5257800" y="196596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3</a:t>
            </a:r>
            <a:endParaRPr lang="en-US" sz="1600" dirty="0"/>
          </a:p>
        </p:txBody>
      </p:sp>
      <p:sp>
        <p:nvSpPr>
          <p:cNvPr id="22" name="Text 19"/>
          <p:cNvSpPr txBox="1"/>
          <p:nvPr/>
        </p:nvSpPr>
        <p:spPr>
          <a:xfrm>
            <a:off x="5257800" y="2560320"/>
            <a:ext cx="1673352"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Innovative &amp; Sustainable</a:t>
            </a:r>
            <a:endParaRPr lang="en-US" sz="1600" dirty="0"/>
          </a:p>
        </p:txBody>
      </p:sp>
      <p:sp>
        <p:nvSpPr>
          <p:cNvPr id="23" name="Text 20"/>
          <p:cNvSpPr txBox="1"/>
          <p:nvPr/>
        </p:nvSpPr>
        <p:spPr>
          <a:xfrm>
            <a:off x="5257800" y="3154680"/>
            <a:ext cx="1673352" cy="17373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Slide 7</a:t>
            </a:r>
            <a:endParaRPr lang="en-US" sz="1300" dirty="0"/>
          </a:p>
          <a:p>
            <a:pPr indent="0" marL="0">
              <a:buNone/>
            </a:pPr>
            <a:endParaRPr lang="en-US" sz="1300" dirty="0"/>
          </a:p>
          <a:p>
            <a:pPr indent="0" marL="0">
              <a:buNone/>
            </a:pPr>
            <a:r>
              <a:rPr lang="en-US" sz="1300" dirty="0">
                <a:solidFill>
                  <a:srgbClr val="5C6B7A"/>
                </a:solidFill>
                <a:latin typeface="Calibri" pitchFamily="34" charset="0"/>
                <a:ea typeface="Calibri" pitchFamily="34" charset="-122"/>
                <a:cs typeface="Calibri" pitchFamily="34" charset="-120"/>
              </a:rPr>
              <a:t>What is new and what keeps it lasting</a:t>
            </a:r>
            <a:endParaRPr lang="en-US" sz="1300" dirty="0"/>
          </a:p>
        </p:txBody>
      </p:sp>
      <p:sp>
        <p:nvSpPr>
          <p:cNvPr id="24" name="Shape 21"/>
          <p:cNvSpPr/>
          <p:nvPr/>
        </p:nvSpPr>
        <p:spPr>
          <a:xfrm>
            <a:off x="7315200" y="1737360"/>
            <a:ext cx="2130552" cy="3291840"/>
          </a:xfrm>
          <a:prstGeom prst="roundRect">
            <a:avLst>
              <a:gd name="adj" fmla="val 4292"/>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25" name="Shape 22"/>
          <p:cNvSpPr/>
          <p:nvPr/>
        </p:nvSpPr>
        <p:spPr>
          <a:xfrm>
            <a:off x="7543800" y="1965960"/>
            <a:ext cx="457200" cy="457200"/>
          </a:xfrm>
          <a:prstGeom prst="ellipse">
            <a:avLst/>
          </a:prstGeom>
          <a:solidFill>
            <a:srgbClr val="F2A541"/>
          </a:solidFill>
          <a:ln w="12700">
            <a:solidFill>
              <a:srgbClr val="F2A541"/>
            </a:solidFill>
            <a:prstDash val="solid"/>
          </a:ln>
        </p:spPr>
      </p:sp>
      <p:sp>
        <p:nvSpPr>
          <p:cNvPr id="26" name="Text 23"/>
          <p:cNvSpPr txBox="1"/>
          <p:nvPr/>
        </p:nvSpPr>
        <p:spPr>
          <a:xfrm>
            <a:off x="7543800" y="196596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4</a:t>
            </a:r>
            <a:endParaRPr lang="en-US" sz="1600" dirty="0"/>
          </a:p>
        </p:txBody>
      </p:sp>
      <p:sp>
        <p:nvSpPr>
          <p:cNvPr id="27" name="Text 24"/>
          <p:cNvSpPr txBox="1"/>
          <p:nvPr/>
        </p:nvSpPr>
        <p:spPr>
          <a:xfrm>
            <a:off x="7543800" y="2560320"/>
            <a:ext cx="1673352"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Utility to Society</a:t>
            </a:r>
            <a:endParaRPr lang="en-US" sz="1600" dirty="0"/>
          </a:p>
        </p:txBody>
      </p:sp>
      <p:sp>
        <p:nvSpPr>
          <p:cNvPr id="28" name="Text 25"/>
          <p:cNvSpPr txBox="1"/>
          <p:nvPr/>
        </p:nvSpPr>
        <p:spPr>
          <a:xfrm>
            <a:off x="7543800" y="3154680"/>
            <a:ext cx="1673352" cy="17373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Slide 8</a:t>
            </a:r>
            <a:endParaRPr lang="en-US" sz="1300" dirty="0"/>
          </a:p>
          <a:p>
            <a:pPr indent="0" marL="0">
              <a:buNone/>
            </a:pPr>
            <a:endParaRPr lang="en-US" sz="1300" dirty="0"/>
          </a:p>
          <a:p>
            <a:pPr indent="0" marL="0">
              <a:buNone/>
            </a:pPr>
            <a:r>
              <a:rPr lang="en-US" sz="1300" dirty="0">
                <a:solidFill>
                  <a:srgbClr val="5C6B7A"/>
                </a:solidFill>
                <a:latin typeface="Calibri" pitchFamily="34" charset="0"/>
                <a:ea typeface="Calibri" pitchFamily="34" charset="-122"/>
                <a:cs typeface="Calibri" pitchFamily="34" charset="-120"/>
              </a:rPr>
              <a:t>Who benefits and SDG alignment</a:t>
            </a:r>
            <a:endParaRPr lang="en-US" sz="1300" dirty="0"/>
          </a:p>
        </p:txBody>
      </p:sp>
      <p:sp>
        <p:nvSpPr>
          <p:cNvPr id="29" name="Shape 26"/>
          <p:cNvSpPr/>
          <p:nvPr/>
        </p:nvSpPr>
        <p:spPr>
          <a:xfrm>
            <a:off x="9601200" y="1737360"/>
            <a:ext cx="2130552" cy="3291840"/>
          </a:xfrm>
          <a:prstGeom prst="roundRect">
            <a:avLst>
              <a:gd name="adj" fmla="val 4292"/>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9829800" y="1965960"/>
            <a:ext cx="457200" cy="457200"/>
          </a:xfrm>
          <a:prstGeom prst="ellipse">
            <a:avLst/>
          </a:prstGeom>
          <a:solidFill>
            <a:srgbClr val="F2A541"/>
          </a:solidFill>
          <a:ln w="12700">
            <a:solidFill>
              <a:srgbClr val="F2A541"/>
            </a:solidFill>
            <a:prstDash val="solid"/>
          </a:ln>
        </p:spPr>
      </p:sp>
      <p:sp>
        <p:nvSpPr>
          <p:cNvPr id="31" name="Text 28"/>
          <p:cNvSpPr txBox="1"/>
          <p:nvPr/>
        </p:nvSpPr>
        <p:spPr>
          <a:xfrm>
            <a:off x="9829800" y="196596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5</a:t>
            </a:r>
            <a:endParaRPr lang="en-US" sz="1600" dirty="0"/>
          </a:p>
        </p:txBody>
      </p:sp>
      <p:sp>
        <p:nvSpPr>
          <p:cNvPr id="32" name="Text 29"/>
          <p:cNvSpPr txBox="1"/>
          <p:nvPr/>
        </p:nvSpPr>
        <p:spPr>
          <a:xfrm>
            <a:off x="9829800" y="2560320"/>
            <a:ext cx="1673352"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Presentation Skills</a:t>
            </a:r>
            <a:endParaRPr lang="en-US" sz="1600" dirty="0"/>
          </a:p>
        </p:txBody>
      </p:sp>
      <p:sp>
        <p:nvSpPr>
          <p:cNvPr id="33" name="Text 30"/>
          <p:cNvSpPr txBox="1"/>
          <p:nvPr/>
        </p:nvSpPr>
        <p:spPr>
          <a:xfrm>
            <a:off x="9829800" y="3154680"/>
            <a:ext cx="1673352" cy="17373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Slides 1-9</a:t>
            </a:r>
            <a:endParaRPr lang="en-US" sz="1300" dirty="0"/>
          </a:p>
          <a:p>
            <a:pPr indent="0" marL="0">
              <a:buNone/>
            </a:pPr>
            <a:endParaRPr lang="en-US" sz="1300" dirty="0"/>
          </a:p>
          <a:p>
            <a:pPr indent="0" marL="0">
              <a:buNone/>
            </a:pPr>
            <a:r>
              <a:rPr lang="en-US" sz="1300" dirty="0">
                <a:solidFill>
                  <a:srgbClr val="5C6B7A"/>
                </a:solidFill>
                <a:latin typeface="Calibri" pitchFamily="34" charset="0"/>
                <a:ea typeface="Calibri" pitchFamily="34" charset="-122"/>
                <a:cs typeface="Calibri" pitchFamily="34" charset="-120"/>
              </a:rPr>
              <a:t>Clear flow, visuals and summary</a:t>
            </a:r>
            <a:endParaRPr lang="en-US" sz="1300" dirty="0"/>
          </a:p>
        </p:txBody>
      </p:sp>
      <p:sp>
        <p:nvSpPr>
          <p:cNvPr id="34" name="Shape 31"/>
          <p:cNvSpPr/>
          <p:nvPr/>
        </p:nvSpPr>
        <p:spPr>
          <a:xfrm>
            <a:off x="457200" y="5394960"/>
            <a:ext cx="11274552" cy="640080"/>
          </a:xfrm>
          <a:prstGeom prst="roundRect">
            <a:avLst>
              <a:gd name="adj" fmla="val 11429"/>
            </a:avLst>
          </a:prstGeom>
          <a:solidFill>
            <a:srgbClr val="1B2A41"/>
          </a:solidFill>
          <a:ln w="12700">
            <a:solidFill>
              <a:srgbClr val="1B2A41"/>
            </a:solidFill>
            <a:prstDash val="solid"/>
          </a:ln>
        </p:spPr>
      </p:sp>
      <p:sp>
        <p:nvSpPr>
          <p:cNvPr id="35" name="Text 32"/>
          <p:cNvSpPr txBox="1"/>
          <p:nvPr/>
        </p:nvSpPr>
        <p:spPr>
          <a:xfrm>
            <a:off x="731520" y="5394960"/>
            <a:ext cx="1078992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REVIEW 4 TOTAL:  5 criteria  x  10 marks  =  50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CRITERION 1  ·  ACCURACY OF RESULTS</a:t>
            </a:r>
            <a:endParaRPr lang="en-US" sz="1100" dirty="0"/>
          </a:p>
        </p:txBody>
      </p:sp>
      <p:sp>
        <p:nvSpPr>
          <p:cNvPr id="3" name="Shape 1"/>
          <p:cNvSpPr/>
          <p:nvPr/>
        </p:nvSpPr>
        <p:spPr>
          <a:xfrm>
            <a:off x="10332720" y="320040"/>
            <a:ext cx="1417320" cy="36576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10332720" y="320040"/>
            <a:ext cx="1417320" cy="36576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10 MARKS</a:t>
            </a:r>
            <a:endParaRPr lang="en-US" sz="1100" dirty="0"/>
          </a:p>
        </p:txBody>
      </p:sp>
      <p:sp>
        <p:nvSpPr>
          <p:cNvPr id="5" name="Text 3"/>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How we check that DockFlow gives correct results</a:t>
            </a:r>
            <a:endParaRPr lang="en-US" sz="3000" dirty="0"/>
          </a:p>
        </p:txBody>
      </p:sp>
      <p:sp>
        <p:nvSpPr>
          <p:cNvPr id="6" name="Text 4"/>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7" name="Text 5"/>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926080"/>
                <a:gridCol w="6035040"/>
                <a:gridCol w="2313432"/>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must be accurate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we check it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65836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Stock counts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and remove known quantities, then compare with the counts shown</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Mismatches found</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65836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Orders against stock</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Create orders and check that stock reduces by exactly the ordered amount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Mismatches found</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65836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Delivery status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Update a shipment and check the status shown for that order</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Correct status shown</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65836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Shipment events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Send events through Kafka; check MongoDB receives each one, repeats included</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Events saved correctly</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65836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Search by size, color, location</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Look up known items for men, women and kids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Correct item returned</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bl>
          </a:graphicData>
        </a:graphic>
      </p:graphicFrame>
      <p:sp>
        <p:nvSpPr>
          <p:cNvPr id="10" name="Shape 6"/>
          <p:cNvSpPr/>
          <p:nvPr/>
        </p:nvSpPr>
        <p:spPr>
          <a:xfrm>
            <a:off x="457200" y="5669280"/>
            <a:ext cx="11274552" cy="640080"/>
          </a:xfrm>
          <a:prstGeom prst="roundRect">
            <a:avLst>
              <a:gd name="adj" fmla="val 11429"/>
            </a:avLst>
          </a:prstGeom>
          <a:solidFill>
            <a:srgbClr val="1B2A41"/>
          </a:solidFill>
          <a:ln w="12700">
            <a:solidFill>
              <a:srgbClr val="1B2A41"/>
            </a:solidFill>
            <a:prstDash val="solid"/>
          </a:ln>
        </p:spPr>
      </p:sp>
      <p:sp>
        <p:nvSpPr>
          <p:cNvPr id="11" name="Text 7"/>
          <p:cNvSpPr txBox="1"/>
          <p:nvPr/>
        </p:nvSpPr>
        <p:spPr>
          <a:xfrm>
            <a:off x="731520" y="5669280"/>
            <a:ext cx="1078992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Test data is known in advance, so every result can be marked right or wrong.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CRITERION 1  ·  ACCURACY OF RESULTS</a:t>
            </a:r>
            <a:endParaRPr lang="en-US" sz="1100" dirty="0"/>
          </a:p>
        </p:txBody>
      </p:sp>
      <p:sp>
        <p:nvSpPr>
          <p:cNvPr id="3" name="Shape 1"/>
          <p:cNvSpPr/>
          <p:nvPr/>
        </p:nvSpPr>
        <p:spPr>
          <a:xfrm>
            <a:off x="10332720" y="320040"/>
            <a:ext cx="1417320" cy="36576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10332720" y="320040"/>
            <a:ext cx="1417320" cy="36576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10 MARKS</a:t>
            </a:r>
            <a:endParaRPr lang="en-US" sz="1100" dirty="0"/>
          </a:p>
        </p:txBody>
      </p:sp>
      <p:sp>
        <p:nvSpPr>
          <p:cNvPr id="5" name="Text 3"/>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Results against our targets</a:t>
            </a:r>
            <a:endParaRPr lang="en-US" sz="3000" dirty="0"/>
          </a:p>
        </p:txBody>
      </p:sp>
      <p:sp>
        <p:nvSpPr>
          <p:cNvPr id="6" name="Text 4"/>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7" name="Text 5"/>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4572000"/>
                <a:gridCol w="2377440"/>
                <a:gridCol w="1828800"/>
                <a:gridCol w="249631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runs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Measured result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Stock counts matching real stock</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runs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result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Orders reducing stock correctly</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runs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result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Delivery status shown correctly</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runs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result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Shipment events saved in MongoDB</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Every event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runs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result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Items found by size, color, location</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runs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result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Response time: stock and order actions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Under 1 second</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runs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Add result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bl>
          </a:graphicData>
        </a:graphic>
      </p:graphicFrame>
      <p:sp>
        <p:nvSpPr>
          <p:cNvPr id="10" name="Shape 6"/>
          <p:cNvSpPr/>
          <p:nvPr/>
        </p:nvSpPr>
        <p:spPr>
          <a:xfrm>
            <a:off x="457200" y="5806440"/>
            <a:ext cx="11274552" cy="640080"/>
          </a:xfrm>
          <a:prstGeom prst="roundRect">
            <a:avLst>
              <a:gd name="adj" fmla="val 11429"/>
            </a:avLst>
          </a:prstGeom>
          <a:solidFill>
            <a:srgbClr val="F2A541"/>
          </a:solidFill>
          <a:ln w="12700">
            <a:solidFill>
              <a:srgbClr val="F2A541"/>
            </a:solidFill>
            <a:prstDash val="solid"/>
          </a:ln>
        </p:spPr>
      </p:sp>
      <p:sp>
        <p:nvSpPr>
          <p:cNvPr id="11" name="Text 7"/>
          <p:cNvSpPr txBox="1"/>
          <p:nvPr/>
        </p:nvSpPr>
        <p:spPr>
          <a:xfrm>
            <a:off x="731520" y="5806440"/>
            <a:ext cx="10789920" cy="640080"/>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Results come from running these checks on the working system. Limits of testing are stated openly.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CRITERION 2  ·  TECHNICAL COMPETENCE</a:t>
            </a:r>
            <a:endParaRPr lang="en-US" sz="1100" dirty="0"/>
          </a:p>
        </p:txBody>
      </p:sp>
      <p:sp>
        <p:nvSpPr>
          <p:cNvPr id="3" name="Shape 1"/>
          <p:cNvSpPr/>
          <p:nvPr/>
        </p:nvSpPr>
        <p:spPr>
          <a:xfrm>
            <a:off x="10332720" y="320040"/>
            <a:ext cx="1417320" cy="36576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10332720" y="320040"/>
            <a:ext cx="1417320" cy="36576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10 MARKS</a:t>
            </a:r>
            <a:endParaRPr lang="en-US" sz="1100" dirty="0"/>
          </a:p>
        </p:txBody>
      </p:sp>
      <p:sp>
        <p:nvSpPr>
          <p:cNvPr id="5" name="Text 3"/>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Technical skills behind DockFlow</a:t>
            </a:r>
            <a:endParaRPr lang="en-US" sz="3000" dirty="0"/>
          </a:p>
        </p:txBody>
      </p:sp>
      <p:sp>
        <p:nvSpPr>
          <p:cNvPr id="6" name="Text 4"/>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7" name="Text 5"/>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5</a:t>
            </a:r>
            <a:endParaRPr lang="en-US" sz="1000" dirty="0"/>
          </a:p>
        </p:txBody>
      </p:sp>
      <p:sp>
        <p:nvSpPr>
          <p:cNvPr id="9" name="Shape 6"/>
          <p:cNvSpPr/>
          <p:nvPr/>
        </p:nvSpPr>
        <p:spPr>
          <a:xfrm>
            <a:off x="457200" y="1645920"/>
            <a:ext cx="2697480" cy="3383280"/>
          </a:xfrm>
          <a:prstGeom prst="roundRect">
            <a:avLst>
              <a:gd name="adj" fmla="val 3390"/>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685800" y="1874520"/>
            <a:ext cx="457200" cy="457200"/>
          </a:xfrm>
          <a:prstGeom prst="ellipse">
            <a:avLst/>
          </a:prstGeom>
          <a:solidFill>
            <a:srgbClr val="F2A541"/>
          </a:solidFill>
          <a:ln w="12700">
            <a:solidFill>
              <a:srgbClr val="F2A541"/>
            </a:solidFill>
            <a:prstDash val="solid"/>
          </a:ln>
        </p:spPr>
      </p:sp>
      <p:sp>
        <p:nvSpPr>
          <p:cNvPr id="11" name="Text 8"/>
          <p:cNvSpPr txBox="1"/>
          <p:nvPr/>
        </p:nvSpPr>
        <p:spPr>
          <a:xfrm>
            <a:off x="685800" y="187452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1</a:t>
            </a:r>
            <a:endParaRPr lang="en-US" sz="1600" dirty="0"/>
          </a:p>
        </p:txBody>
      </p:sp>
      <p:sp>
        <p:nvSpPr>
          <p:cNvPr id="12" name="Text 9"/>
          <p:cNvSpPr txBox="1"/>
          <p:nvPr/>
        </p:nvSpPr>
        <p:spPr>
          <a:xfrm>
            <a:off x="685800" y="2468880"/>
            <a:ext cx="2240280"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MySQL: stock and orders</a:t>
            </a:r>
            <a:endParaRPr lang="en-US" sz="1600" dirty="0"/>
          </a:p>
        </p:txBody>
      </p:sp>
      <p:sp>
        <p:nvSpPr>
          <p:cNvPr id="13" name="Text 10"/>
          <p:cNvSpPr txBox="1"/>
          <p:nvPr/>
        </p:nvSpPr>
        <p:spPr>
          <a:xfrm>
            <a:off x="685800" y="3063240"/>
            <a:ext cx="2240280" cy="182880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Relational tables for clothes by category, size, color and location, linked to orders so counts stay consistent.</a:t>
            </a:r>
            <a:endParaRPr lang="en-US" sz="1300" dirty="0"/>
          </a:p>
        </p:txBody>
      </p:sp>
      <p:sp>
        <p:nvSpPr>
          <p:cNvPr id="14" name="Shape 11"/>
          <p:cNvSpPr/>
          <p:nvPr/>
        </p:nvSpPr>
        <p:spPr>
          <a:xfrm>
            <a:off x="3310128" y="1645920"/>
            <a:ext cx="2697480" cy="3383280"/>
          </a:xfrm>
          <a:prstGeom prst="roundRect">
            <a:avLst>
              <a:gd name="adj" fmla="val 3390"/>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3538728" y="1874520"/>
            <a:ext cx="457200" cy="457200"/>
          </a:xfrm>
          <a:prstGeom prst="ellipse">
            <a:avLst/>
          </a:prstGeom>
          <a:solidFill>
            <a:srgbClr val="F2A541"/>
          </a:solidFill>
          <a:ln w="12700">
            <a:solidFill>
              <a:srgbClr val="F2A541"/>
            </a:solidFill>
            <a:prstDash val="solid"/>
          </a:ln>
        </p:spPr>
      </p:sp>
      <p:sp>
        <p:nvSpPr>
          <p:cNvPr id="16" name="Text 13"/>
          <p:cNvSpPr txBox="1"/>
          <p:nvPr/>
        </p:nvSpPr>
        <p:spPr>
          <a:xfrm>
            <a:off x="3538728" y="187452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3538728" y="2468880"/>
            <a:ext cx="2240280"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MongoDB: delivery updates</a:t>
            </a:r>
            <a:endParaRPr lang="en-US" sz="1600" dirty="0"/>
          </a:p>
        </p:txBody>
      </p:sp>
      <p:sp>
        <p:nvSpPr>
          <p:cNvPr id="18" name="Text 15"/>
          <p:cNvSpPr txBox="1"/>
          <p:nvPr/>
        </p:nvSpPr>
        <p:spPr>
          <a:xfrm>
            <a:off x="3538728" y="3063240"/>
            <a:ext cx="2240280" cy="182880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Flexible documents for shipment updates, so new delivery details need no table change.</a:t>
            </a:r>
            <a:endParaRPr lang="en-US" sz="1300" dirty="0"/>
          </a:p>
        </p:txBody>
      </p:sp>
      <p:sp>
        <p:nvSpPr>
          <p:cNvPr id="19" name="Shape 16"/>
          <p:cNvSpPr/>
          <p:nvPr/>
        </p:nvSpPr>
        <p:spPr>
          <a:xfrm>
            <a:off x="6163056" y="1645920"/>
            <a:ext cx="2697480" cy="3383280"/>
          </a:xfrm>
          <a:prstGeom prst="roundRect">
            <a:avLst>
              <a:gd name="adj" fmla="val 3390"/>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6391656" y="1874520"/>
            <a:ext cx="457200" cy="457200"/>
          </a:xfrm>
          <a:prstGeom prst="ellipse">
            <a:avLst/>
          </a:prstGeom>
          <a:solidFill>
            <a:srgbClr val="F2A541"/>
          </a:solidFill>
          <a:ln w="12700">
            <a:solidFill>
              <a:srgbClr val="F2A541"/>
            </a:solidFill>
            <a:prstDash val="solid"/>
          </a:ln>
        </p:spPr>
      </p:sp>
      <p:sp>
        <p:nvSpPr>
          <p:cNvPr id="21" name="Text 18"/>
          <p:cNvSpPr txBox="1"/>
          <p:nvPr/>
        </p:nvSpPr>
        <p:spPr>
          <a:xfrm>
            <a:off x="6391656" y="187452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3</a:t>
            </a:r>
            <a:endParaRPr lang="en-US" sz="1600" dirty="0"/>
          </a:p>
        </p:txBody>
      </p:sp>
      <p:sp>
        <p:nvSpPr>
          <p:cNvPr id="22" name="Text 19"/>
          <p:cNvSpPr txBox="1"/>
          <p:nvPr/>
        </p:nvSpPr>
        <p:spPr>
          <a:xfrm>
            <a:off x="6391656" y="2468880"/>
            <a:ext cx="2240280"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Kafka: shipment events</a:t>
            </a:r>
            <a:endParaRPr lang="en-US" sz="1600" dirty="0"/>
          </a:p>
        </p:txBody>
      </p:sp>
      <p:sp>
        <p:nvSpPr>
          <p:cNvPr id="23" name="Text 20"/>
          <p:cNvSpPr txBox="1"/>
          <p:nvPr/>
        </p:nvSpPr>
        <p:spPr>
          <a:xfrm>
            <a:off x="6391656" y="3063240"/>
            <a:ext cx="2240280" cy="182880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Events pass from the order side to the delivery side, keeping the two services separate.</a:t>
            </a:r>
            <a:endParaRPr lang="en-US" sz="1300" dirty="0"/>
          </a:p>
        </p:txBody>
      </p:sp>
      <p:sp>
        <p:nvSpPr>
          <p:cNvPr id="24" name="Shape 21"/>
          <p:cNvSpPr/>
          <p:nvPr/>
        </p:nvSpPr>
        <p:spPr>
          <a:xfrm>
            <a:off x="9015984" y="1645920"/>
            <a:ext cx="2697480" cy="3383280"/>
          </a:xfrm>
          <a:prstGeom prst="roundRect">
            <a:avLst>
              <a:gd name="adj" fmla="val 3390"/>
            </a:avLst>
          </a:prstGeom>
          <a:solidFill>
            <a:srgbClr val="FFFFFF"/>
          </a:solidFill>
          <a:ln w="12700">
            <a:solidFill>
              <a:srgbClr val="D8E1E9"/>
            </a:solidFill>
            <a:prstDash val="solid"/>
          </a:ln>
          <a:effectLst>
            <a:outerShdw sx="100000" sy="100000" kx="0" ky="0" algn="bl" rotWithShape="0" blurRad="76200" dist="25400" dir="5400000">
              <a:srgbClr val="000000">
                <a:alpha val="12000"/>
              </a:srgbClr>
            </a:outerShdw>
          </a:effectLst>
        </p:spPr>
      </p:sp>
      <p:sp>
        <p:nvSpPr>
          <p:cNvPr id="25" name="Shape 22"/>
          <p:cNvSpPr/>
          <p:nvPr/>
        </p:nvSpPr>
        <p:spPr>
          <a:xfrm>
            <a:off x="9244584" y="1874520"/>
            <a:ext cx="457200" cy="457200"/>
          </a:xfrm>
          <a:prstGeom prst="ellipse">
            <a:avLst/>
          </a:prstGeom>
          <a:solidFill>
            <a:srgbClr val="F2A541"/>
          </a:solidFill>
          <a:ln w="12700">
            <a:solidFill>
              <a:srgbClr val="F2A541"/>
            </a:solidFill>
            <a:prstDash val="solid"/>
          </a:ln>
        </p:spPr>
      </p:sp>
      <p:sp>
        <p:nvSpPr>
          <p:cNvPr id="26" name="Text 23"/>
          <p:cNvSpPr txBox="1"/>
          <p:nvPr/>
        </p:nvSpPr>
        <p:spPr>
          <a:xfrm>
            <a:off x="9244584" y="1874520"/>
            <a:ext cx="457200" cy="45720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4</a:t>
            </a:r>
            <a:endParaRPr lang="en-US" sz="1600" dirty="0"/>
          </a:p>
        </p:txBody>
      </p:sp>
      <p:sp>
        <p:nvSpPr>
          <p:cNvPr id="27" name="Text 24"/>
          <p:cNvSpPr txBox="1"/>
          <p:nvPr/>
        </p:nvSpPr>
        <p:spPr>
          <a:xfrm>
            <a:off x="9244584" y="2468880"/>
            <a:ext cx="2240280" cy="5486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Staff website</a:t>
            </a:r>
            <a:endParaRPr lang="en-US" sz="1600" dirty="0"/>
          </a:p>
        </p:txBody>
      </p:sp>
      <p:sp>
        <p:nvSpPr>
          <p:cNvPr id="28" name="Text 25"/>
          <p:cNvSpPr txBox="1"/>
          <p:nvPr/>
        </p:nvSpPr>
        <p:spPr>
          <a:xfrm>
            <a:off x="9244584" y="3063240"/>
            <a:ext cx="2240280" cy="182880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One browser interface to add stock, create orders and update deliveries.</a:t>
            </a:r>
            <a:endParaRPr lang="en-US" sz="1300" dirty="0"/>
          </a:p>
        </p:txBody>
      </p:sp>
      <p:sp>
        <p:nvSpPr>
          <p:cNvPr id="29" name="Shape 26"/>
          <p:cNvSpPr/>
          <p:nvPr/>
        </p:nvSpPr>
        <p:spPr>
          <a:xfrm>
            <a:off x="457200" y="5394960"/>
            <a:ext cx="11274552" cy="640080"/>
          </a:xfrm>
          <a:prstGeom prst="roundRect">
            <a:avLst>
              <a:gd name="adj" fmla="val 11429"/>
            </a:avLst>
          </a:prstGeom>
          <a:solidFill>
            <a:srgbClr val="1B2A41"/>
          </a:solidFill>
          <a:ln w="12700">
            <a:solidFill>
              <a:srgbClr val="1B2A41"/>
            </a:solidFill>
            <a:prstDash val="solid"/>
          </a:ln>
        </p:spPr>
      </p:sp>
      <p:sp>
        <p:nvSpPr>
          <p:cNvPr id="30" name="Text 27"/>
          <p:cNvSpPr txBox="1"/>
          <p:nvPr/>
        </p:nvSpPr>
        <p:spPr>
          <a:xfrm>
            <a:off x="731520" y="5394960"/>
            <a:ext cx="1078992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Skills shown: database design, NoSQL modelling, event-driven design, and web development.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CRITERION 2  ·  TECHNICAL COMPETENCE</a:t>
            </a:r>
            <a:endParaRPr lang="en-US" sz="1100" dirty="0"/>
          </a:p>
        </p:txBody>
      </p:sp>
      <p:sp>
        <p:nvSpPr>
          <p:cNvPr id="3" name="Shape 1"/>
          <p:cNvSpPr/>
          <p:nvPr/>
        </p:nvSpPr>
        <p:spPr>
          <a:xfrm>
            <a:off x="10332720" y="320040"/>
            <a:ext cx="1417320" cy="36576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10332720" y="320040"/>
            <a:ext cx="1417320" cy="36576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10 MARKS</a:t>
            </a:r>
            <a:endParaRPr lang="en-US" sz="1100" dirty="0"/>
          </a:p>
        </p:txBody>
      </p:sp>
      <p:sp>
        <p:nvSpPr>
          <p:cNvPr id="5" name="Text 3"/>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Technical problems and how we solved them</a:t>
            </a:r>
            <a:endParaRPr lang="en-US" sz="3000" dirty="0"/>
          </a:p>
        </p:txBody>
      </p:sp>
      <p:sp>
        <p:nvSpPr>
          <p:cNvPr id="6" name="Text 4"/>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7" name="Text 5"/>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3017520"/>
                <a:gridCol w="4389120"/>
                <a:gridCol w="3867912"/>
              </a:tblGrid>
              <a:tr h="7315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Challenge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happens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How DockFlow handles it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731520">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Data split across two stores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Orders are in MySQL, delivery updates in MongoDB</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Records linked by an order reference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731520">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Repeated shipment events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Kafka delivers at-least-once, so an event can arrive twice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Delivery updates are safe to repeat</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731520">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Three tools to set up</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Each tool needs its own setup and care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One narrow job per tool</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731520">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Keeping stock accurate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Orders and stock change together</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Orders created against tracked stock in MySQL</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bl>
          </a:graphicData>
        </a:graphic>
      </p:graphicFrame>
      <p:sp>
        <p:nvSpPr>
          <p:cNvPr id="10" name="Shape 6"/>
          <p:cNvSpPr/>
          <p:nvPr/>
        </p:nvSpPr>
        <p:spPr>
          <a:xfrm>
            <a:off x="457200" y="5623560"/>
            <a:ext cx="11274552" cy="640080"/>
          </a:xfrm>
          <a:prstGeom prst="roundRect">
            <a:avLst>
              <a:gd name="adj" fmla="val 11429"/>
            </a:avLst>
          </a:prstGeom>
          <a:solidFill>
            <a:srgbClr val="F2A541"/>
          </a:solidFill>
          <a:ln w="12700">
            <a:solidFill>
              <a:srgbClr val="F2A541"/>
            </a:solidFill>
            <a:prstDash val="solid"/>
          </a:ln>
        </p:spPr>
      </p:sp>
      <p:sp>
        <p:nvSpPr>
          <p:cNvPr id="11" name="Text 7"/>
          <p:cNvSpPr txBox="1"/>
          <p:nvPr/>
        </p:nvSpPr>
        <p:spPr>
          <a:xfrm>
            <a:off x="731520" y="5623560"/>
            <a:ext cx="10789920" cy="640080"/>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Honest limits: real courier GPS, payments, CI/CD and full C4 diagrams are future work.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CRITERION 3  ·  INNOVATIVE AND SUSTAINABLE FEATURES</a:t>
            </a:r>
            <a:endParaRPr lang="en-US" sz="1100" dirty="0"/>
          </a:p>
        </p:txBody>
      </p:sp>
      <p:sp>
        <p:nvSpPr>
          <p:cNvPr id="3" name="Shape 1"/>
          <p:cNvSpPr/>
          <p:nvPr/>
        </p:nvSpPr>
        <p:spPr>
          <a:xfrm>
            <a:off x="10332720" y="320040"/>
            <a:ext cx="1417320" cy="36576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10332720" y="320040"/>
            <a:ext cx="1417320" cy="36576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10 MARKS</a:t>
            </a:r>
            <a:endParaRPr lang="en-US" sz="1100" dirty="0"/>
          </a:p>
        </p:txBody>
      </p:sp>
      <p:sp>
        <p:nvSpPr>
          <p:cNvPr id="5" name="Text 3"/>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What is innovative and what makes it sustainable</a:t>
            </a:r>
            <a:endParaRPr lang="en-US" sz="3000" dirty="0"/>
          </a:p>
        </p:txBody>
      </p:sp>
      <p:sp>
        <p:nvSpPr>
          <p:cNvPr id="6" name="Text 4"/>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7" name="Text 5"/>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7</a:t>
            </a:r>
            <a:endParaRPr lang="en-US" sz="1000" dirty="0"/>
          </a:p>
        </p:txBody>
      </p:sp>
      <p:sp>
        <p:nvSpPr>
          <p:cNvPr id="9" name="Text 6"/>
          <p:cNvSpPr txBox="1"/>
          <p:nvPr/>
        </p:nvSpPr>
        <p:spPr>
          <a:xfrm>
            <a:off x="457200" y="1600200"/>
            <a:ext cx="5486400" cy="274320"/>
          </a:xfrm>
          <a:prstGeom prst="rect">
            <a:avLst/>
          </a:prstGeom>
          <a:noFill/>
          <a:ln/>
        </p:spPr>
        <p:txBody>
          <a:bodyPr wrap="square" lIns="0" tIns="0" rIns="0" bIns="0" rtlCol="0" anchor="ctr"/>
          <a:lstStyle/>
          <a:p>
            <a:pPr indent="0" marL="0">
              <a:buNone/>
            </a:pPr>
            <a:r>
              <a:rPr lang="en-US" sz="1200" b="1" spc="300" kern="0" dirty="0">
                <a:solidFill>
                  <a:srgbClr val="F2A541"/>
                </a:solidFill>
                <a:latin typeface="Calibri" pitchFamily="34" charset="0"/>
                <a:ea typeface="Calibri" pitchFamily="34" charset="-122"/>
                <a:cs typeface="Calibri" pitchFamily="34" charset="-120"/>
              </a:rPr>
              <a:t>INNOVATIVE</a:t>
            </a:r>
            <a:endParaRPr lang="en-US" sz="1200" dirty="0"/>
          </a:p>
        </p:txBody>
      </p:sp>
      <p:sp>
        <p:nvSpPr>
          <p:cNvPr id="10" name="Text 7"/>
          <p:cNvSpPr txBox="1"/>
          <p:nvPr/>
        </p:nvSpPr>
        <p:spPr>
          <a:xfrm>
            <a:off x="6309360" y="1600200"/>
            <a:ext cx="5486400" cy="274320"/>
          </a:xfrm>
          <a:prstGeom prst="rect">
            <a:avLst/>
          </a:prstGeom>
          <a:noFill/>
          <a:ln/>
        </p:spPr>
        <p:txBody>
          <a:bodyPr wrap="square" lIns="0" tIns="0" rIns="0" bIns="0" rtlCol="0" anchor="ctr"/>
          <a:lstStyle/>
          <a:p>
            <a:pPr indent="0" marL="0">
              <a:buNone/>
            </a:pPr>
            <a:r>
              <a:rPr lang="en-US" sz="1200" b="1" spc="300" kern="0" dirty="0">
                <a:solidFill>
                  <a:srgbClr val="2E7D6B"/>
                </a:solidFill>
                <a:latin typeface="Calibri" pitchFamily="34" charset="0"/>
                <a:ea typeface="Calibri" pitchFamily="34" charset="-122"/>
                <a:cs typeface="Calibri" pitchFamily="34" charset="-120"/>
              </a:rPr>
              <a:t>SUSTAINABLE</a:t>
            </a:r>
            <a:endParaRPr lang="en-US" sz="1200" dirty="0"/>
          </a:p>
        </p:txBody>
      </p:sp>
      <p:sp>
        <p:nvSpPr>
          <p:cNvPr id="11" name="Shape 8"/>
          <p:cNvSpPr/>
          <p:nvPr/>
        </p:nvSpPr>
        <p:spPr>
          <a:xfrm>
            <a:off x="457200" y="1965960"/>
            <a:ext cx="5422392" cy="896112"/>
          </a:xfrm>
          <a:prstGeom prst="roundRect">
            <a:avLst>
              <a:gd name="adj" fmla="val 8163"/>
            </a:avLst>
          </a:prstGeom>
          <a:solidFill>
            <a:srgbClr val="FFFFFF"/>
          </a:solidFill>
          <a:ln w="12700">
            <a:solidFill>
              <a:srgbClr val="D8E1E9"/>
            </a:solidFill>
            <a:prstDash val="solid"/>
          </a:ln>
        </p:spPr>
      </p:sp>
      <p:sp>
        <p:nvSpPr>
          <p:cNvPr id="12" name="Shape 9"/>
          <p:cNvSpPr/>
          <p:nvPr/>
        </p:nvSpPr>
        <p:spPr>
          <a:xfrm>
            <a:off x="457200" y="2057400"/>
            <a:ext cx="73152" cy="713232"/>
          </a:xfrm>
          <a:prstGeom prst="rect">
            <a:avLst/>
          </a:prstGeom>
          <a:solidFill>
            <a:srgbClr val="F2A541"/>
          </a:solidFill>
          <a:ln w="12700">
            <a:solidFill>
              <a:srgbClr val="F2A541"/>
            </a:solidFill>
            <a:prstDash val="solid"/>
          </a:ln>
        </p:spPr>
      </p:sp>
      <p:sp>
        <p:nvSpPr>
          <p:cNvPr id="13" name="Text 10"/>
          <p:cNvSpPr txBox="1"/>
          <p:nvPr/>
        </p:nvSpPr>
        <p:spPr>
          <a:xfrm>
            <a:off x="731520" y="1965960"/>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Right database for each job</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MySQL for stock and orders, MongoDB for delivery updates</a:t>
            </a:r>
            <a:endParaRPr lang="en-US" sz="1400" dirty="0"/>
          </a:p>
        </p:txBody>
      </p:sp>
      <p:sp>
        <p:nvSpPr>
          <p:cNvPr id="14" name="Shape 11"/>
          <p:cNvSpPr/>
          <p:nvPr/>
        </p:nvSpPr>
        <p:spPr>
          <a:xfrm>
            <a:off x="457200" y="2990088"/>
            <a:ext cx="5422392" cy="896112"/>
          </a:xfrm>
          <a:prstGeom prst="roundRect">
            <a:avLst>
              <a:gd name="adj" fmla="val 8163"/>
            </a:avLst>
          </a:prstGeom>
          <a:solidFill>
            <a:srgbClr val="FFFFFF"/>
          </a:solidFill>
          <a:ln w="12700">
            <a:solidFill>
              <a:srgbClr val="D8E1E9"/>
            </a:solidFill>
            <a:prstDash val="solid"/>
          </a:ln>
        </p:spPr>
      </p:sp>
      <p:sp>
        <p:nvSpPr>
          <p:cNvPr id="15" name="Shape 12"/>
          <p:cNvSpPr/>
          <p:nvPr/>
        </p:nvSpPr>
        <p:spPr>
          <a:xfrm>
            <a:off x="457200" y="3081528"/>
            <a:ext cx="73152" cy="713232"/>
          </a:xfrm>
          <a:prstGeom prst="rect">
            <a:avLst/>
          </a:prstGeom>
          <a:solidFill>
            <a:srgbClr val="F2A541"/>
          </a:solidFill>
          <a:ln w="12700">
            <a:solidFill>
              <a:srgbClr val="F2A541"/>
            </a:solidFill>
            <a:prstDash val="solid"/>
          </a:ln>
        </p:spPr>
      </p:sp>
      <p:sp>
        <p:nvSpPr>
          <p:cNvPr id="16" name="Text 13"/>
          <p:cNvSpPr txBox="1"/>
          <p:nvPr/>
        </p:nvSpPr>
        <p:spPr>
          <a:xfrm>
            <a:off x="731520" y="2990088"/>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Event-driven shipments</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Kafka passes shipment events between services</a:t>
            </a:r>
            <a:endParaRPr lang="en-US" sz="1400" dirty="0"/>
          </a:p>
        </p:txBody>
      </p:sp>
      <p:sp>
        <p:nvSpPr>
          <p:cNvPr id="17" name="Shape 14"/>
          <p:cNvSpPr/>
          <p:nvPr/>
        </p:nvSpPr>
        <p:spPr>
          <a:xfrm>
            <a:off x="457200" y="4014216"/>
            <a:ext cx="5422392" cy="896112"/>
          </a:xfrm>
          <a:prstGeom prst="roundRect">
            <a:avLst>
              <a:gd name="adj" fmla="val 8163"/>
            </a:avLst>
          </a:prstGeom>
          <a:solidFill>
            <a:srgbClr val="FFFFFF"/>
          </a:solidFill>
          <a:ln w="12700">
            <a:solidFill>
              <a:srgbClr val="D8E1E9"/>
            </a:solidFill>
            <a:prstDash val="solid"/>
          </a:ln>
        </p:spPr>
      </p:sp>
      <p:sp>
        <p:nvSpPr>
          <p:cNvPr id="18" name="Shape 15"/>
          <p:cNvSpPr/>
          <p:nvPr/>
        </p:nvSpPr>
        <p:spPr>
          <a:xfrm>
            <a:off x="457200" y="4105656"/>
            <a:ext cx="73152" cy="713232"/>
          </a:xfrm>
          <a:prstGeom prst="rect">
            <a:avLst/>
          </a:prstGeom>
          <a:solidFill>
            <a:srgbClr val="F2A541"/>
          </a:solidFill>
          <a:ln w="12700">
            <a:solidFill>
              <a:srgbClr val="F2A541"/>
            </a:solidFill>
            <a:prstDash val="solid"/>
          </a:ln>
        </p:spPr>
      </p:sp>
      <p:sp>
        <p:nvSpPr>
          <p:cNvPr id="19" name="Text 16"/>
          <p:cNvSpPr txBox="1"/>
          <p:nvPr/>
        </p:nvSpPr>
        <p:spPr>
          <a:xfrm>
            <a:off x="731520" y="4014216"/>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One place for everything</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Stock, orders and deliveries in one website</a:t>
            </a:r>
            <a:endParaRPr lang="en-US" sz="1400" dirty="0"/>
          </a:p>
        </p:txBody>
      </p:sp>
      <p:sp>
        <p:nvSpPr>
          <p:cNvPr id="20" name="Shape 17"/>
          <p:cNvSpPr/>
          <p:nvPr/>
        </p:nvSpPr>
        <p:spPr>
          <a:xfrm>
            <a:off x="457200" y="5038344"/>
            <a:ext cx="5422392" cy="896112"/>
          </a:xfrm>
          <a:prstGeom prst="roundRect">
            <a:avLst>
              <a:gd name="adj" fmla="val 8163"/>
            </a:avLst>
          </a:prstGeom>
          <a:solidFill>
            <a:srgbClr val="FFFFFF"/>
          </a:solidFill>
          <a:ln w="12700">
            <a:solidFill>
              <a:srgbClr val="D8E1E9"/>
            </a:solidFill>
            <a:prstDash val="solid"/>
          </a:ln>
        </p:spPr>
      </p:sp>
      <p:sp>
        <p:nvSpPr>
          <p:cNvPr id="21" name="Shape 18"/>
          <p:cNvSpPr/>
          <p:nvPr/>
        </p:nvSpPr>
        <p:spPr>
          <a:xfrm>
            <a:off x="457200" y="5129784"/>
            <a:ext cx="73152" cy="713232"/>
          </a:xfrm>
          <a:prstGeom prst="rect">
            <a:avLst/>
          </a:prstGeom>
          <a:solidFill>
            <a:srgbClr val="F2A541"/>
          </a:solidFill>
          <a:ln w="12700">
            <a:solidFill>
              <a:srgbClr val="F2A541"/>
            </a:solidFill>
            <a:prstDash val="solid"/>
          </a:ln>
        </p:spPr>
      </p:sp>
      <p:sp>
        <p:nvSpPr>
          <p:cNvPr id="22" name="Text 19"/>
          <p:cNvSpPr txBox="1"/>
          <p:nvPr/>
        </p:nvSpPr>
        <p:spPr>
          <a:xfrm>
            <a:off x="731520" y="5038344"/>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Flexible delivery records</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New delivery details added without changing tables</a:t>
            </a:r>
            <a:endParaRPr lang="en-US" sz="1400" dirty="0"/>
          </a:p>
        </p:txBody>
      </p:sp>
      <p:sp>
        <p:nvSpPr>
          <p:cNvPr id="23" name="Shape 20"/>
          <p:cNvSpPr/>
          <p:nvPr/>
        </p:nvSpPr>
        <p:spPr>
          <a:xfrm>
            <a:off x="6309360" y="1965960"/>
            <a:ext cx="5422392" cy="896112"/>
          </a:xfrm>
          <a:prstGeom prst="roundRect">
            <a:avLst>
              <a:gd name="adj" fmla="val 8163"/>
            </a:avLst>
          </a:prstGeom>
          <a:solidFill>
            <a:srgbClr val="FFFFFF"/>
          </a:solidFill>
          <a:ln w="12700">
            <a:solidFill>
              <a:srgbClr val="D8E1E9"/>
            </a:solidFill>
            <a:prstDash val="solid"/>
          </a:ln>
        </p:spPr>
      </p:sp>
      <p:sp>
        <p:nvSpPr>
          <p:cNvPr id="24" name="Shape 21"/>
          <p:cNvSpPr/>
          <p:nvPr/>
        </p:nvSpPr>
        <p:spPr>
          <a:xfrm>
            <a:off x="6309360" y="2057400"/>
            <a:ext cx="73152" cy="713232"/>
          </a:xfrm>
          <a:prstGeom prst="rect">
            <a:avLst/>
          </a:prstGeom>
          <a:solidFill>
            <a:srgbClr val="2E7D6B"/>
          </a:solidFill>
          <a:ln w="12700">
            <a:solidFill>
              <a:srgbClr val="2E7D6B"/>
            </a:solidFill>
            <a:prstDash val="solid"/>
          </a:ln>
        </p:spPr>
      </p:sp>
      <p:sp>
        <p:nvSpPr>
          <p:cNvPr id="25" name="Text 22"/>
          <p:cNvSpPr txBox="1"/>
          <p:nvPr/>
        </p:nvSpPr>
        <p:spPr>
          <a:xfrm>
            <a:off x="6583680" y="1965960"/>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Open-source stack</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No paid licences, so it is affordable for small businesses</a:t>
            </a:r>
            <a:endParaRPr lang="en-US" sz="1400" dirty="0"/>
          </a:p>
        </p:txBody>
      </p:sp>
      <p:sp>
        <p:nvSpPr>
          <p:cNvPr id="26" name="Shape 23"/>
          <p:cNvSpPr/>
          <p:nvPr/>
        </p:nvSpPr>
        <p:spPr>
          <a:xfrm>
            <a:off x="6309360" y="2990088"/>
            <a:ext cx="5422392" cy="896112"/>
          </a:xfrm>
          <a:prstGeom prst="roundRect">
            <a:avLst>
              <a:gd name="adj" fmla="val 8163"/>
            </a:avLst>
          </a:prstGeom>
          <a:solidFill>
            <a:srgbClr val="FFFFFF"/>
          </a:solidFill>
          <a:ln w="12700">
            <a:solidFill>
              <a:srgbClr val="D8E1E9"/>
            </a:solidFill>
            <a:prstDash val="solid"/>
          </a:ln>
        </p:spPr>
      </p:sp>
      <p:sp>
        <p:nvSpPr>
          <p:cNvPr id="27" name="Shape 24"/>
          <p:cNvSpPr/>
          <p:nvPr/>
        </p:nvSpPr>
        <p:spPr>
          <a:xfrm>
            <a:off x="6309360" y="3081528"/>
            <a:ext cx="73152" cy="713232"/>
          </a:xfrm>
          <a:prstGeom prst="rect">
            <a:avLst/>
          </a:prstGeom>
          <a:solidFill>
            <a:srgbClr val="2E7D6B"/>
          </a:solidFill>
          <a:ln w="12700">
            <a:solidFill>
              <a:srgbClr val="2E7D6B"/>
            </a:solidFill>
            <a:prstDash val="solid"/>
          </a:ln>
        </p:spPr>
      </p:sp>
      <p:sp>
        <p:nvSpPr>
          <p:cNvPr id="28" name="Text 25"/>
          <p:cNvSpPr txBox="1"/>
          <p:nvPr/>
        </p:nvSpPr>
        <p:spPr>
          <a:xfrm>
            <a:off x="6583680" y="2990088"/>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Less waste</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Accurate stock reduces wrong, lost or surplus items</a:t>
            </a:r>
            <a:endParaRPr lang="en-US" sz="1400" dirty="0"/>
          </a:p>
        </p:txBody>
      </p:sp>
      <p:sp>
        <p:nvSpPr>
          <p:cNvPr id="29" name="Shape 26"/>
          <p:cNvSpPr/>
          <p:nvPr/>
        </p:nvSpPr>
        <p:spPr>
          <a:xfrm>
            <a:off x="6309360" y="4014216"/>
            <a:ext cx="5422392" cy="896112"/>
          </a:xfrm>
          <a:prstGeom prst="roundRect">
            <a:avLst>
              <a:gd name="adj" fmla="val 8163"/>
            </a:avLst>
          </a:prstGeom>
          <a:solidFill>
            <a:srgbClr val="FFFFFF"/>
          </a:solidFill>
          <a:ln w="12700">
            <a:solidFill>
              <a:srgbClr val="D8E1E9"/>
            </a:solidFill>
            <a:prstDash val="solid"/>
          </a:ln>
        </p:spPr>
      </p:sp>
      <p:sp>
        <p:nvSpPr>
          <p:cNvPr id="30" name="Shape 27"/>
          <p:cNvSpPr/>
          <p:nvPr/>
        </p:nvSpPr>
        <p:spPr>
          <a:xfrm>
            <a:off x="6309360" y="4105656"/>
            <a:ext cx="73152" cy="713232"/>
          </a:xfrm>
          <a:prstGeom prst="rect">
            <a:avLst/>
          </a:prstGeom>
          <a:solidFill>
            <a:srgbClr val="2E7D6B"/>
          </a:solidFill>
          <a:ln w="12700">
            <a:solidFill>
              <a:srgbClr val="2E7D6B"/>
            </a:solidFill>
            <a:prstDash val="solid"/>
          </a:ln>
        </p:spPr>
      </p:sp>
      <p:sp>
        <p:nvSpPr>
          <p:cNvPr id="31" name="Text 28"/>
          <p:cNvSpPr txBox="1"/>
          <p:nvPr/>
        </p:nvSpPr>
        <p:spPr>
          <a:xfrm>
            <a:off x="6583680" y="4014216"/>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Adapts locally</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New categories, fields or services change only one part</a:t>
            </a:r>
            <a:endParaRPr lang="en-US" sz="1400" dirty="0"/>
          </a:p>
        </p:txBody>
      </p:sp>
      <p:sp>
        <p:nvSpPr>
          <p:cNvPr id="32" name="Shape 29"/>
          <p:cNvSpPr/>
          <p:nvPr/>
        </p:nvSpPr>
        <p:spPr>
          <a:xfrm>
            <a:off x="6309360" y="5038344"/>
            <a:ext cx="5422392" cy="896112"/>
          </a:xfrm>
          <a:prstGeom prst="roundRect">
            <a:avLst>
              <a:gd name="adj" fmla="val 8163"/>
            </a:avLst>
          </a:prstGeom>
          <a:solidFill>
            <a:srgbClr val="FFFFFF"/>
          </a:solidFill>
          <a:ln w="12700">
            <a:solidFill>
              <a:srgbClr val="D8E1E9"/>
            </a:solidFill>
            <a:prstDash val="solid"/>
          </a:ln>
        </p:spPr>
      </p:sp>
      <p:sp>
        <p:nvSpPr>
          <p:cNvPr id="33" name="Shape 30"/>
          <p:cNvSpPr/>
          <p:nvPr/>
        </p:nvSpPr>
        <p:spPr>
          <a:xfrm>
            <a:off x="6309360" y="5129784"/>
            <a:ext cx="73152" cy="713232"/>
          </a:xfrm>
          <a:prstGeom prst="rect">
            <a:avLst/>
          </a:prstGeom>
          <a:solidFill>
            <a:srgbClr val="2E7D6B"/>
          </a:solidFill>
          <a:ln w="12700">
            <a:solidFill>
              <a:srgbClr val="2E7D6B"/>
            </a:solidFill>
            <a:prstDash val="solid"/>
          </a:ln>
        </p:spPr>
      </p:sp>
      <p:sp>
        <p:nvSpPr>
          <p:cNvPr id="34" name="Text 31"/>
          <p:cNvSpPr txBox="1"/>
          <p:nvPr/>
        </p:nvSpPr>
        <p:spPr>
          <a:xfrm>
            <a:off x="6583680" y="5038344"/>
            <a:ext cx="4983480" cy="89611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Less paperwork</a:t>
            </a:r>
            <a:endParaRPr lang="en-US" sz="1400" dirty="0"/>
          </a:p>
          <a:p>
            <a:pPr indent="0" marL="0">
              <a:buNone/>
            </a:pPr>
            <a:r>
              <a:rPr lang="en-US" sz="1200" dirty="0">
                <a:solidFill>
                  <a:srgbClr val="5C6B7A"/>
                </a:solidFill>
                <a:latin typeface="Calibri" pitchFamily="34" charset="0"/>
                <a:ea typeface="Calibri" pitchFamily="34" charset="-122"/>
                <a:cs typeface="Calibri" pitchFamily="34" charset="-120"/>
              </a:rPr>
              <a:t>Digital records replace manual re-entry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CRITERION 4  ·  UTILITY TO SOCIETY</a:t>
            </a:r>
            <a:endParaRPr lang="en-US" sz="1100" dirty="0"/>
          </a:p>
        </p:txBody>
      </p:sp>
      <p:sp>
        <p:nvSpPr>
          <p:cNvPr id="3" name="Shape 1"/>
          <p:cNvSpPr/>
          <p:nvPr/>
        </p:nvSpPr>
        <p:spPr>
          <a:xfrm>
            <a:off x="10332720" y="320040"/>
            <a:ext cx="1417320" cy="36576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10332720" y="320040"/>
            <a:ext cx="1417320" cy="36576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10 MARKS</a:t>
            </a:r>
            <a:endParaRPr lang="en-US" sz="1100" dirty="0"/>
          </a:p>
        </p:txBody>
      </p:sp>
      <p:sp>
        <p:nvSpPr>
          <p:cNvPr id="5" name="Text 3"/>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Who benefits, and how DockFlow fits the SDGs</a:t>
            </a:r>
            <a:endParaRPr lang="en-US" sz="3000" dirty="0"/>
          </a:p>
        </p:txBody>
      </p:sp>
      <p:sp>
        <p:nvSpPr>
          <p:cNvPr id="6" name="Text 4"/>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C6B7A"/>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7" name="Text 5"/>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2926080"/>
                <a:gridCol w="4297680"/>
                <a:gridCol w="405079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Need today</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What DockFlow gives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Warehouse staff</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Separate records for stock, orders and deliveries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One place for all three</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Clothing businesses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Wrong stock counts and delayed orders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Accurate stock and smoother orders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Customers: men, women, kids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Wrong items and unclear delivery status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Right clothes with clear status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r h="566928">
                <a:tc>
                  <a:txBody>
                    <a:bodyPr/>
                    <a:lstStyle/>
                    <a:p>
                      <a:pPr indent="0" marL="0">
                        <a:buNone/>
                      </a:pPr>
                      <a:r>
                        <a:rPr lang="en-US" sz="1300" b="1" dirty="0">
                          <a:solidFill>
                            <a:srgbClr val="1B2A41"/>
                          </a:solidFill>
                          <a:latin typeface="Calibri" pitchFamily="34" charset="0"/>
                          <a:ea typeface="Calibri" pitchFamily="34" charset="-122"/>
                          <a:cs typeface="Calibri" pitchFamily="34" charset="-120"/>
                        </a:rPr>
                        <a:t>Delivery partners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Little shipment information shared</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Clear shipment updates between services</a:t>
                      </a:r>
                      <a:endParaRPr lang="en-US" sz="1300" dirty="0">
                        <a:latin typeface="Calibri" charset="0"/>
                        <a:ea typeface="Calibri" charset="0"/>
                        <a:cs typeface="Calibri" charset="0"/>
                      </a:endParaRPr>
                    </a:p>
                  </a:txBody>
                  <a:tcPr marL="91440" marR="91440"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1DC"/>
                    </a:solidFill>
                  </a:tcPr>
                </a:tc>
              </a:tr>
            </a:tbl>
          </a:graphicData>
        </a:graphic>
      </p:graphicFrame>
      <p:sp>
        <p:nvSpPr>
          <p:cNvPr id="10" name="Shape 6"/>
          <p:cNvSpPr/>
          <p:nvPr/>
        </p:nvSpPr>
        <p:spPr>
          <a:xfrm>
            <a:off x="457200" y="4572000"/>
            <a:ext cx="3630168" cy="1645920"/>
          </a:xfrm>
          <a:prstGeom prst="roundRect">
            <a:avLst>
              <a:gd name="adj" fmla="val 5556"/>
            </a:avLst>
          </a:prstGeom>
          <a:solidFill>
            <a:srgbClr val="1B2A41"/>
          </a:solidFill>
          <a:ln w="12700">
            <a:solidFill>
              <a:srgbClr val="1B2A41"/>
            </a:solidFill>
            <a:prstDash val="solid"/>
          </a:ln>
        </p:spPr>
      </p:sp>
      <p:sp>
        <p:nvSpPr>
          <p:cNvPr id="11" name="Text 7"/>
          <p:cNvSpPr txBox="1"/>
          <p:nvPr/>
        </p:nvSpPr>
        <p:spPr>
          <a:xfrm>
            <a:off x="685800" y="4572000"/>
            <a:ext cx="3200400" cy="1645920"/>
          </a:xfrm>
          <a:prstGeom prst="rect">
            <a:avLst/>
          </a:prstGeom>
          <a:noFill/>
          <a:ln/>
        </p:spPr>
        <p:txBody>
          <a:bodyPr wrap="square" lIns="0" tIns="0" rIns="0" bIns="0" rtlCol="0" anchor="ctr"/>
          <a:lstStyle/>
          <a:p>
            <a:pPr indent="0" marL="0">
              <a:buNone/>
            </a:pPr>
            <a:r>
              <a:rPr lang="en-US" sz="2000" b="1" dirty="0">
                <a:solidFill>
                  <a:srgbClr val="F2A541"/>
                </a:solidFill>
                <a:latin typeface="Calibri" pitchFamily="34" charset="0"/>
                <a:ea typeface="Calibri" pitchFamily="34" charset="-122"/>
                <a:cs typeface="Calibri" pitchFamily="34" charset="-120"/>
              </a:rPr>
              <a:t>SDG 9</a:t>
            </a:r>
            <a:endParaRPr lang="en-US" sz="2000" dirty="0"/>
          </a:p>
          <a:p>
            <a:pPr indent="0" marL="0">
              <a:buNone/>
            </a:pPr>
            <a:r>
              <a:rPr lang="en-US" sz="1300" b="1" dirty="0">
                <a:solidFill>
                  <a:srgbClr val="FFFFFF"/>
                </a:solidFill>
                <a:latin typeface="Calibri" pitchFamily="34" charset="0"/>
                <a:ea typeface="Calibri" pitchFamily="34" charset="-122"/>
                <a:cs typeface="Calibri" pitchFamily="34" charset="-120"/>
              </a:rPr>
              <a:t>Industry, Innovation &amp; Infrastructure</a:t>
            </a:r>
            <a:endParaRPr lang="en-US" sz="2000" dirty="0"/>
          </a:p>
          <a:p>
            <a:pPr indent="0" marL="0">
              <a:buNone/>
            </a:pPr>
            <a:r>
              <a:rPr lang="en-US" sz="1200" dirty="0">
                <a:solidFill>
                  <a:srgbClr val="9FB2C4"/>
                </a:solidFill>
                <a:latin typeface="Calibri" pitchFamily="34" charset="0"/>
                <a:ea typeface="Calibri" pitchFamily="34" charset="-122"/>
                <a:cs typeface="Calibri" pitchFamily="34" charset="-120"/>
              </a:rPr>
              <a:t>Modern database tools for small logistics</a:t>
            </a:r>
            <a:endParaRPr lang="en-US" sz="2000" dirty="0"/>
          </a:p>
        </p:txBody>
      </p:sp>
      <p:sp>
        <p:nvSpPr>
          <p:cNvPr id="12" name="Shape 8"/>
          <p:cNvSpPr/>
          <p:nvPr/>
        </p:nvSpPr>
        <p:spPr>
          <a:xfrm>
            <a:off x="4279392" y="4572000"/>
            <a:ext cx="3630168" cy="1645920"/>
          </a:xfrm>
          <a:prstGeom prst="roundRect">
            <a:avLst>
              <a:gd name="adj" fmla="val 5556"/>
            </a:avLst>
          </a:prstGeom>
          <a:solidFill>
            <a:srgbClr val="1B2A41"/>
          </a:solidFill>
          <a:ln w="12700">
            <a:solidFill>
              <a:srgbClr val="1B2A41"/>
            </a:solidFill>
            <a:prstDash val="solid"/>
          </a:ln>
        </p:spPr>
      </p:sp>
      <p:sp>
        <p:nvSpPr>
          <p:cNvPr id="13" name="Text 9"/>
          <p:cNvSpPr txBox="1"/>
          <p:nvPr/>
        </p:nvSpPr>
        <p:spPr>
          <a:xfrm>
            <a:off x="4507992" y="4572000"/>
            <a:ext cx="3200400" cy="1645920"/>
          </a:xfrm>
          <a:prstGeom prst="rect">
            <a:avLst/>
          </a:prstGeom>
          <a:noFill/>
          <a:ln/>
        </p:spPr>
        <p:txBody>
          <a:bodyPr wrap="square" lIns="0" tIns="0" rIns="0" bIns="0" rtlCol="0" anchor="ctr"/>
          <a:lstStyle/>
          <a:p>
            <a:pPr indent="0" marL="0">
              <a:buNone/>
            </a:pPr>
            <a:r>
              <a:rPr lang="en-US" sz="2000" b="1" dirty="0">
                <a:solidFill>
                  <a:srgbClr val="F2A541"/>
                </a:solidFill>
                <a:latin typeface="Calibri" pitchFamily="34" charset="0"/>
                <a:ea typeface="Calibri" pitchFamily="34" charset="-122"/>
                <a:cs typeface="Calibri" pitchFamily="34" charset="-120"/>
              </a:rPr>
              <a:t>SDG 12</a:t>
            </a:r>
            <a:endParaRPr lang="en-US" sz="2000" dirty="0"/>
          </a:p>
          <a:p>
            <a:pPr indent="0" marL="0">
              <a:buNone/>
            </a:pPr>
            <a:r>
              <a:rPr lang="en-US" sz="1300" b="1" dirty="0">
                <a:solidFill>
                  <a:srgbClr val="FFFFFF"/>
                </a:solidFill>
                <a:latin typeface="Calibri" pitchFamily="34" charset="0"/>
                <a:ea typeface="Calibri" pitchFamily="34" charset="-122"/>
                <a:cs typeface="Calibri" pitchFamily="34" charset="-120"/>
              </a:rPr>
              <a:t>Responsible Consumption &amp; Production</a:t>
            </a:r>
            <a:endParaRPr lang="en-US" sz="2000" dirty="0"/>
          </a:p>
          <a:p>
            <a:pPr indent="0" marL="0">
              <a:buNone/>
            </a:pPr>
            <a:r>
              <a:rPr lang="en-US" sz="1200" dirty="0">
                <a:solidFill>
                  <a:srgbClr val="9FB2C4"/>
                </a:solidFill>
                <a:latin typeface="Calibri" pitchFamily="34" charset="0"/>
                <a:ea typeface="Calibri" pitchFamily="34" charset="-122"/>
                <a:cs typeface="Calibri" pitchFamily="34" charset="-120"/>
              </a:rPr>
              <a:t>Fewer wrong, lost or surplus items</a:t>
            </a:r>
            <a:endParaRPr lang="en-US" sz="2000" dirty="0"/>
          </a:p>
        </p:txBody>
      </p:sp>
      <p:sp>
        <p:nvSpPr>
          <p:cNvPr id="14" name="Shape 10"/>
          <p:cNvSpPr/>
          <p:nvPr/>
        </p:nvSpPr>
        <p:spPr>
          <a:xfrm>
            <a:off x="8101584" y="4572000"/>
            <a:ext cx="3630168" cy="1645920"/>
          </a:xfrm>
          <a:prstGeom prst="roundRect">
            <a:avLst>
              <a:gd name="adj" fmla="val 5556"/>
            </a:avLst>
          </a:prstGeom>
          <a:solidFill>
            <a:srgbClr val="1B2A41"/>
          </a:solidFill>
          <a:ln w="12700">
            <a:solidFill>
              <a:srgbClr val="1B2A41"/>
            </a:solidFill>
            <a:prstDash val="solid"/>
          </a:ln>
        </p:spPr>
      </p:sp>
      <p:sp>
        <p:nvSpPr>
          <p:cNvPr id="15" name="Text 11"/>
          <p:cNvSpPr txBox="1"/>
          <p:nvPr/>
        </p:nvSpPr>
        <p:spPr>
          <a:xfrm>
            <a:off x="8330184" y="4572000"/>
            <a:ext cx="3200400" cy="1645920"/>
          </a:xfrm>
          <a:prstGeom prst="rect">
            <a:avLst/>
          </a:prstGeom>
          <a:noFill/>
          <a:ln/>
        </p:spPr>
        <p:txBody>
          <a:bodyPr wrap="square" lIns="0" tIns="0" rIns="0" bIns="0" rtlCol="0" anchor="ctr"/>
          <a:lstStyle/>
          <a:p>
            <a:pPr indent="0" marL="0">
              <a:buNone/>
            </a:pPr>
            <a:r>
              <a:rPr lang="en-US" sz="2000" b="1" dirty="0">
                <a:solidFill>
                  <a:srgbClr val="F2A541"/>
                </a:solidFill>
                <a:latin typeface="Calibri" pitchFamily="34" charset="0"/>
                <a:ea typeface="Calibri" pitchFamily="34" charset="-122"/>
                <a:cs typeface="Calibri" pitchFamily="34" charset="-120"/>
              </a:rPr>
              <a:t>SDG 8</a:t>
            </a:r>
            <a:endParaRPr lang="en-US" sz="2000" dirty="0"/>
          </a:p>
          <a:p>
            <a:pPr indent="0" marL="0">
              <a:buNone/>
            </a:pPr>
            <a:r>
              <a:rPr lang="en-US" sz="1300" b="1" dirty="0">
                <a:solidFill>
                  <a:srgbClr val="FFFFFF"/>
                </a:solidFill>
                <a:latin typeface="Calibri" pitchFamily="34" charset="0"/>
                <a:ea typeface="Calibri" pitchFamily="34" charset="-122"/>
                <a:cs typeface="Calibri" pitchFamily="34" charset="-120"/>
              </a:rPr>
              <a:t>Decent Work &amp; Economic Growth</a:t>
            </a:r>
            <a:endParaRPr lang="en-US" sz="2000" dirty="0"/>
          </a:p>
          <a:p>
            <a:pPr indent="0" marL="0">
              <a:buNone/>
            </a:pPr>
            <a:r>
              <a:rPr lang="en-US" sz="1200" dirty="0">
                <a:solidFill>
                  <a:srgbClr val="9FB2C4"/>
                </a:solidFill>
                <a:latin typeface="Calibri" pitchFamily="34" charset="0"/>
                <a:ea typeface="Calibri" pitchFamily="34" charset="-122"/>
                <a:cs typeface="Calibri" pitchFamily="34" charset="-120"/>
              </a:rPr>
              <a:t>Less re-entry, more time for real work</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457200"/>
            <a:ext cx="8229600" cy="274320"/>
          </a:xfrm>
          <a:prstGeom prst="rect">
            <a:avLst/>
          </a:prstGeom>
          <a:noFill/>
          <a:ln/>
        </p:spPr>
        <p:txBody>
          <a:bodyPr wrap="square" lIns="0" tIns="0" rIns="0" bIns="0" rtlCol="0" anchor="ctr"/>
          <a:lstStyle/>
          <a:p>
            <a:pPr indent="0" marL="0">
              <a:buNone/>
            </a:pPr>
            <a:r>
              <a:rPr lang="en-US" sz="1100" b="1" spc="300" kern="0" dirty="0">
                <a:solidFill>
                  <a:srgbClr val="F2A541"/>
                </a:solidFill>
                <a:latin typeface="Calibri" pitchFamily="34" charset="0"/>
                <a:ea typeface="Calibri" pitchFamily="34" charset="-122"/>
                <a:cs typeface="Calibri" pitchFamily="34" charset="-120"/>
              </a:rPr>
              <a:t>CRITERION 5  ·  PRESENTATION SKILLS</a:t>
            </a:r>
            <a:endParaRPr lang="en-US" sz="1100" dirty="0"/>
          </a:p>
        </p:txBody>
      </p:sp>
      <p:sp>
        <p:nvSpPr>
          <p:cNvPr id="3" name="Text 1"/>
          <p:cNvSpPr txBox="1"/>
          <p:nvPr/>
        </p:nvSpPr>
        <p:spPr>
          <a:xfrm>
            <a:off x="731520" y="82296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Summary: DockFlow Review 4</a:t>
            </a:r>
            <a:endParaRPr lang="en-US" sz="3000" dirty="0"/>
          </a:p>
        </p:txBody>
      </p:sp>
      <p:sp>
        <p:nvSpPr>
          <p:cNvPr id="4" name="Shape 2"/>
          <p:cNvSpPr/>
          <p:nvPr/>
        </p:nvSpPr>
        <p:spPr>
          <a:xfrm>
            <a:off x="731520" y="1828800"/>
            <a:ext cx="2542032" cy="2194560"/>
          </a:xfrm>
          <a:prstGeom prst="roundRect">
            <a:avLst>
              <a:gd name="adj" fmla="val 4167"/>
            </a:avLst>
          </a:prstGeom>
          <a:solidFill>
            <a:srgbClr val="3E5C76"/>
          </a:solidFill>
          <a:ln w="12700">
            <a:solidFill>
              <a:srgbClr val="3E5C76"/>
            </a:solidFill>
            <a:prstDash val="solid"/>
          </a:ln>
        </p:spPr>
      </p:sp>
      <p:sp>
        <p:nvSpPr>
          <p:cNvPr id="5" name="Text 3"/>
          <p:cNvSpPr txBox="1"/>
          <p:nvPr/>
        </p:nvSpPr>
        <p:spPr>
          <a:xfrm>
            <a:off x="914400" y="1828800"/>
            <a:ext cx="2194560" cy="2194560"/>
          </a:xfrm>
          <a:prstGeom prst="rect">
            <a:avLst/>
          </a:prstGeom>
          <a:noFill/>
          <a:ln/>
        </p:spPr>
        <p:txBody>
          <a:bodyPr wrap="square" lIns="0" tIns="0" rIns="0" bIns="0" rtlCol="0" anchor="ctr"/>
          <a:lstStyle/>
          <a:p>
            <a:pPr indent="0" marL="0">
              <a:buNone/>
            </a:pPr>
            <a:r>
              <a:rPr lang="en-US" sz="1700" b="1" dirty="0">
                <a:solidFill>
                  <a:srgbClr val="F2A541"/>
                </a:solidFill>
                <a:latin typeface="Calibri" pitchFamily="34" charset="0"/>
                <a:ea typeface="Calibri" pitchFamily="34" charset="-122"/>
                <a:cs typeface="Calibri" pitchFamily="34" charset="-120"/>
              </a:rPr>
              <a:t>Accurate</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Five checks with known test data; results against targets.</a:t>
            </a:r>
            <a:endParaRPr lang="en-US" sz="1700" dirty="0"/>
          </a:p>
        </p:txBody>
      </p:sp>
      <p:sp>
        <p:nvSpPr>
          <p:cNvPr id="6" name="Shape 4"/>
          <p:cNvSpPr/>
          <p:nvPr/>
        </p:nvSpPr>
        <p:spPr>
          <a:xfrm>
            <a:off x="3456432" y="1828800"/>
            <a:ext cx="2542032" cy="2194560"/>
          </a:xfrm>
          <a:prstGeom prst="roundRect">
            <a:avLst>
              <a:gd name="adj" fmla="val 4167"/>
            </a:avLst>
          </a:prstGeom>
          <a:solidFill>
            <a:srgbClr val="3E5C76"/>
          </a:solidFill>
          <a:ln w="12700">
            <a:solidFill>
              <a:srgbClr val="3E5C76"/>
            </a:solidFill>
            <a:prstDash val="solid"/>
          </a:ln>
        </p:spPr>
      </p:sp>
      <p:sp>
        <p:nvSpPr>
          <p:cNvPr id="7" name="Text 5"/>
          <p:cNvSpPr txBox="1"/>
          <p:nvPr/>
        </p:nvSpPr>
        <p:spPr>
          <a:xfrm>
            <a:off x="3639312" y="1828800"/>
            <a:ext cx="2194560" cy="2194560"/>
          </a:xfrm>
          <a:prstGeom prst="rect">
            <a:avLst/>
          </a:prstGeom>
          <a:noFill/>
          <a:ln/>
        </p:spPr>
        <p:txBody>
          <a:bodyPr wrap="square" lIns="0" tIns="0" rIns="0" bIns="0" rtlCol="0" anchor="ctr"/>
          <a:lstStyle/>
          <a:p>
            <a:pPr indent="0" marL="0">
              <a:buNone/>
            </a:pPr>
            <a:r>
              <a:rPr lang="en-US" sz="1700" b="1" dirty="0">
                <a:solidFill>
                  <a:srgbClr val="F2A541"/>
                </a:solidFill>
                <a:latin typeface="Calibri" pitchFamily="34" charset="0"/>
                <a:ea typeface="Calibri" pitchFamily="34" charset="-122"/>
                <a:cs typeface="Calibri" pitchFamily="34" charset="-120"/>
              </a:rPr>
              <a:t>Technically sound</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MySQL, MongoDB and Kafka, each with one narrow job.</a:t>
            </a:r>
            <a:endParaRPr lang="en-US" sz="1700" dirty="0"/>
          </a:p>
        </p:txBody>
      </p:sp>
      <p:sp>
        <p:nvSpPr>
          <p:cNvPr id="8" name="Shape 6"/>
          <p:cNvSpPr/>
          <p:nvPr/>
        </p:nvSpPr>
        <p:spPr>
          <a:xfrm>
            <a:off x="6181344" y="1828800"/>
            <a:ext cx="2542032" cy="2194560"/>
          </a:xfrm>
          <a:prstGeom prst="roundRect">
            <a:avLst>
              <a:gd name="adj" fmla="val 4167"/>
            </a:avLst>
          </a:prstGeom>
          <a:solidFill>
            <a:srgbClr val="3E5C76"/>
          </a:solidFill>
          <a:ln w="12700">
            <a:solidFill>
              <a:srgbClr val="3E5C76"/>
            </a:solidFill>
            <a:prstDash val="solid"/>
          </a:ln>
        </p:spPr>
      </p:sp>
      <p:sp>
        <p:nvSpPr>
          <p:cNvPr id="9" name="Text 7"/>
          <p:cNvSpPr txBox="1"/>
          <p:nvPr/>
        </p:nvSpPr>
        <p:spPr>
          <a:xfrm>
            <a:off x="6364224" y="1828800"/>
            <a:ext cx="2194560" cy="2194560"/>
          </a:xfrm>
          <a:prstGeom prst="rect">
            <a:avLst/>
          </a:prstGeom>
          <a:noFill/>
          <a:ln/>
        </p:spPr>
        <p:txBody>
          <a:bodyPr wrap="square" lIns="0" tIns="0" rIns="0" bIns="0" rtlCol="0" anchor="ctr"/>
          <a:lstStyle/>
          <a:p>
            <a:pPr indent="0" marL="0">
              <a:buNone/>
            </a:pPr>
            <a:r>
              <a:rPr lang="en-US" sz="1700" b="1" dirty="0">
                <a:solidFill>
                  <a:srgbClr val="F2A541"/>
                </a:solidFill>
                <a:latin typeface="Calibri" pitchFamily="34" charset="0"/>
                <a:ea typeface="Calibri" pitchFamily="34" charset="-122"/>
                <a:cs typeface="Calibri" pitchFamily="34" charset="-120"/>
              </a:rPr>
              <a:t>Innovative &amp; sustainable</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Right store per job; open-source; adapts locally.</a:t>
            </a:r>
            <a:endParaRPr lang="en-US" sz="1700" dirty="0"/>
          </a:p>
        </p:txBody>
      </p:sp>
      <p:sp>
        <p:nvSpPr>
          <p:cNvPr id="10" name="Shape 8"/>
          <p:cNvSpPr/>
          <p:nvPr/>
        </p:nvSpPr>
        <p:spPr>
          <a:xfrm>
            <a:off x="8906256" y="1828800"/>
            <a:ext cx="2542032" cy="2194560"/>
          </a:xfrm>
          <a:prstGeom prst="roundRect">
            <a:avLst>
              <a:gd name="adj" fmla="val 4167"/>
            </a:avLst>
          </a:prstGeom>
          <a:solidFill>
            <a:srgbClr val="3E5C76"/>
          </a:solidFill>
          <a:ln w="12700">
            <a:solidFill>
              <a:srgbClr val="3E5C76"/>
            </a:solidFill>
            <a:prstDash val="solid"/>
          </a:ln>
        </p:spPr>
      </p:sp>
      <p:sp>
        <p:nvSpPr>
          <p:cNvPr id="11" name="Text 9"/>
          <p:cNvSpPr txBox="1"/>
          <p:nvPr/>
        </p:nvSpPr>
        <p:spPr>
          <a:xfrm>
            <a:off x="9089136" y="1828800"/>
            <a:ext cx="2194560" cy="2194560"/>
          </a:xfrm>
          <a:prstGeom prst="rect">
            <a:avLst/>
          </a:prstGeom>
          <a:noFill/>
          <a:ln/>
        </p:spPr>
        <p:txBody>
          <a:bodyPr wrap="square" lIns="0" tIns="0" rIns="0" bIns="0" rtlCol="0" anchor="ctr"/>
          <a:lstStyle/>
          <a:p>
            <a:pPr indent="0" marL="0">
              <a:buNone/>
            </a:pPr>
            <a:r>
              <a:rPr lang="en-US" sz="1700" b="1" dirty="0">
                <a:solidFill>
                  <a:srgbClr val="F2A541"/>
                </a:solidFill>
                <a:latin typeface="Calibri" pitchFamily="34" charset="0"/>
                <a:ea typeface="Calibri" pitchFamily="34" charset="-122"/>
                <a:cs typeface="Calibri" pitchFamily="34" charset="-120"/>
              </a:rPr>
              <a:t>Useful to society</a:t>
            </a:r>
            <a:endParaRPr lang="en-US" sz="1700" dirty="0"/>
          </a:p>
          <a:p>
            <a:pPr indent="0" marL="0">
              <a:buNone/>
            </a:pPr>
            <a:r>
              <a:rPr lang="en-US" sz="1300" dirty="0">
                <a:solidFill>
                  <a:srgbClr val="FFFFFF"/>
                </a:solidFill>
                <a:latin typeface="Calibri" pitchFamily="34" charset="0"/>
                <a:ea typeface="Calibri" pitchFamily="34" charset="-122"/>
                <a:cs typeface="Calibri" pitchFamily="34" charset="-120"/>
              </a:rPr>
              <a:t>Helps four groups; supports SDGs 9, 12 and 8.</a:t>
            </a:r>
            <a:endParaRPr lang="en-US" sz="1700" dirty="0"/>
          </a:p>
        </p:txBody>
      </p:sp>
      <p:sp>
        <p:nvSpPr>
          <p:cNvPr id="12" name="Text 10"/>
          <p:cNvSpPr txBox="1"/>
          <p:nvPr/>
        </p:nvSpPr>
        <p:spPr>
          <a:xfrm>
            <a:off x="731520" y="448056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13" name="Text 11"/>
          <p:cNvSpPr txBox="1"/>
          <p:nvPr/>
        </p:nvSpPr>
        <p:spPr>
          <a:xfrm>
            <a:off x="731520" y="5212080"/>
            <a:ext cx="9144000" cy="914400"/>
          </a:xfrm>
          <a:prstGeom prst="rect">
            <a:avLst/>
          </a:prstGeom>
          <a:noFill/>
          <a:ln/>
        </p:spPr>
        <p:txBody>
          <a:bodyPr wrap="square" lIns="0" tIns="0" rIns="0" bIns="0" rtlCol="0" anchor="ctr"/>
          <a:lstStyle/>
          <a:p>
            <a:pPr indent="0" marL="0">
              <a:buNone/>
            </a:pPr>
            <a:r>
              <a:rPr lang="en-US" sz="1400" dirty="0">
                <a:solidFill>
                  <a:srgbClr val="9FB2C4"/>
                </a:solidFill>
                <a:latin typeface="Calibri" pitchFamily="34" charset="0"/>
                <a:ea typeface="Calibri" pitchFamily="34" charset="-122"/>
                <a:cs typeface="Calibri" pitchFamily="34" charset="-120"/>
              </a:rPr>
              <a:t>U. Sindhuja  •  P. Bhagya Sri  •  S. Rishitha Reddy</a:t>
            </a:r>
            <a:endParaRPr lang="en-US" sz="1400" dirty="0"/>
          </a:p>
          <a:p>
            <a:pPr indent="0" marL="0">
              <a:buNone/>
            </a:pPr>
            <a:r>
              <a:rPr lang="en-US" sz="1400" dirty="0">
                <a:solidFill>
                  <a:srgbClr val="9FB2C4"/>
                </a:solidFill>
                <a:latin typeface="Calibri" pitchFamily="34" charset="0"/>
                <a:ea typeface="Calibri" pitchFamily="34" charset="-122"/>
                <a:cs typeface="Calibri" pitchFamily="34" charset="-120"/>
              </a:rPr>
              <a:t>Team No-14  |  Guided by Dr. M. Gayatri</a:t>
            </a:r>
            <a:endParaRPr lang="en-US" sz="1400" dirty="0"/>
          </a:p>
          <a:p>
            <a:pPr indent="0" marL="0">
              <a:buNone/>
            </a:pPr>
            <a:r>
              <a:rPr lang="en-US" sz="1400" dirty="0">
                <a:solidFill>
                  <a:srgbClr val="9FB2C4"/>
                </a:solidFill>
                <a:latin typeface="Calibri" pitchFamily="34" charset="0"/>
                <a:ea typeface="Calibri" pitchFamily="34" charset="-122"/>
                <a:cs typeface="Calibri" pitchFamily="34" charset="-120"/>
              </a:rPr>
              <a:t>We are happy to take your questions.</a:t>
            </a:r>
            <a:endParaRPr lang="en-US" sz="1400" dirty="0"/>
          </a:p>
        </p:txBody>
      </p:sp>
      <p:sp>
        <p:nvSpPr>
          <p:cNvPr id="14" name="Text 12"/>
          <p:cNvSpPr txBox="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9FB2C4"/>
                </a:solidFill>
                <a:latin typeface="Calibri" pitchFamily="34" charset="0"/>
                <a:ea typeface="Calibri" pitchFamily="34" charset="-122"/>
                <a:cs typeface="Calibri" pitchFamily="34" charset="-120"/>
              </a:rPr>
              <a:t>DockFlow  |  Sec No-13, Team No-14  |  Database Systems Engineering  |  Review 4: Results and Impact</a:t>
            </a:r>
            <a:endParaRPr lang="en-US" sz="1000" dirty="0"/>
          </a:p>
        </p:txBody>
      </p:sp>
      <p:sp>
        <p:nvSpPr>
          <p:cNvPr id="15" name="Text 13"/>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5C6B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DockFlow Review 4</dc:title>
  <dc:subject>PptxGenJS Presentation</dc:subject>
  <dc:creator>PptxGenJS</dc:creator>
  <cp:lastModifiedBy>PptxGenJS</cp:lastModifiedBy>
  <cp:revision>1</cp:revision>
  <dcterms:created xsi:type="dcterms:W3CDTF">2026-10-02T16:34:22Z</dcterms:created>
  <dcterms:modified xsi:type="dcterms:W3CDTF">2026-10-02T16:34:22Z</dcterms:modified>
</cp:coreProperties>
</file>