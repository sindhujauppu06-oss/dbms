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c3fc8f9-809d-ad10-55b8-fa34c90557b0}">
          <p14:sldIdLst>
            <p14:sldId id="256"/>
            <p14:sldId id="257"/>
          </p14:sldIdLst>
        </p14:section>
        <p14:section name="Criterion 1 - Relevance" id="{2d24a36f-2a04-bc63-7f3f-86aacd4611bb}">
          <p14:sldIdLst>
            <p14:sldId id="258"/>
            <p14:sldId id="259"/>
          </p14:sldIdLst>
        </p14:section>
        <p14:section name="Criterion 2 - Depth" id="{83574736-2c91-8f3b-9a37-92b237902319}">
          <p14:sldIdLst>
            <p14:sldId id="260"/>
            <p14:sldId id="261"/>
            <p14:sldId id="262"/>
          </p14:sldIdLst>
        </p14:section>
        <p14:section name="Criterion 3 - Critical Analysis" id="{c6a41f74-d709-b5d2-e194-9927195c5194}">
          <p14:sldIdLst>
            <p14:sldId id="263"/>
            <p14:sldId id="264"/>
          </p14:sldIdLst>
        </p14:section>
        <p14:section name="Criterion 4 - Gap Analysis" id="{7b39e2b3-2855-1222-5d74-e4db369cb6e5}">
          <p14:sldIdLst>
            <p14:sldId id="265"/>
            <p14:sldId id="266"/>
          </p14:sldIdLst>
        </p14:section>
        <p14:section name="Criterion 5 - Presentation" id="{0e33ed0f-7235-48e4-2634-9e4c7f17cd5d}">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Sources reviewed per research area</a:t>
            </a:r>
          </a:p>
        </c:rich>
      </c:tx>
      <c:layout/>
      <c:overlay val="0"/>
    </c:title>
    <c:autoTitleDeleted val="0"/>
    <c:plotArea>
      <c:layout/>
      <c:barChart>
        <c:barDir val="col"/>
        <c:grouping val="clustered"/>
        <c:varyColors val="0"/>
        <c:ser>
          <c:idx val="0"/>
          <c:order val="0"/>
          <c:tx>
            <c:strRef>
              <c:f>Sheet1!$B$1</c:f>
              <c:strCache>
                <c:ptCount val="1"/>
                <c:pt idx="0">
                  <c:v>Sources</c:v>
                </c:pt>
              </c:strCache>
            </c:strRef>
          </c:tx>
          <c:spPr>
            <a:solidFill>
              <a:srgbClr val="F2A541"/>
            </a:solidFill>
            <a:effectLst/>
          </c:spPr>
          <c:invertIfNegative val="0"/>
          <c:dLbls>
            <c:numFmt formatCode="#,##0" sourceLinked="0"/>
            <c:txPr>
              <a:bodyPr/>
              <a:lstStyle/>
              <a:p>
                <a:pPr>
                  <a:defRPr b="1" i="0" strike="noStrike" sz="1400" u="none">
                    <a:solidFill>
                      <a:srgbClr val="1B2A41"/>
                    </a:solidFill>
                    <a:latin typeface="+mn-lt"/>
                  </a:defRPr>
                </a:pPr>
              </a:p>
            </c:txPr>
            <c:showLegendKey val="0"/>
            <c:showVal val="1"/>
            <c:showCatName val="0"/>
            <c:showSerName val="0"/>
            <c:showPercent val="0"/>
            <c:showBubbleSize val="0"/>
            <c:showLeaderLines val="0"/>
          </c:dLbls>
          <c:cat>
            <c:multiLvlStrRef>
              <c:f>Sheet1!$A$2:$A$5</c:f>
              <c:multiLvlStrCache>
                <c:ptCount val="4"/>
                <c:lvl>
                  <c:pt idx="0">
                    <c:v>Warehouse systems</c:v>
                  </c:pt>
                  <c:pt idx="1">
                    <c:v>SQL vs NoSQL</c:v>
                  </c:pt>
                  <c:pt idx="2">
                    <c:v>Polyglot persistence</c:v>
                  </c:pt>
                  <c:pt idx="3">
                    <c:v>Event streaming</c:v>
                  </c:pt>
                </c:lvl>
              </c:multiLvlStrCache>
            </c:multiLvlStrRef>
          </c:cat>
          <c:val>
            <c:numRef>
              <c:f>Sheet1!$B$2:$B$5</c:f>
              <c:numCache>
                <c:formatCode>General</c:formatCode>
                <c:ptCount val="4"/>
                <c:pt idx="0">
                  <c:v>2</c:v>
                </c:pt>
                <c:pt idx="1">
                  <c:v>2</c:v>
                </c:pt>
                <c:pt idx="2">
                  <c:v>3</c:v>
                </c:pt>
                <c:pt idx="3">
                  <c:v>1</c:v>
                </c:pt>
              </c:numCache>
            </c:numRef>
          </c:val>
        </c:ser>
        <c:dLbls>
          <c:numFmt formatCode="#,##0" sourceLinked="0"/>
          <c:txPr>
            <a:bodyPr/>
            <a:lstStyle/>
            <a:p>
              <a:pPr>
                <a:defRPr b="1" i="0" strike="noStrike" sz="1400" u="none">
                  <a:solidFill>
                    <a:srgbClr val="1B2A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9525" cap="flat">
              <a:solidFill>
                <a:srgbClr val="D8E1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our Review 2 for DockFlow. We reviewed eight sources across four research areas and will show how they relate to our project, what they say, how we judge them, and what gaps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our slides to the five criteria in the Review 2 marking scheme. Sources are cited as numbers in square brackets; the full list is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in our title leads to a research area. Clothing warehouse leads to warehouse management systems. Management system with MySQL and MongoDB leads to SQL versus NoSQL and polyglot persistence. Delivery updates and shipment events lead to event streaming with Kafka.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why each source is relevant. Warehouse sources give the context, the database sources support our choice of MySQL and MongoDB, and the Kafka paper supports our event-based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eight sources across four areas, from 2011 to 2026. Five are journal or conference papers and three are preprints or a thesis. Event streaming has the fewest sources, which is a limit of our review that we plan to widen.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warehouse sources. Redzeb reviews modern warehouse methods, mainly IoT and RFID. Persson reviews how warehouse management systems help logistics. Right column: the two database comparisons. Future Internet 2026 shows that the best database depends on the workload. The 2020 preprint compares basic operations and favours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sources support our architecture. The polyglot persistence papers explain why different services can use different databases and what it costs. The Kafka paper introduces the messaging system we use for shipment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source we note one strength and one limit for our project. The Kafka paper is strong but built for logs. The 2020 comparison reports only speed. The 2026 benchmark is careful but single-node.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the sources together gives four themes. Our design choice follows them: pick the database for the workload, accept the cost of using more than one, keep each tool's job narrow, and connect services with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gaps we found in the sources we reviewed. Gaps one to three are addressed by our design. Gap four, evidence on trade-offs, is honestly not yet addressed and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contribution is applied integration: bringing four separately studied topics into one working system. We do not claim a performance benchmark or real GPS. The next steps on the right are our suggestions for continuing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references, numbered to match the citations on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literature review is relevant to the title, reasonably deep, critical about each source, and clear about the gaps DockFlow addresses.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143000"/>
          </a:xfrm>
          <a:prstGeom prst="rect">
            <a:avLst/>
          </a:prstGeom>
          <a:noFill/>
          <a:ln/>
        </p:spPr>
        <p:txBody>
          <a:bodyPr wrap="square" rtlCol="0"/>
          <a:lstStyle>
            <a:lvl1pPr algn="l" indent="0" marL="0">
              <a:buNone/>
              <a:defRPr lang="en-US" sz="6200" b="1" dirty="0">
                <a:solidFill>
                  <a:schemeClr val="bg1"/>
                </a:solidFill>
              </a:defRPr>
            </a:lvl1pPr>
          </a:lstStyle>
          <a:p>
            <a:pPr algn="l" indent="0" marL="0">
              <a:buNone/>
            </a:pPr>
            <a:endParaRPr lang="en-US" sz="6200" dirty="0"/>
          </a:p>
        </p:txBody>
      </p:sp>
      <p:sp>
        <p:nvSpPr>
          <p:cNvPr id="3" name="Text 0"/>
          <p:cNvSpPr/>
          <p:nvPr>
            <p:ph idx="101" type="body" hasCustomPrompt="1"/>
          </p:nvPr>
        </p:nvSpPr>
        <p:spPr>
          <a:xfrm>
            <a:off x="731520" y="3017520"/>
            <a:ext cx="6583680" cy="822960"/>
          </a:xfrm>
          <a:prstGeom prst="rect">
            <a:avLst/>
          </a:prstGeom>
          <a:noFill/>
          <a:ln/>
        </p:spPr>
        <p:txBody>
          <a:bodyPr wrap="square" rtlCol="0"/>
          <a:lstStyle>
            <a:lvl1pPr algn="l" indent="0" marL="0">
              <a:buNone/>
              <a:defRPr lang="en-US" sz="2200" dirty="0">
                <a:solidFill>
                  <a:schemeClr val="accent4"/>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9436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DockFlow  |  Sec-13, Team-14  |  Database Systems Engineering  |  Review 2: Literature Review</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94360"/>
            <a:ext cx="110642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DockFlow  |  Sec-13, Team-14  |  Database Systems Engineering  |  Review 2: Literature Review</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280160"/>
            <a:ext cx="6858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DATABASE SYSTEMS ENGINEERING  |  REVIEW 2</a:t>
            </a:r>
            <a:endParaRPr lang="en-US" sz="1200" dirty="0"/>
          </a:p>
        </p:txBody>
      </p:sp>
      <p:sp>
        <p:nvSpPr>
          <p:cNvPr id="3" name="Text 0"/>
          <p:cNvSpPr/>
          <p:nvPr>
            <p:ph idx="100" type="title" hasCustomPrompt="1"/>
          </p:nvPr>
        </p:nvSpPr>
        <p:spPr>
          <a:xfrm>
            <a:off x="731520" y="1828800"/>
            <a:ext cx="6583680" cy="1143000"/>
          </a:xfrm>
          <a:prstGeom prst="rect">
            <a:avLst/>
          </a:prstGeom>
          <a:noFill/>
          <a:ln/>
        </p:spPr>
        <p:txBody>
          <a:bodyPr wrap="square" lIns="0" tIns="0" rIns="0" bIns="0" rtlCol="0" anchor="ctr"/>
          <a:lstStyle/>
          <a:p>
            <a:pPr algn="l" indent="0" marL="0">
              <a:buNone/>
            </a:pPr>
            <a:r>
              <a:rPr lang="en-US" sz="6200" b="1" dirty="0">
                <a:solidFill>
                  <a:schemeClr val="bg1"/>
                </a:solidFill>
              </a:rPr>
              <a:t>DockFlow</a:t>
            </a:r>
            <a:endParaRPr lang="en-US" sz="6200" dirty="0"/>
          </a:p>
        </p:txBody>
      </p:sp>
      <p:sp>
        <p:nvSpPr>
          <p:cNvPr id="4" name="Text 0"/>
          <p:cNvSpPr/>
          <p:nvPr>
            <p:ph idx="101" type="body" hasCustomPrompt="1"/>
          </p:nvPr>
        </p:nvSpPr>
        <p:spPr>
          <a:xfrm>
            <a:off x="731520" y="3017520"/>
            <a:ext cx="6583680" cy="822960"/>
          </a:xfrm>
          <a:prstGeom prst="rect">
            <a:avLst/>
          </a:prstGeom>
          <a:noFill/>
          <a:ln/>
        </p:spPr>
        <p:txBody>
          <a:bodyPr wrap="square" lIns="0" tIns="0" rIns="0" bIns="0" rtlCol="0" anchor="t"/>
          <a:lstStyle/>
          <a:p>
            <a:pPr algn="l" indent="0" marL="0">
              <a:buNone/>
            </a:pPr>
            <a:r>
              <a:rPr lang="en-US" sz="2200" dirty="0">
                <a:solidFill>
                  <a:schemeClr val="accent4"/>
                </a:solidFill>
              </a:rPr>
              <a:t>Literature Review</a:t>
            </a:r>
            <a:endParaRPr lang="en-US" sz="2200" dirty="0"/>
          </a:p>
        </p:txBody>
      </p:sp>
      <p:sp>
        <p:nvSpPr>
          <p:cNvPr id="5" name="Text 3"/>
          <p:cNvSpPr txBox="1"/>
          <p:nvPr/>
        </p:nvSpPr>
        <p:spPr>
          <a:xfrm>
            <a:off x="731520" y="3657600"/>
            <a:ext cx="6400800" cy="365760"/>
          </a:xfrm>
          <a:prstGeom prst="rect">
            <a:avLst/>
          </a:prstGeom>
          <a:noFill/>
          <a:ln/>
        </p:spPr>
        <p:txBody>
          <a:bodyPr wrap="square" lIns="0" tIns="0" rIns="0" bIns="0" rtlCol="0" anchor="ctr"/>
          <a:lstStyle/>
          <a:p>
            <a:pPr indent="0" marL="0">
              <a:buNone/>
            </a:pPr>
            <a:r>
              <a:rPr lang="en-US" sz="1600" i="1" dirty="0">
                <a:solidFill>
                  <a:schemeClr val="accent5"/>
                </a:solidFill>
              </a:rPr>
              <a:t>Clothing Warehouse &amp; Delivery Management System</a:t>
            </a:r>
            <a:endParaRPr lang="en-US" sz="1600" dirty="0"/>
          </a:p>
        </p:txBody>
      </p:sp>
      <p:sp>
        <p:nvSpPr>
          <p:cNvPr id="6" name="Text 4"/>
          <p:cNvSpPr txBox="1"/>
          <p:nvPr/>
        </p:nvSpPr>
        <p:spPr>
          <a:xfrm>
            <a:off x="731520" y="4846320"/>
            <a:ext cx="6858000" cy="1005840"/>
          </a:xfrm>
          <a:prstGeom prst="rect">
            <a:avLst/>
          </a:prstGeom>
          <a:noFill/>
          <a:ln/>
        </p:spPr>
        <p:txBody>
          <a:bodyPr wrap="square" lIns="0" tIns="0" rIns="0" bIns="0" rtlCol="0" anchor="ctr"/>
          <a:lstStyle/>
          <a:p>
            <a:pPr indent="0" marL="0">
              <a:spcAft>
                <a:spcPts val="400"/>
              </a:spcAft>
              <a:buNone/>
            </a:pPr>
            <a:r>
              <a:rPr lang="en-US" sz="1500" b="1" dirty="0">
                <a:solidFill>
                  <a:schemeClr val="bg1"/>
                </a:solidFill>
              </a:rPr>
              <a:t>Sec No-13  |  Team No-14</a:t>
            </a:r>
            <a:endParaRPr lang="en-US" sz="1500" dirty="0"/>
          </a:p>
          <a:p>
            <a:pPr indent="0" marL="0">
              <a:spcAft>
                <a:spcPts val="400"/>
              </a:spcAft>
              <a:buNone/>
            </a:pPr>
            <a:r>
              <a:rPr lang="en-US" sz="1400" dirty="0">
                <a:solidFill>
                  <a:schemeClr val="accent4"/>
                </a:solidFill>
              </a:rPr>
              <a:t>U. Sindhuja  •  P. Bhagya Sri  •  S. Rishitha Reddy</a:t>
            </a:r>
            <a:endParaRPr lang="en-US" sz="1500" dirty="0"/>
          </a:p>
          <a:p>
            <a:pPr indent="0" marL="0">
              <a:spcAft>
                <a:spcPts val="400"/>
              </a:spcAft>
              <a:buNone/>
            </a:pPr>
            <a:r>
              <a:rPr lang="en-US" sz="1200" dirty="0">
                <a:solidFill>
                  <a:schemeClr val="accent5"/>
                </a:solidFill>
              </a:rPr>
              <a:t>Guided by Dr. M. Gayatri  |  Koneru Lakshmaiah Education Foundation</a:t>
            </a:r>
            <a:endParaRPr lang="en-US" sz="1500" dirty="0"/>
          </a:p>
        </p:txBody>
      </p:sp>
      <p:sp>
        <p:nvSpPr>
          <p:cNvPr id="7" name="Tile 1"/>
          <p:cNvSpPr/>
          <p:nvPr/>
        </p:nvSpPr>
        <p:spPr>
          <a:xfrm>
            <a:off x="8138160" y="1371600"/>
            <a:ext cx="1371600" cy="1371600"/>
          </a:xfrm>
          <a:prstGeom prst="roundRect">
            <a:avLst>
              <a:gd name="adj" fmla="val 6667"/>
            </a:avLst>
          </a:prstGeom>
          <a:solidFill>
            <a:schemeClr val="tx2"/>
          </a:solidFill>
          <a:ln w="12700">
            <a:solidFill>
              <a:schemeClr val="tx2"/>
            </a:solidFill>
            <a:prstDash val="solid"/>
          </a:ln>
        </p:spPr>
      </p:sp>
      <p:pic>
        <p:nvPicPr>
          <p:cNvPr id="8" name="Image 0" descr="FaBookOpen">    </p:cNvPr>
          <p:cNvPicPr>
            <a:picLocks noChangeAspect="1"/>
          </p:cNvPicPr>
          <p:nvPr/>
        </p:nvPicPr>
        <p:blipFill>
          <a:blip r:embed="rId1"/>
          <a:stretch>
            <a:fillRect/>
          </a:stretch>
        </p:blipFill>
        <p:spPr>
          <a:xfrm>
            <a:off x="8549640" y="1783080"/>
            <a:ext cx="548640" cy="548640"/>
          </a:xfrm>
          <a:prstGeom prst="rect">
            <a:avLst/>
          </a:prstGeom>
        </p:spPr>
      </p:pic>
      <p:sp>
        <p:nvSpPr>
          <p:cNvPr id="9" name="Tile 2"/>
          <p:cNvSpPr/>
          <p:nvPr/>
        </p:nvSpPr>
        <p:spPr>
          <a:xfrm>
            <a:off x="9738360" y="1371600"/>
            <a:ext cx="1371600" cy="1371600"/>
          </a:xfrm>
          <a:prstGeom prst="roundRect">
            <a:avLst>
              <a:gd name="adj" fmla="val 6667"/>
            </a:avLst>
          </a:prstGeom>
          <a:solidFill>
            <a:schemeClr val="tx2"/>
          </a:solidFill>
          <a:ln w="12700">
            <a:solidFill>
              <a:schemeClr val="tx2"/>
            </a:solidFill>
            <a:prstDash val="solid"/>
          </a:ln>
        </p:spPr>
      </p:sp>
      <p:pic>
        <p:nvPicPr>
          <p:cNvPr id="10" name="Image 1" descr="FaWarehouse">    </p:cNvPr>
          <p:cNvPicPr>
            <a:picLocks noChangeAspect="1"/>
          </p:cNvPicPr>
          <p:nvPr/>
        </p:nvPicPr>
        <p:blipFill>
          <a:blip r:embed="rId2"/>
          <a:stretch>
            <a:fillRect/>
          </a:stretch>
        </p:blipFill>
        <p:spPr>
          <a:xfrm>
            <a:off x="10149840" y="1783080"/>
            <a:ext cx="548640" cy="548640"/>
          </a:xfrm>
          <a:prstGeom prst="rect">
            <a:avLst/>
          </a:prstGeom>
        </p:spPr>
      </p:pic>
      <p:sp>
        <p:nvSpPr>
          <p:cNvPr id="11" name="Tile 3"/>
          <p:cNvSpPr/>
          <p:nvPr/>
        </p:nvSpPr>
        <p:spPr>
          <a:xfrm>
            <a:off x="8138160" y="2971800"/>
            <a:ext cx="1371600" cy="1371600"/>
          </a:xfrm>
          <a:prstGeom prst="roundRect">
            <a:avLst>
              <a:gd name="adj" fmla="val 6667"/>
            </a:avLst>
          </a:prstGeom>
          <a:solidFill>
            <a:schemeClr val="tx2"/>
          </a:solidFill>
          <a:ln w="12700">
            <a:solidFill>
              <a:schemeClr val="tx2"/>
            </a:solidFill>
            <a:prstDash val="solid"/>
          </a:ln>
        </p:spPr>
      </p:sp>
      <p:pic>
        <p:nvPicPr>
          <p:cNvPr id="12" name="Image 2" descr="FaDatabase">    </p:cNvPr>
          <p:cNvPicPr>
            <a:picLocks noChangeAspect="1"/>
          </p:cNvPicPr>
          <p:nvPr/>
        </p:nvPicPr>
        <p:blipFill>
          <a:blip r:embed="rId3"/>
          <a:stretch>
            <a:fillRect/>
          </a:stretch>
        </p:blipFill>
        <p:spPr>
          <a:xfrm>
            <a:off x="8549640" y="3383280"/>
            <a:ext cx="548640" cy="548640"/>
          </a:xfrm>
          <a:prstGeom prst="rect">
            <a:avLst/>
          </a:prstGeom>
        </p:spPr>
      </p:pic>
      <p:sp>
        <p:nvSpPr>
          <p:cNvPr id="13" name="Tile 4"/>
          <p:cNvSpPr/>
          <p:nvPr/>
        </p:nvSpPr>
        <p:spPr>
          <a:xfrm>
            <a:off x="9738360" y="2971800"/>
            <a:ext cx="1371600" cy="1371600"/>
          </a:xfrm>
          <a:prstGeom prst="roundRect">
            <a:avLst>
              <a:gd name="adj" fmla="val 6667"/>
            </a:avLst>
          </a:prstGeom>
          <a:solidFill>
            <a:schemeClr val="tx2"/>
          </a:solidFill>
          <a:ln w="12700">
            <a:solidFill>
              <a:schemeClr val="tx2"/>
            </a:solidFill>
            <a:prstDash val="solid"/>
          </a:ln>
        </p:spPr>
      </p:sp>
      <p:pic>
        <p:nvPicPr>
          <p:cNvPr id="14" name="Image 3" descr="FaProjectDiagram">    </p:cNvPr>
          <p:cNvPicPr>
            <a:picLocks noChangeAspect="1"/>
          </p:cNvPicPr>
          <p:nvPr/>
        </p:nvPicPr>
        <p:blipFill>
          <a:blip r:embed="rId4"/>
          <a:stretch>
            <a:fillRect/>
          </a:stretch>
        </p:blipFill>
        <p:spPr>
          <a:xfrm>
            <a:off x="10149840" y="3383280"/>
            <a:ext cx="548640" cy="548640"/>
          </a:xfrm>
          <a:prstGeom prst="rect">
            <a:avLst/>
          </a:prstGeom>
        </p:spPr>
      </p:pic>
      <p:sp>
        <p:nvSpPr>
          <p:cNvPr id="15" name="Tile 5"/>
          <p:cNvSpPr/>
          <p:nvPr/>
        </p:nvSpPr>
        <p:spPr>
          <a:xfrm>
            <a:off x="8138160" y="4572000"/>
            <a:ext cx="1371600" cy="1371600"/>
          </a:xfrm>
          <a:prstGeom prst="roundRect">
            <a:avLst>
              <a:gd name="adj" fmla="val 6667"/>
            </a:avLst>
          </a:prstGeom>
          <a:solidFill>
            <a:schemeClr val="tx2"/>
          </a:solidFill>
          <a:ln w="12700">
            <a:solidFill>
              <a:schemeClr val="tx2"/>
            </a:solidFill>
            <a:prstDash val="solid"/>
          </a:ln>
        </p:spPr>
      </p:sp>
      <p:pic>
        <p:nvPicPr>
          <p:cNvPr id="16" name="Image 4" descr="FaStream">    </p:cNvPr>
          <p:cNvPicPr>
            <a:picLocks noChangeAspect="1"/>
          </p:cNvPicPr>
          <p:nvPr/>
        </p:nvPicPr>
        <p:blipFill>
          <a:blip r:embed="rId5"/>
          <a:stretch>
            <a:fillRect/>
          </a:stretch>
        </p:blipFill>
        <p:spPr>
          <a:xfrm>
            <a:off x="8549640" y="4983480"/>
            <a:ext cx="548640" cy="548640"/>
          </a:xfrm>
          <a:prstGeom prst="rect">
            <a:avLst/>
          </a:prstGeom>
        </p:spPr>
      </p:pic>
      <p:sp>
        <p:nvSpPr>
          <p:cNvPr id="17" name="Tile 6"/>
          <p:cNvSpPr/>
          <p:nvPr/>
        </p:nvSpPr>
        <p:spPr>
          <a:xfrm>
            <a:off x="9738360" y="4572000"/>
            <a:ext cx="1371600" cy="1371600"/>
          </a:xfrm>
          <a:prstGeom prst="roundRect">
            <a:avLst>
              <a:gd name="adj" fmla="val 6667"/>
            </a:avLst>
          </a:prstGeom>
          <a:solidFill>
            <a:schemeClr val="tx2"/>
          </a:solidFill>
          <a:ln w="12700">
            <a:solidFill>
              <a:schemeClr val="tx2"/>
            </a:solidFill>
            <a:prstDash val="solid"/>
          </a:ln>
        </p:spPr>
      </p:sp>
      <p:pic>
        <p:nvPicPr>
          <p:cNvPr id="18" name="Image 5" descr="FaSearch">    </p:cNvPr>
          <p:cNvPicPr>
            <a:picLocks noChangeAspect="1"/>
          </p:cNvPicPr>
          <p:nvPr/>
        </p:nvPicPr>
        <p:blipFill>
          <a:blip r:embed="rId6"/>
          <a:stretch>
            <a:fillRect/>
          </a:stretch>
        </p:blipFill>
        <p:spPr>
          <a:xfrm>
            <a:off x="10149840" y="498348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REVIEW 2  ·  PRESENTATION ROADMAP</a:t>
            </a:r>
            <a:endParaRPr lang="en-US" sz="1100" dirty="0"/>
          </a:p>
        </p:txBody>
      </p:sp>
      <p:sp>
        <p:nvSpPr>
          <p:cNvPr id="3"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How this review covers every criterion</a:t>
            </a:r>
            <a:endParaRPr lang="en-US" sz="3200" dirty="0"/>
          </a:p>
        </p:txBody>
      </p:sp>
      <p:sp>
        <p:nvSpPr>
          <p:cNvPr id="4" name="Criterion 1"/>
          <p:cNvSpPr/>
          <p:nvPr/>
        </p:nvSpPr>
        <p:spPr>
          <a:xfrm>
            <a:off x="54864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5" name="Relevance to Project Title circle"/>
          <p:cNvSpPr/>
          <p:nvPr/>
        </p:nvSpPr>
        <p:spPr>
          <a:xfrm>
            <a:off x="1188720" y="1828800"/>
            <a:ext cx="777240" cy="777240"/>
          </a:xfrm>
          <a:prstGeom prst="ellipse">
            <a:avLst/>
          </a:prstGeom>
          <a:solidFill>
            <a:schemeClr val="tx1"/>
          </a:solidFill>
          <a:ln w="12700">
            <a:solidFill>
              <a:schemeClr val="tx1"/>
            </a:solidFill>
            <a:prstDash val="solid"/>
          </a:ln>
        </p:spPr>
      </p:sp>
      <p:pic>
        <p:nvPicPr>
          <p:cNvPr id="6" name="Image 0" descr="Relevance to Project Title icon">    </p:cNvPr>
          <p:cNvPicPr>
            <a:picLocks noChangeAspect="1"/>
          </p:cNvPicPr>
          <p:nvPr/>
        </p:nvPicPr>
        <p:blipFill>
          <a:blip r:embed="rId1"/>
          <a:stretch>
            <a:fillRect/>
          </a:stretch>
        </p:blipFill>
        <p:spPr>
          <a:xfrm>
            <a:off x="1359713" y="1999793"/>
            <a:ext cx="435254" cy="435254"/>
          </a:xfrm>
          <a:prstGeom prst="rect">
            <a:avLst/>
          </a:prstGeom>
        </p:spPr>
      </p:pic>
      <p:sp>
        <p:nvSpPr>
          <p:cNvPr id="7" name="Text 4"/>
          <p:cNvSpPr txBox="1"/>
          <p:nvPr/>
        </p:nvSpPr>
        <p:spPr>
          <a:xfrm>
            <a:off x="685800" y="2743200"/>
            <a:ext cx="1783080" cy="777240"/>
          </a:xfrm>
          <a:prstGeom prst="rect">
            <a:avLst/>
          </a:prstGeom>
          <a:noFill/>
          <a:ln/>
        </p:spPr>
        <p:txBody>
          <a:bodyPr wrap="square" lIns="0" tIns="0" rIns="0" bIns="0" rtlCol="0" anchor="t"/>
          <a:lstStyle/>
          <a:p>
            <a:pPr algn="ctr" indent="0" marL="0">
              <a:buNone/>
            </a:pPr>
            <a:r>
              <a:rPr lang="en-US" sz="1500" b="1" dirty="0">
                <a:solidFill>
                  <a:schemeClr val="tx1"/>
                </a:solidFill>
              </a:rPr>
              <a:t>Relevance to Project Title</a:t>
            </a:r>
            <a:endParaRPr lang="en-US" sz="1500" dirty="0"/>
          </a:p>
        </p:txBody>
      </p:sp>
      <p:sp>
        <p:nvSpPr>
          <p:cNvPr id="8" name="Text 5"/>
          <p:cNvSpPr txBox="1"/>
          <p:nvPr/>
        </p:nvSpPr>
        <p:spPr>
          <a:xfrm>
            <a:off x="731520" y="352044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9" name="Text 6"/>
          <p:cNvSpPr txBox="1"/>
          <p:nvPr/>
        </p:nvSpPr>
        <p:spPr>
          <a:xfrm>
            <a:off x="731520" y="406908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10" name="Text 7"/>
          <p:cNvSpPr txBox="1"/>
          <p:nvPr/>
        </p:nvSpPr>
        <p:spPr>
          <a:xfrm>
            <a:off x="73152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3-4</a:t>
            </a:r>
            <a:endParaRPr lang="en-US" sz="1300" dirty="0"/>
          </a:p>
        </p:txBody>
      </p:sp>
      <p:sp>
        <p:nvSpPr>
          <p:cNvPr id="11" name="Text 8"/>
          <p:cNvSpPr txBox="1"/>
          <p:nvPr/>
        </p:nvSpPr>
        <p:spPr>
          <a:xfrm>
            <a:off x="73152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Four research areas linked to DockFlow</a:t>
            </a:r>
            <a:endParaRPr lang="en-US" sz="1100" dirty="0"/>
          </a:p>
        </p:txBody>
      </p:sp>
      <p:sp>
        <p:nvSpPr>
          <p:cNvPr id="12" name="Criterion 2"/>
          <p:cNvSpPr/>
          <p:nvPr/>
        </p:nvSpPr>
        <p:spPr>
          <a:xfrm>
            <a:off x="278892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3" name="Depth &amp; Quality of Literature Review circle"/>
          <p:cNvSpPr/>
          <p:nvPr/>
        </p:nvSpPr>
        <p:spPr>
          <a:xfrm>
            <a:off x="3429000" y="1828800"/>
            <a:ext cx="777240" cy="777240"/>
          </a:xfrm>
          <a:prstGeom prst="ellipse">
            <a:avLst/>
          </a:prstGeom>
          <a:solidFill>
            <a:schemeClr val="tx1"/>
          </a:solidFill>
          <a:ln w="12700">
            <a:solidFill>
              <a:schemeClr val="tx1"/>
            </a:solidFill>
            <a:prstDash val="solid"/>
          </a:ln>
        </p:spPr>
      </p:sp>
      <p:pic>
        <p:nvPicPr>
          <p:cNvPr id="14" name="Image 1" descr="Depth &amp; Quality of Literature Review icon">    </p:cNvPr>
          <p:cNvPicPr>
            <a:picLocks noChangeAspect="1"/>
          </p:cNvPicPr>
          <p:nvPr/>
        </p:nvPicPr>
        <p:blipFill>
          <a:blip r:embed="rId2"/>
          <a:stretch>
            <a:fillRect/>
          </a:stretch>
        </p:blipFill>
        <p:spPr>
          <a:xfrm>
            <a:off x="3599993" y="1999793"/>
            <a:ext cx="435254" cy="435254"/>
          </a:xfrm>
          <a:prstGeom prst="rect">
            <a:avLst/>
          </a:prstGeom>
        </p:spPr>
      </p:pic>
      <p:sp>
        <p:nvSpPr>
          <p:cNvPr id="15" name="Text 11"/>
          <p:cNvSpPr txBox="1"/>
          <p:nvPr/>
        </p:nvSpPr>
        <p:spPr>
          <a:xfrm>
            <a:off x="2926080" y="2743200"/>
            <a:ext cx="1783080" cy="777240"/>
          </a:xfrm>
          <a:prstGeom prst="rect">
            <a:avLst/>
          </a:prstGeom>
          <a:noFill/>
          <a:ln/>
        </p:spPr>
        <p:txBody>
          <a:bodyPr wrap="square" lIns="0" tIns="0" rIns="0" bIns="0" rtlCol="0" anchor="t"/>
          <a:lstStyle/>
          <a:p>
            <a:pPr algn="ctr" indent="0" marL="0">
              <a:buNone/>
            </a:pPr>
            <a:r>
              <a:rPr lang="en-US" sz="1500" b="1" dirty="0">
                <a:solidFill>
                  <a:schemeClr val="tx1"/>
                </a:solidFill>
              </a:rPr>
              <a:t>Depth &amp; Quality of Literature Review</a:t>
            </a:r>
            <a:endParaRPr lang="en-US" sz="1500" dirty="0"/>
          </a:p>
        </p:txBody>
      </p:sp>
      <p:sp>
        <p:nvSpPr>
          <p:cNvPr id="16" name="Text 12"/>
          <p:cNvSpPr txBox="1"/>
          <p:nvPr/>
        </p:nvSpPr>
        <p:spPr>
          <a:xfrm>
            <a:off x="2971800" y="352044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17" name="Text 13"/>
          <p:cNvSpPr txBox="1"/>
          <p:nvPr/>
        </p:nvSpPr>
        <p:spPr>
          <a:xfrm>
            <a:off x="2971800" y="406908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18" name="Text 14"/>
          <p:cNvSpPr txBox="1"/>
          <p:nvPr/>
        </p:nvSpPr>
        <p:spPr>
          <a:xfrm>
            <a:off x="297180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5-7</a:t>
            </a:r>
            <a:endParaRPr lang="en-US" sz="1300" dirty="0"/>
          </a:p>
        </p:txBody>
      </p:sp>
      <p:sp>
        <p:nvSpPr>
          <p:cNvPr id="19" name="Text 15"/>
          <p:cNvSpPr txBox="1"/>
          <p:nvPr/>
        </p:nvSpPr>
        <p:spPr>
          <a:xfrm>
            <a:off x="297180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8 sources, 2011-2026, each summarized</a:t>
            </a:r>
            <a:endParaRPr lang="en-US" sz="1100" dirty="0"/>
          </a:p>
        </p:txBody>
      </p:sp>
      <p:sp>
        <p:nvSpPr>
          <p:cNvPr id="20" name="Criterion 3"/>
          <p:cNvSpPr/>
          <p:nvPr/>
        </p:nvSpPr>
        <p:spPr>
          <a:xfrm>
            <a:off x="502920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1" name="Critical Analysis &amp; Synthesis circle"/>
          <p:cNvSpPr/>
          <p:nvPr/>
        </p:nvSpPr>
        <p:spPr>
          <a:xfrm>
            <a:off x="5669280" y="1828800"/>
            <a:ext cx="777240" cy="777240"/>
          </a:xfrm>
          <a:prstGeom prst="ellipse">
            <a:avLst/>
          </a:prstGeom>
          <a:solidFill>
            <a:schemeClr val="tx1"/>
          </a:solidFill>
          <a:ln w="12700">
            <a:solidFill>
              <a:schemeClr val="tx1"/>
            </a:solidFill>
            <a:prstDash val="solid"/>
          </a:ln>
        </p:spPr>
      </p:sp>
      <p:pic>
        <p:nvPicPr>
          <p:cNvPr id="22" name="Image 2" descr="Critical Analysis &amp; Synthesis icon">    </p:cNvPr>
          <p:cNvPicPr>
            <a:picLocks noChangeAspect="1"/>
          </p:cNvPicPr>
          <p:nvPr/>
        </p:nvPicPr>
        <p:blipFill>
          <a:blip r:embed="rId3"/>
          <a:stretch>
            <a:fillRect/>
          </a:stretch>
        </p:blipFill>
        <p:spPr>
          <a:xfrm>
            <a:off x="5840273" y="1999793"/>
            <a:ext cx="435254" cy="435254"/>
          </a:xfrm>
          <a:prstGeom prst="rect">
            <a:avLst/>
          </a:prstGeom>
        </p:spPr>
      </p:pic>
      <p:sp>
        <p:nvSpPr>
          <p:cNvPr id="23" name="Text 18"/>
          <p:cNvSpPr txBox="1"/>
          <p:nvPr/>
        </p:nvSpPr>
        <p:spPr>
          <a:xfrm>
            <a:off x="5166360" y="2743200"/>
            <a:ext cx="1783080" cy="777240"/>
          </a:xfrm>
          <a:prstGeom prst="rect">
            <a:avLst/>
          </a:prstGeom>
          <a:noFill/>
          <a:ln/>
        </p:spPr>
        <p:txBody>
          <a:bodyPr wrap="square" lIns="0" tIns="0" rIns="0" bIns="0" rtlCol="0" anchor="t"/>
          <a:lstStyle/>
          <a:p>
            <a:pPr algn="ctr" indent="0" marL="0">
              <a:buNone/>
            </a:pPr>
            <a:r>
              <a:rPr lang="en-US" sz="1500" b="1" dirty="0">
                <a:solidFill>
                  <a:schemeClr val="tx1"/>
                </a:solidFill>
              </a:rPr>
              <a:t>Critical Analysis &amp; Synthesis</a:t>
            </a:r>
            <a:endParaRPr lang="en-US" sz="1500" dirty="0"/>
          </a:p>
        </p:txBody>
      </p:sp>
      <p:sp>
        <p:nvSpPr>
          <p:cNvPr id="24" name="Text 19"/>
          <p:cNvSpPr txBox="1"/>
          <p:nvPr/>
        </p:nvSpPr>
        <p:spPr>
          <a:xfrm>
            <a:off x="5212080" y="352044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25" name="Text 20"/>
          <p:cNvSpPr txBox="1"/>
          <p:nvPr/>
        </p:nvSpPr>
        <p:spPr>
          <a:xfrm>
            <a:off x="5212080" y="406908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26" name="Text 21"/>
          <p:cNvSpPr txBox="1"/>
          <p:nvPr/>
        </p:nvSpPr>
        <p:spPr>
          <a:xfrm>
            <a:off x="521208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8-9</a:t>
            </a:r>
            <a:endParaRPr lang="en-US" sz="1300" dirty="0"/>
          </a:p>
        </p:txBody>
      </p:sp>
      <p:sp>
        <p:nvSpPr>
          <p:cNvPr id="27" name="Text 22"/>
          <p:cNvSpPr txBox="1"/>
          <p:nvPr/>
        </p:nvSpPr>
        <p:spPr>
          <a:xfrm>
            <a:off x="521208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Strengths, limits and common themes</a:t>
            </a:r>
            <a:endParaRPr lang="en-US" sz="1100" dirty="0"/>
          </a:p>
        </p:txBody>
      </p:sp>
      <p:sp>
        <p:nvSpPr>
          <p:cNvPr id="28" name="Criterion 4"/>
          <p:cNvSpPr/>
          <p:nvPr/>
        </p:nvSpPr>
        <p:spPr>
          <a:xfrm>
            <a:off x="726948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9" name="Gap Analysis through Literature circle"/>
          <p:cNvSpPr/>
          <p:nvPr/>
        </p:nvSpPr>
        <p:spPr>
          <a:xfrm>
            <a:off x="7909560" y="1828800"/>
            <a:ext cx="777240" cy="777240"/>
          </a:xfrm>
          <a:prstGeom prst="ellipse">
            <a:avLst/>
          </a:prstGeom>
          <a:solidFill>
            <a:schemeClr val="tx1"/>
          </a:solidFill>
          <a:ln w="12700">
            <a:solidFill>
              <a:schemeClr val="tx1"/>
            </a:solidFill>
            <a:prstDash val="solid"/>
          </a:ln>
        </p:spPr>
      </p:sp>
      <p:pic>
        <p:nvPicPr>
          <p:cNvPr id="30" name="Image 3" descr="Gap Analysis through Literature icon">    </p:cNvPr>
          <p:cNvPicPr>
            <a:picLocks noChangeAspect="1"/>
          </p:cNvPicPr>
          <p:nvPr/>
        </p:nvPicPr>
        <p:blipFill>
          <a:blip r:embed="rId4"/>
          <a:stretch>
            <a:fillRect/>
          </a:stretch>
        </p:blipFill>
        <p:spPr>
          <a:xfrm>
            <a:off x="8080553" y="1999793"/>
            <a:ext cx="435254" cy="435254"/>
          </a:xfrm>
          <a:prstGeom prst="rect">
            <a:avLst/>
          </a:prstGeom>
        </p:spPr>
      </p:pic>
      <p:sp>
        <p:nvSpPr>
          <p:cNvPr id="31" name="Text 25"/>
          <p:cNvSpPr txBox="1"/>
          <p:nvPr/>
        </p:nvSpPr>
        <p:spPr>
          <a:xfrm>
            <a:off x="7406640" y="2743200"/>
            <a:ext cx="1783080" cy="777240"/>
          </a:xfrm>
          <a:prstGeom prst="rect">
            <a:avLst/>
          </a:prstGeom>
          <a:noFill/>
          <a:ln/>
        </p:spPr>
        <p:txBody>
          <a:bodyPr wrap="square" lIns="0" tIns="0" rIns="0" bIns="0" rtlCol="0" anchor="t"/>
          <a:lstStyle/>
          <a:p>
            <a:pPr algn="ctr" indent="0" marL="0">
              <a:buNone/>
            </a:pPr>
            <a:r>
              <a:rPr lang="en-US" sz="1500" b="1" dirty="0">
                <a:solidFill>
                  <a:schemeClr val="tx1"/>
                </a:solidFill>
              </a:rPr>
              <a:t>Gap Analysis through Literature</a:t>
            </a:r>
            <a:endParaRPr lang="en-US" sz="1500" dirty="0"/>
          </a:p>
        </p:txBody>
      </p:sp>
      <p:sp>
        <p:nvSpPr>
          <p:cNvPr id="32" name="Text 26"/>
          <p:cNvSpPr txBox="1"/>
          <p:nvPr/>
        </p:nvSpPr>
        <p:spPr>
          <a:xfrm>
            <a:off x="7452360" y="352044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33" name="Text 27"/>
          <p:cNvSpPr txBox="1"/>
          <p:nvPr/>
        </p:nvSpPr>
        <p:spPr>
          <a:xfrm>
            <a:off x="7452360" y="406908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34" name="Text 28"/>
          <p:cNvSpPr txBox="1"/>
          <p:nvPr/>
        </p:nvSpPr>
        <p:spPr>
          <a:xfrm>
            <a:off x="745236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10-11</a:t>
            </a:r>
            <a:endParaRPr lang="en-US" sz="1300" dirty="0"/>
          </a:p>
        </p:txBody>
      </p:sp>
      <p:sp>
        <p:nvSpPr>
          <p:cNvPr id="35" name="Text 29"/>
          <p:cNvSpPr txBox="1"/>
          <p:nvPr/>
        </p:nvSpPr>
        <p:spPr>
          <a:xfrm>
            <a:off x="745236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Gaps and how DockFlow responds</a:t>
            </a:r>
            <a:endParaRPr lang="en-US" sz="1100" dirty="0"/>
          </a:p>
        </p:txBody>
      </p:sp>
      <p:sp>
        <p:nvSpPr>
          <p:cNvPr id="36" name="Criterion 5"/>
          <p:cNvSpPr/>
          <p:nvPr/>
        </p:nvSpPr>
        <p:spPr>
          <a:xfrm>
            <a:off x="950976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37" name="Presentation circle"/>
          <p:cNvSpPr/>
          <p:nvPr/>
        </p:nvSpPr>
        <p:spPr>
          <a:xfrm>
            <a:off x="10149840" y="1828800"/>
            <a:ext cx="777240" cy="777240"/>
          </a:xfrm>
          <a:prstGeom prst="ellipse">
            <a:avLst/>
          </a:prstGeom>
          <a:solidFill>
            <a:schemeClr val="tx1"/>
          </a:solidFill>
          <a:ln w="12700">
            <a:solidFill>
              <a:schemeClr val="tx1"/>
            </a:solidFill>
            <a:prstDash val="solid"/>
          </a:ln>
        </p:spPr>
      </p:sp>
      <p:pic>
        <p:nvPicPr>
          <p:cNvPr id="38" name="Image 4" descr="Presentation icon">    </p:cNvPr>
          <p:cNvPicPr>
            <a:picLocks noChangeAspect="1"/>
          </p:cNvPicPr>
          <p:nvPr/>
        </p:nvPicPr>
        <p:blipFill>
          <a:blip r:embed="rId5"/>
          <a:stretch>
            <a:fillRect/>
          </a:stretch>
        </p:blipFill>
        <p:spPr>
          <a:xfrm>
            <a:off x="10320833" y="1999793"/>
            <a:ext cx="435254" cy="435254"/>
          </a:xfrm>
          <a:prstGeom prst="rect">
            <a:avLst/>
          </a:prstGeom>
        </p:spPr>
      </p:pic>
      <p:sp>
        <p:nvSpPr>
          <p:cNvPr id="39" name="Text 32"/>
          <p:cNvSpPr txBox="1"/>
          <p:nvPr/>
        </p:nvSpPr>
        <p:spPr>
          <a:xfrm>
            <a:off x="9646920" y="2743200"/>
            <a:ext cx="1783080" cy="777240"/>
          </a:xfrm>
          <a:prstGeom prst="rect">
            <a:avLst/>
          </a:prstGeom>
          <a:noFill/>
          <a:ln/>
        </p:spPr>
        <p:txBody>
          <a:bodyPr wrap="square" lIns="0" tIns="0" rIns="0" bIns="0" rtlCol="0" anchor="t"/>
          <a:lstStyle/>
          <a:p>
            <a:pPr algn="ctr" indent="0" marL="0">
              <a:buNone/>
            </a:pPr>
            <a:r>
              <a:rPr lang="en-US" sz="1500" b="1" dirty="0">
                <a:solidFill>
                  <a:schemeClr val="tx1"/>
                </a:solidFill>
              </a:rPr>
              <a:t>Presentation</a:t>
            </a:r>
            <a:endParaRPr lang="en-US" sz="1500" dirty="0"/>
          </a:p>
        </p:txBody>
      </p:sp>
      <p:sp>
        <p:nvSpPr>
          <p:cNvPr id="40" name="Text 33"/>
          <p:cNvSpPr txBox="1"/>
          <p:nvPr/>
        </p:nvSpPr>
        <p:spPr>
          <a:xfrm>
            <a:off x="9692640" y="352044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41" name="Text 34"/>
          <p:cNvSpPr txBox="1"/>
          <p:nvPr/>
        </p:nvSpPr>
        <p:spPr>
          <a:xfrm>
            <a:off x="9692640" y="406908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42" name="Text 35"/>
          <p:cNvSpPr txBox="1"/>
          <p:nvPr/>
        </p:nvSpPr>
        <p:spPr>
          <a:xfrm>
            <a:off x="969264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1-13</a:t>
            </a:r>
            <a:endParaRPr lang="en-US" sz="1300" dirty="0"/>
          </a:p>
        </p:txBody>
      </p:sp>
      <p:sp>
        <p:nvSpPr>
          <p:cNvPr id="43" name="Text 36"/>
          <p:cNvSpPr txBox="1"/>
          <p:nvPr/>
        </p:nvSpPr>
        <p:spPr>
          <a:xfrm>
            <a:off x="969264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Clear flow, references and summary</a:t>
            </a:r>
            <a:endParaRPr lang="en-US" sz="1100" dirty="0"/>
          </a:p>
        </p:txBody>
      </p:sp>
      <p:sp>
        <p:nvSpPr>
          <p:cNvPr id="44" name="Total bar"/>
          <p:cNvSpPr/>
          <p:nvPr/>
        </p:nvSpPr>
        <p:spPr>
          <a:xfrm>
            <a:off x="548640" y="5440680"/>
            <a:ext cx="11064240" cy="685800"/>
          </a:xfrm>
          <a:prstGeom prst="roundRect">
            <a:avLst>
              <a:gd name="adj" fmla="val 13333"/>
            </a:avLst>
          </a:prstGeom>
          <a:solidFill>
            <a:schemeClr val="tx1"/>
          </a:solidFill>
          <a:ln w="12700">
            <a:solidFill>
              <a:schemeClr val="tx1"/>
            </a:solidFill>
            <a:prstDash val="solid"/>
          </a:ln>
        </p:spPr>
      </p:sp>
      <p:sp>
        <p:nvSpPr>
          <p:cNvPr id="45" name="Text 38"/>
          <p:cNvSpPr txBox="1"/>
          <p:nvPr/>
        </p:nvSpPr>
        <p:spPr>
          <a:xfrm>
            <a:off x="914400" y="5440680"/>
            <a:ext cx="3657600" cy="685800"/>
          </a:xfrm>
          <a:prstGeom prst="rect">
            <a:avLst/>
          </a:prstGeom>
          <a:noFill/>
          <a:ln/>
        </p:spPr>
        <p:txBody>
          <a:bodyPr wrap="square" lIns="0" tIns="0" rIns="0" bIns="0" rtlCol="0" anchor="ctr"/>
          <a:lstStyle/>
          <a:p>
            <a:pPr indent="0" marL="0">
              <a:buNone/>
            </a:pPr>
            <a:r>
              <a:rPr lang="en-US" sz="1600" b="1" spc="300" kern="0" dirty="0">
                <a:solidFill>
                  <a:schemeClr val="accent1"/>
                </a:solidFill>
              </a:rPr>
              <a:t>REVIEW 2 TOTAL</a:t>
            </a:r>
            <a:endParaRPr lang="en-US" sz="1600" dirty="0"/>
          </a:p>
        </p:txBody>
      </p:sp>
      <p:sp>
        <p:nvSpPr>
          <p:cNvPr id="46" name="Text 39"/>
          <p:cNvSpPr txBox="1"/>
          <p:nvPr/>
        </p:nvSpPr>
        <p:spPr>
          <a:xfrm>
            <a:off x="5486400" y="5440680"/>
            <a:ext cx="5852160" cy="685800"/>
          </a:xfrm>
          <a:prstGeom prst="rect">
            <a:avLst/>
          </a:prstGeom>
          <a:noFill/>
          <a:ln/>
        </p:spPr>
        <p:txBody>
          <a:bodyPr wrap="square" lIns="0" tIns="0" rIns="0" bIns="0" rtlCol="0" anchor="ctr"/>
          <a:lstStyle/>
          <a:p>
            <a:pPr algn="r" indent="0" marL="0">
              <a:buNone/>
            </a:pPr>
            <a:r>
              <a:rPr lang="en-US" sz="2200" b="1" dirty="0">
                <a:solidFill>
                  <a:schemeClr val="bg1"/>
                </a:solidFill>
              </a:rPr>
              <a:t>5 criteria  x  10 marks  =  50</a:t>
            </a:r>
            <a:endParaRPr lang="en-US" sz="2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1  ·  RELEVANCE TO PROJECT TITLE</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Four research areas behind our title</a:t>
            </a:r>
            <a:endParaRPr lang="en-US" sz="3200" dirty="0"/>
          </a:p>
        </p:txBody>
      </p:sp>
      <p:sp>
        <p:nvSpPr>
          <p:cNvPr id="6" name="Title strip"/>
          <p:cNvSpPr/>
          <p:nvPr/>
        </p:nvSpPr>
        <p:spPr>
          <a:xfrm>
            <a:off x="548640" y="1508760"/>
            <a:ext cx="11064240" cy="868680"/>
          </a:xfrm>
          <a:prstGeom prst="roundRect">
            <a:avLst>
              <a:gd name="adj" fmla="val 10526"/>
            </a:avLst>
          </a:prstGeom>
          <a:solidFill>
            <a:schemeClr val="tx1"/>
          </a:solidFill>
          <a:ln w="12700">
            <a:solidFill>
              <a:schemeClr val="tx1"/>
            </a:solidFill>
            <a:prstDash val="solid"/>
          </a:ln>
        </p:spPr>
      </p:sp>
      <p:sp>
        <p:nvSpPr>
          <p:cNvPr id="7" name="Text 5"/>
          <p:cNvSpPr txBox="1"/>
          <p:nvPr/>
        </p:nvSpPr>
        <p:spPr>
          <a:xfrm>
            <a:off x="868680" y="1508760"/>
            <a:ext cx="7498080" cy="8686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DockFlow: Clothing Warehouse &amp; Delivery Management System</a:t>
            </a:r>
            <a:endParaRPr lang="en-US" sz="2000" dirty="0"/>
          </a:p>
        </p:txBody>
      </p:sp>
      <p:sp>
        <p:nvSpPr>
          <p:cNvPr id="8" name="Text 6"/>
          <p:cNvSpPr txBox="1"/>
          <p:nvPr/>
        </p:nvSpPr>
        <p:spPr>
          <a:xfrm>
            <a:off x="8412480" y="1508760"/>
            <a:ext cx="2926080" cy="868680"/>
          </a:xfrm>
          <a:prstGeom prst="rect">
            <a:avLst/>
          </a:prstGeom>
          <a:noFill/>
          <a:ln/>
        </p:spPr>
        <p:txBody>
          <a:bodyPr wrap="square" lIns="0" tIns="0" rIns="0" bIns="0" rtlCol="0" anchor="ctr"/>
          <a:lstStyle/>
          <a:p>
            <a:pPr algn="r" indent="0" marL="0">
              <a:buNone/>
            </a:pPr>
            <a:r>
              <a:rPr lang="en-US" sz="1600" b="1" dirty="0">
                <a:solidFill>
                  <a:schemeClr val="accent1"/>
                </a:solidFill>
              </a:rPr>
              <a:t>8 sources  ·  4 areas</a:t>
            </a:r>
            <a:endParaRPr lang="en-US" sz="1600" dirty="0"/>
          </a:p>
        </p:txBody>
      </p:sp>
      <p:sp>
        <p:nvSpPr>
          <p:cNvPr id="9" name="Area 1"/>
          <p:cNvSpPr/>
          <p:nvPr/>
        </p:nvSpPr>
        <p:spPr>
          <a:xfrm>
            <a:off x="548640" y="2651760"/>
            <a:ext cx="2560320" cy="347472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0" name="Warehouse management systems circle"/>
          <p:cNvSpPr/>
          <p:nvPr/>
        </p:nvSpPr>
        <p:spPr>
          <a:xfrm>
            <a:off x="822960" y="2880360"/>
            <a:ext cx="731520" cy="731520"/>
          </a:xfrm>
          <a:prstGeom prst="ellipse">
            <a:avLst/>
          </a:prstGeom>
          <a:solidFill>
            <a:schemeClr val="tx1"/>
          </a:solidFill>
          <a:ln w="12700">
            <a:solidFill>
              <a:schemeClr val="tx1"/>
            </a:solidFill>
            <a:prstDash val="solid"/>
          </a:ln>
        </p:spPr>
      </p:sp>
      <p:pic>
        <p:nvPicPr>
          <p:cNvPr id="11" name="Image 0" descr="Warehouse management systems icon">    </p:cNvPr>
          <p:cNvPicPr>
            <a:picLocks noChangeAspect="1"/>
          </p:cNvPicPr>
          <p:nvPr/>
        </p:nvPicPr>
        <p:blipFill>
          <a:blip r:embed="rId1"/>
          <a:stretch>
            <a:fillRect/>
          </a:stretch>
        </p:blipFill>
        <p:spPr>
          <a:xfrm>
            <a:off x="983894" y="3041294"/>
            <a:ext cx="409651" cy="409651"/>
          </a:xfrm>
          <a:prstGeom prst="rect">
            <a:avLst/>
          </a:prstGeom>
        </p:spPr>
      </p:pic>
      <p:sp>
        <p:nvSpPr>
          <p:cNvPr id="12" name="Text 9"/>
          <p:cNvSpPr txBox="1"/>
          <p:nvPr/>
        </p:nvSpPr>
        <p:spPr>
          <a:xfrm>
            <a:off x="822960" y="3749040"/>
            <a:ext cx="2057400" cy="685800"/>
          </a:xfrm>
          <a:prstGeom prst="rect">
            <a:avLst/>
          </a:prstGeom>
          <a:noFill/>
          <a:ln/>
        </p:spPr>
        <p:txBody>
          <a:bodyPr wrap="square" lIns="0" tIns="0" rIns="0" bIns="0" rtlCol="0" anchor="t"/>
          <a:lstStyle/>
          <a:p>
            <a:pPr indent="0" marL="0">
              <a:buNone/>
            </a:pPr>
            <a:r>
              <a:rPr lang="en-US" sz="1700" b="1" dirty="0">
                <a:solidFill>
                  <a:schemeClr val="tx1"/>
                </a:solidFill>
              </a:rPr>
              <a:t>Warehouse management systems</a:t>
            </a:r>
            <a:endParaRPr lang="en-US" sz="1700" dirty="0"/>
          </a:p>
        </p:txBody>
      </p:sp>
      <p:sp>
        <p:nvSpPr>
          <p:cNvPr id="13" name="Text 10"/>
          <p:cNvSpPr txBox="1"/>
          <p:nvPr/>
        </p:nvSpPr>
        <p:spPr>
          <a:xfrm>
            <a:off x="822960" y="4526280"/>
            <a:ext cx="210312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LINKED TO DOCKFLOW</a:t>
            </a:r>
            <a:endParaRPr lang="en-US" sz="1050" dirty="0"/>
          </a:p>
        </p:txBody>
      </p:sp>
      <p:sp>
        <p:nvSpPr>
          <p:cNvPr id="14" name="Text 11"/>
          <p:cNvSpPr txBox="1"/>
          <p:nvPr/>
        </p:nvSpPr>
        <p:spPr>
          <a:xfrm>
            <a:off x="822960" y="4800600"/>
            <a:ext cx="2057400" cy="731520"/>
          </a:xfrm>
          <a:prstGeom prst="rect">
            <a:avLst/>
          </a:prstGeom>
          <a:noFill/>
          <a:ln/>
        </p:spPr>
        <p:txBody>
          <a:bodyPr wrap="square" lIns="0" tIns="0" rIns="0" bIns="0" rtlCol="0" anchor="t"/>
          <a:lstStyle/>
          <a:p>
            <a:pPr indent="0" marL="0">
              <a:buNone/>
            </a:pPr>
            <a:r>
              <a:rPr lang="en-US" sz="1250" dirty="0">
                <a:solidFill>
                  <a:schemeClr val="accent3"/>
                </a:solidFill>
              </a:rPr>
              <a:t>Clothing warehouse: stock by size, color and location</a:t>
            </a:r>
            <a:endParaRPr lang="en-US" sz="1250" dirty="0"/>
          </a:p>
        </p:txBody>
      </p:sp>
      <p:sp>
        <p:nvSpPr>
          <p:cNvPr id="15" name="Text 12"/>
          <p:cNvSpPr txBox="1"/>
          <p:nvPr/>
        </p:nvSpPr>
        <p:spPr>
          <a:xfrm>
            <a:off x="822960" y="5669280"/>
            <a:ext cx="2057400" cy="274320"/>
          </a:xfrm>
          <a:prstGeom prst="rect">
            <a:avLst/>
          </a:prstGeom>
          <a:noFill/>
          <a:ln/>
        </p:spPr>
        <p:txBody>
          <a:bodyPr wrap="square" lIns="0" tIns="0" rIns="0" bIns="0" rtlCol="0" anchor="ctr"/>
          <a:lstStyle/>
          <a:p>
            <a:pPr indent="0" marL="0">
              <a:buNone/>
            </a:pPr>
            <a:r>
              <a:rPr lang="en-US" sz="1300" b="1" dirty="0">
                <a:solidFill>
                  <a:schemeClr val="tx2"/>
                </a:solidFill>
              </a:rPr>
              <a:t>Sources [2] [3]</a:t>
            </a:r>
            <a:endParaRPr lang="en-US" sz="1300" dirty="0"/>
          </a:p>
        </p:txBody>
      </p:sp>
      <p:sp>
        <p:nvSpPr>
          <p:cNvPr id="16" name="Area 2"/>
          <p:cNvSpPr/>
          <p:nvPr/>
        </p:nvSpPr>
        <p:spPr>
          <a:xfrm>
            <a:off x="3383280" y="2651760"/>
            <a:ext cx="2560320" cy="347472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7" name="SQL vs NoSQL databases circle"/>
          <p:cNvSpPr/>
          <p:nvPr/>
        </p:nvSpPr>
        <p:spPr>
          <a:xfrm>
            <a:off x="3657600" y="2880360"/>
            <a:ext cx="731520" cy="731520"/>
          </a:xfrm>
          <a:prstGeom prst="ellipse">
            <a:avLst/>
          </a:prstGeom>
          <a:solidFill>
            <a:schemeClr val="tx1"/>
          </a:solidFill>
          <a:ln w="12700">
            <a:solidFill>
              <a:schemeClr val="tx1"/>
            </a:solidFill>
            <a:prstDash val="solid"/>
          </a:ln>
        </p:spPr>
      </p:sp>
      <p:pic>
        <p:nvPicPr>
          <p:cNvPr id="18" name="Image 1" descr="SQL vs NoSQL databases icon">    </p:cNvPr>
          <p:cNvPicPr>
            <a:picLocks noChangeAspect="1"/>
          </p:cNvPicPr>
          <p:nvPr/>
        </p:nvPicPr>
        <p:blipFill>
          <a:blip r:embed="rId2"/>
          <a:stretch>
            <a:fillRect/>
          </a:stretch>
        </p:blipFill>
        <p:spPr>
          <a:xfrm>
            <a:off x="3818534" y="3041294"/>
            <a:ext cx="409651" cy="409651"/>
          </a:xfrm>
          <a:prstGeom prst="rect">
            <a:avLst/>
          </a:prstGeom>
        </p:spPr>
      </p:pic>
      <p:sp>
        <p:nvSpPr>
          <p:cNvPr id="19" name="Text 15"/>
          <p:cNvSpPr txBox="1"/>
          <p:nvPr/>
        </p:nvSpPr>
        <p:spPr>
          <a:xfrm>
            <a:off x="3657600" y="3749040"/>
            <a:ext cx="2057400" cy="685800"/>
          </a:xfrm>
          <a:prstGeom prst="rect">
            <a:avLst/>
          </a:prstGeom>
          <a:noFill/>
          <a:ln/>
        </p:spPr>
        <p:txBody>
          <a:bodyPr wrap="square" lIns="0" tIns="0" rIns="0" bIns="0" rtlCol="0" anchor="t"/>
          <a:lstStyle/>
          <a:p>
            <a:pPr indent="0" marL="0">
              <a:buNone/>
            </a:pPr>
            <a:r>
              <a:rPr lang="en-US" sz="1700" b="1" dirty="0">
                <a:solidFill>
                  <a:schemeClr val="tx1"/>
                </a:solidFill>
              </a:rPr>
              <a:t>SQL vs NoSQL databases</a:t>
            </a:r>
            <a:endParaRPr lang="en-US" sz="1700" dirty="0"/>
          </a:p>
        </p:txBody>
      </p:sp>
      <p:sp>
        <p:nvSpPr>
          <p:cNvPr id="20" name="Text 16"/>
          <p:cNvSpPr txBox="1"/>
          <p:nvPr/>
        </p:nvSpPr>
        <p:spPr>
          <a:xfrm>
            <a:off x="3657600" y="4526280"/>
            <a:ext cx="210312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LINKED TO DOCKFLOW</a:t>
            </a:r>
            <a:endParaRPr lang="en-US" sz="1050" dirty="0"/>
          </a:p>
        </p:txBody>
      </p:sp>
      <p:sp>
        <p:nvSpPr>
          <p:cNvPr id="21" name="Text 17"/>
          <p:cNvSpPr txBox="1"/>
          <p:nvPr/>
        </p:nvSpPr>
        <p:spPr>
          <a:xfrm>
            <a:off x="3657600" y="4800600"/>
            <a:ext cx="2057400" cy="731520"/>
          </a:xfrm>
          <a:prstGeom prst="rect">
            <a:avLst/>
          </a:prstGeom>
          <a:noFill/>
          <a:ln/>
        </p:spPr>
        <p:txBody>
          <a:bodyPr wrap="square" lIns="0" tIns="0" rIns="0" bIns="0" rtlCol="0" anchor="t"/>
          <a:lstStyle/>
          <a:p>
            <a:pPr indent="0" marL="0">
              <a:buNone/>
            </a:pPr>
            <a:r>
              <a:rPr lang="en-US" sz="1250" dirty="0">
                <a:solidFill>
                  <a:schemeClr val="accent3"/>
                </a:solidFill>
              </a:rPr>
              <a:t>MySQL for stock and orders; MongoDB for delivery updates</a:t>
            </a:r>
            <a:endParaRPr lang="en-US" sz="1250" dirty="0"/>
          </a:p>
        </p:txBody>
      </p:sp>
      <p:sp>
        <p:nvSpPr>
          <p:cNvPr id="22" name="Text 18"/>
          <p:cNvSpPr txBox="1"/>
          <p:nvPr/>
        </p:nvSpPr>
        <p:spPr>
          <a:xfrm>
            <a:off x="3657600" y="5669280"/>
            <a:ext cx="2057400" cy="274320"/>
          </a:xfrm>
          <a:prstGeom prst="rect">
            <a:avLst/>
          </a:prstGeom>
          <a:noFill/>
          <a:ln/>
        </p:spPr>
        <p:txBody>
          <a:bodyPr wrap="square" lIns="0" tIns="0" rIns="0" bIns="0" rtlCol="0" anchor="ctr"/>
          <a:lstStyle/>
          <a:p>
            <a:pPr indent="0" marL="0">
              <a:buNone/>
            </a:pPr>
            <a:r>
              <a:rPr lang="en-US" sz="1300" b="1" dirty="0">
                <a:solidFill>
                  <a:schemeClr val="tx2"/>
                </a:solidFill>
              </a:rPr>
              <a:t>Sources [6] [7]</a:t>
            </a:r>
            <a:endParaRPr lang="en-US" sz="1300" dirty="0"/>
          </a:p>
        </p:txBody>
      </p:sp>
      <p:sp>
        <p:nvSpPr>
          <p:cNvPr id="23" name="Area 3"/>
          <p:cNvSpPr/>
          <p:nvPr/>
        </p:nvSpPr>
        <p:spPr>
          <a:xfrm>
            <a:off x="6217920" y="2651760"/>
            <a:ext cx="2560320" cy="347472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4" name="Polyglot persistence circle"/>
          <p:cNvSpPr/>
          <p:nvPr/>
        </p:nvSpPr>
        <p:spPr>
          <a:xfrm>
            <a:off x="6492240" y="2880360"/>
            <a:ext cx="731520" cy="731520"/>
          </a:xfrm>
          <a:prstGeom prst="ellipse">
            <a:avLst/>
          </a:prstGeom>
          <a:solidFill>
            <a:schemeClr val="tx1"/>
          </a:solidFill>
          <a:ln w="12700">
            <a:solidFill>
              <a:schemeClr val="tx1"/>
            </a:solidFill>
            <a:prstDash val="solid"/>
          </a:ln>
        </p:spPr>
      </p:sp>
      <p:pic>
        <p:nvPicPr>
          <p:cNvPr id="25" name="Image 2" descr="Polyglot persistence icon">    </p:cNvPr>
          <p:cNvPicPr>
            <a:picLocks noChangeAspect="1"/>
          </p:cNvPicPr>
          <p:nvPr/>
        </p:nvPicPr>
        <p:blipFill>
          <a:blip r:embed="rId3"/>
          <a:stretch>
            <a:fillRect/>
          </a:stretch>
        </p:blipFill>
        <p:spPr>
          <a:xfrm>
            <a:off x="6653174" y="3041294"/>
            <a:ext cx="409651" cy="409651"/>
          </a:xfrm>
          <a:prstGeom prst="rect">
            <a:avLst/>
          </a:prstGeom>
        </p:spPr>
      </p:pic>
      <p:sp>
        <p:nvSpPr>
          <p:cNvPr id="26" name="Text 21"/>
          <p:cNvSpPr txBox="1"/>
          <p:nvPr/>
        </p:nvSpPr>
        <p:spPr>
          <a:xfrm>
            <a:off x="6492240" y="3749040"/>
            <a:ext cx="2057400" cy="685800"/>
          </a:xfrm>
          <a:prstGeom prst="rect">
            <a:avLst/>
          </a:prstGeom>
          <a:noFill/>
          <a:ln/>
        </p:spPr>
        <p:txBody>
          <a:bodyPr wrap="square" lIns="0" tIns="0" rIns="0" bIns="0" rtlCol="0" anchor="t"/>
          <a:lstStyle/>
          <a:p>
            <a:pPr indent="0" marL="0">
              <a:buNone/>
            </a:pPr>
            <a:r>
              <a:rPr lang="en-US" sz="1700" b="1" dirty="0">
                <a:solidFill>
                  <a:schemeClr val="tx1"/>
                </a:solidFill>
              </a:rPr>
              <a:t>Polyglot persistence</a:t>
            </a:r>
            <a:endParaRPr lang="en-US" sz="1700" dirty="0"/>
          </a:p>
        </p:txBody>
      </p:sp>
      <p:sp>
        <p:nvSpPr>
          <p:cNvPr id="27" name="Text 22"/>
          <p:cNvSpPr txBox="1"/>
          <p:nvPr/>
        </p:nvSpPr>
        <p:spPr>
          <a:xfrm>
            <a:off x="6492240" y="4526280"/>
            <a:ext cx="210312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LINKED TO DOCKFLOW</a:t>
            </a:r>
            <a:endParaRPr lang="en-US" sz="1050" dirty="0"/>
          </a:p>
        </p:txBody>
      </p:sp>
      <p:sp>
        <p:nvSpPr>
          <p:cNvPr id="28" name="Text 23"/>
          <p:cNvSpPr txBox="1"/>
          <p:nvPr/>
        </p:nvSpPr>
        <p:spPr>
          <a:xfrm>
            <a:off x="6492240" y="4800600"/>
            <a:ext cx="2057400" cy="731520"/>
          </a:xfrm>
          <a:prstGeom prst="rect">
            <a:avLst/>
          </a:prstGeom>
          <a:noFill/>
          <a:ln/>
        </p:spPr>
        <p:txBody>
          <a:bodyPr wrap="square" lIns="0" tIns="0" rIns="0" bIns="0" rtlCol="0" anchor="t"/>
          <a:lstStyle/>
          <a:p>
            <a:pPr indent="0" marL="0">
              <a:buNone/>
            </a:pPr>
            <a:r>
              <a:rPr lang="en-US" sz="1250" dirty="0">
                <a:solidFill>
                  <a:schemeClr val="accent3"/>
                </a:solidFill>
              </a:rPr>
              <a:t>Using more than one database inside one system</a:t>
            </a:r>
            <a:endParaRPr lang="en-US" sz="1250" dirty="0"/>
          </a:p>
        </p:txBody>
      </p:sp>
      <p:sp>
        <p:nvSpPr>
          <p:cNvPr id="29" name="Text 24"/>
          <p:cNvSpPr txBox="1"/>
          <p:nvPr/>
        </p:nvSpPr>
        <p:spPr>
          <a:xfrm>
            <a:off x="6492240" y="5669280"/>
            <a:ext cx="2057400" cy="274320"/>
          </a:xfrm>
          <a:prstGeom prst="rect">
            <a:avLst/>
          </a:prstGeom>
          <a:noFill/>
          <a:ln/>
        </p:spPr>
        <p:txBody>
          <a:bodyPr wrap="square" lIns="0" tIns="0" rIns="0" bIns="0" rtlCol="0" anchor="ctr"/>
          <a:lstStyle/>
          <a:p>
            <a:pPr indent="0" marL="0">
              <a:buNone/>
            </a:pPr>
            <a:r>
              <a:rPr lang="en-US" sz="1300" b="1" dirty="0">
                <a:solidFill>
                  <a:schemeClr val="tx2"/>
                </a:solidFill>
              </a:rPr>
              <a:t>Sources [4] [5] [8]</a:t>
            </a:r>
            <a:endParaRPr lang="en-US" sz="1300" dirty="0"/>
          </a:p>
        </p:txBody>
      </p:sp>
      <p:sp>
        <p:nvSpPr>
          <p:cNvPr id="30" name="Area 4"/>
          <p:cNvSpPr/>
          <p:nvPr/>
        </p:nvSpPr>
        <p:spPr>
          <a:xfrm>
            <a:off x="9052560" y="2651760"/>
            <a:ext cx="2560320" cy="347472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31" name="Event streaming circle"/>
          <p:cNvSpPr/>
          <p:nvPr/>
        </p:nvSpPr>
        <p:spPr>
          <a:xfrm>
            <a:off x="9326880" y="2880360"/>
            <a:ext cx="731520" cy="731520"/>
          </a:xfrm>
          <a:prstGeom prst="ellipse">
            <a:avLst/>
          </a:prstGeom>
          <a:solidFill>
            <a:schemeClr val="tx1"/>
          </a:solidFill>
          <a:ln w="12700">
            <a:solidFill>
              <a:schemeClr val="tx1"/>
            </a:solidFill>
            <a:prstDash val="solid"/>
          </a:ln>
        </p:spPr>
      </p:sp>
      <p:pic>
        <p:nvPicPr>
          <p:cNvPr id="32" name="Image 3" descr="Event streaming icon">    </p:cNvPr>
          <p:cNvPicPr>
            <a:picLocks noChangeAspect="1"/>
          </p:cNvPicPr>
          <p:nvPr/>
        </p:nvPicPr>
        <p:blipFill>
          <a:blip r:embed="rId4"/>
          <a:stretch>
            <a:fillRect/>
          </a:stretch>
        </p:blipFill>
        <p:spPr>
          <a:xfrm>
            <a:off x="9487814" y="3041294"/>
            <a:ext cx="409651" cy="409651"/>
          </a:xfrm>
          <a:prstGeom prst="rect">
            <a:avLst/>
          </a:prstGeom>
        </p:spPr>
      </p:pic>
      <p:sp>
        <p:nvSpPr>
          <p:cNvPr id="33" name="Text 27"/>
          <p:cNvSpPr txBox="1"/>
          <p:nvPr/>
        </p:nvSpPr>
        <p:spPr>
          <a:xfrm>
            <a:off x="9326880" y="3749040"/>
            <a:ext cx="2057400" cy="685800"/>
          </a:xfrm>
          <a:prstGeom prst="rect">
            <a:avLst/>
          </a:prstGeom>
          <a:noFill/>
          <a:ln/>
        </p:spPr>
        <p:txBody>
          <a:bodyPr wrap="square" lIns="0" tIns="0" rIns="0" bIns="0" rtlCol="0" anchor="t"/>
          <a:lstStyle/>
          <a:p>
            <a:pPr indent="0" marL="0">
              <a:buNone/>
            </a:pPr>
            <a:r>
              <a:rPr lang="en-US" sz="1700" b="1" dirty="0">
                <a:solidFill>
                  <a:schemeClr val="tx1"/>
                </a:solidFill>
              </a:rPr>
              <a:t>Event streaming</a:t>
            </a:r>
            <a:endParaRPr lang="en-US" sz="1700" dirty="0"/>
          </a:p>
        </p:txBody>
      </p:sp>
      <p:sp>
        <p:nvSpPr>
          <p:cNvPr id="34" name="Text 28"/>
          <p:cNvSpPr txBox="1"/>
          <p:nvPr/>
        </p:nvSpPr>
        <p:spPr>
          <a:xfrm>
            <a:off x="9326880" y="4526280"/>
            <a:ext cx="210312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LINKED TO DOCKFLOW</a:t>
            </a:r>
            <a:endParaRPr lang="en-US" sz="1050" dirty="0"/>
          </a:p>
        </p:txBody>
      </p:sp>
      <p:sp>
        <p:nvSpPr>
          <p:cNvPr id="35" name="Text 29"/>
          <p:cNvSpPr txBox="1"/>
          <p:nvPr/>
        </p:nvSpPr>
        <p:spPr>
          <a:xfrm>
            <a:off x="9326880" y="4800600"/>
            <a:ext cx="2057400" cy="731520"/>
          </a:xfrm>
          <a:prstGeom prst="rect">
            <a:avLst/>
          </a:prstGeom>
          <a:noFill/>
          <a:ln/>
        </p:spPr>
        <p:txBody>
          <a:bodyPr wrap="square" lIns="0" tIns="0" rIns="0" bIns="0" rtlCol="0" anchor="t"/>
          <a:lstStyle/>
          <a:p>
            <a:pPr indent="0" marL="0">
              <a:buNone/>
            </a:pPr>
            <a:r>
              <a:rPr lang="en-US" sz="1250" dirty="0">
                <a:solidFill>
                  <a:schemeClr val="accent3"/>
                </a:solidFill>
              </a:rPr>
              <a:t>Kafka passing shipment events between services</a:t>
            </a:r>
            <a:endParaRPr lang="en-US" sz="1250" dirty="0"/>
          </a:p>
        </p:txBody>
      </p:sp>
      <p:sp>
        <p:nvSpPr>
          <p:cNvPr id="36" name="Text 30"/>
          <p:cNvSpPr txBox="1"/>
          <p:nvPr/>
        </p:nvSpPr>
        <p:spPr>
          <a:xfrm>
            <a:off x="9326880" y="5669280"/>
            <a:ext cx="2057400" cy="274320"/>
          </a:xfrm>
          <a:prstGeom prst="rect">
            <a:avLst/>
          </a:prstGeom>
          <a:noFill/>
          <a:ln/>
        </p:spPr>
        <p:txBody>
          <a:bodyPr wrap="square" lIns="0" tIns="0" rIns="0" bIns="0" rtlCol="0" anchor="ctr"/>
          <a:lstStyle/>
          <a:p>
            <a:pPr indent="0" marL="0">
              <a:buNone/>
            </a:pPr>
            <a:r>
              <a:rPr lang="en-US" sz="1300" b="1" dirty="0">
                <a:solidFill>
                  <a:schemeClr val="tx2"/>
                </a:solidFill>
              </a:rPr>
              <a:t>Sources [1]</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1  ·  RELEVANCE TO PROJECT TITLE</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Every source linked to a DockFlow component</a:t>
            </a:r>
            <a:endParaRPr lang="en-US" sz="3200" dirty="0"/>
          </a:p>
        </p:txBody>
      </p:sp>
      <p:graphicFrame>
        <p:nvGraphicFramePr>
          <p:cNvPr id="5" name="Relevance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3200400"/>
                <a:gridCol w="2377440"/>
                <a:gridCol w="5486400"/>
              </a:tblGrid>
              <a:tr h="457200">
                <a:tc>
                  <a:txBody>
                    <a:bodyPr/>
                    <a:lstStyle/>
                    <a:p>
                      <a:pPr algn="l" indent="0" marL="0">
                        <a:buNone/>
                      </a:pPr>
                      <a:r>
                        <a:rPr lang="en-US" sz="1300" b="1" dirty="0">
                          <a:solidFill>
                            <a:srgbClr val="FFFFFF"/>
                          </a:solidFill>
                        </a:rPr>
                        <a:t>Source</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300" b="1" dirty="0">
                          <a:solidFill>
                            <a:srgbClr val="FFFFFF"/>
                          </a:solidFill>
                        </a:rPr>
                        <a:t>Research area</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300" b="1" dirty="0">
                          <a:solidFill>
                            <a:srgbClr val="FFFFFF"/>
                          </a:solidFill>
                        </a:rPr>
                        <a:t>Relevance to DockFlow</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r>
              <a:tr h="502920">
                <a:tc>
                  <a:txBody>
                    <a:bodyPr/>
                    <a:lstStyle/>
                    <a:p>
                      <a:pPr indent="0" marL="0">
                        <a:buNone/>
                      </a:pPr>
                      <a:r>
                        <a:rPr lang="en-US" sz="1150" b="1" dirty="0">
                          <a:solidFill>
                            <a:srgbClr val="1B2A41"/>
                          </a:solidFill>
                        </a:rPr>
                        <a:t>[1]  Kreps et al., 2011</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Event streaming</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Basis for Kafka passing shipment events between services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[2]  Redżeb, 2024</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Warehouse systems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Current directions in warehouse management for retail</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[3]  Persson, thesis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Warehouse systems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Benefits of WMS: efficiency and real-time information</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[4]  Kazanavičius et al., 2022</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Polyglot persistence</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Using several data stores together in one system</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[5]  Halili et al., 2025</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Polyglot persistence</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Trade-offs of using several database types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[6]  Future Internet, 2026</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SQL vs NoSQL</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When an SQL or a document database suits a workload</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[7]  EasyChair preprint, 2020</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SQL vs NoSQL</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MongoDB vs MySQL speed on basic operations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[8]  Pllana &amp; Krasniqi, 2019</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Polyglot persistence</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Each service using its own data store</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2  ·  DEPTH &amp; QUALITY OF LITERATURE REVIEW</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Scope and quality of the review</a:t>
            </a:r>
            <a:endParaRPr lang="en-US" sz="3200" dirty="0"/>
          </a:p>
        </p:txBody>
      </p:sp>
      <p:sp>
        <p:nvSpPr>
          <p:cNvPr id="6" name="Stat 1"/>
          <p:cNvSpPr/>
          <p:nvPr/>
        </p:nvSpPr>
        <p:spPr>
          <a:xfrm>
            <a:off x="548640" y="1508760"/>
            <a:ext cx="3474720" cy="1188720"/>
          </a:xfrm>
          <a:prstGeom prst="roundRect">
            <a:avLst>
              <a:gd name="adj" fmla="val 7692"/>
            </a:avLst>
          </a:prstGeom>
          <a:solidFill>
            <a:schemeClr val="tx2"/>
          </a:solidFill>
          <a:ln w="12700">
            <a:solidFill>
              <a:schemeClr val="tx2"/>
            </a:solidFill>
            <a:prstDash val="solid"/>
          </a:ln>
        </p:spPr>
      </p:sp>
      <p:sp>
        <p:nvSpPr>
          <p:cNvPr id="7" name="Text 5"/>
          <p:cNvSpPr txBox="1"/>
          <p:nvPr/>
        </p:nvSpPr>
        <p:spPr>
          <a:xfrm>
            <a:off x="822960" y="1554480"/>
            <a:ext cx="2926080" cy="68580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8</a:t>
            </a:r>
            <a:endParaRPr lang="en-US" sz="3800" dirty="0"/>
          </a:p>
        </p:txBody>
      </p:sp>
      <p:sp>
        <p:nvSpPr>
          <p:cNvPr id="8" name="Text 6"/>
          <p:cNvSpPr txBox="1"/>
          <p:nvPr/>
        </p:nvSpPr>
        <p:spPr>
          <a:xfrm>
            <a:off x="822960" y="2240280"/>
            <a:ext cx="2926080" cy="365760"/>
          </a:xfrm>
          <a:prstGeom prst="rect">
            <a:avLst/>
          </a:prstGeom>
          <a:noFill/>
          <a:ln/>
        </p:spPr>
        <p:txBody>
          <a:bodyPr wrap="square" lIns="0" tIns="0" rIns="0" bIns="0" rtlCol="0" anchor="ctr"/>
          <a:lstStyle/>
          <a:p>
            <a:pPr indent="0" marL="0">
              <a:buNone/>
            </a:pPr>
            <a:r>
              <a:rPr lang="en-US" sz="1500" dirty="0">
                <a:solidFill>
                  <a:schemeClr val="bg1"/>
                </a:solidFill>
              </a:rPr>
              <a:t>sources reviewed</a:t>
            </a:r>
            <a:endParaRPr lang="en-US" sz="1500" dirty="0"/>
          </a:p>
        </p:txBody>
      </p:sp>
      <p:sp>
        <p:nvSpPr>
          <p:cNvPr id="9" name="Stat 2"/>
          <p:cNvSpPr/>
          <p:nvPr/>
        </p:nvSpPr>
        <p:spPr>
          <a:xfrm>
            <a:off x="4343400" y="1508760"/>
            <a:ext cx="3474720" cy="1188720"/>
          </a:xfrm>
          <a:prstGeom prst="roundRect">
            <a:avLst>
              <a:gd name="adj" fmla="val 7692"/>
            </a:avLst>
          </a:prstGeom>
          <a:solidFill>
            <a:schemeClr val="tx2"/>
          </a:solidFill>
          <a:ln w="12700">
            <a:solidFill>
              <a:schemeClr val="tx2"/>
            </a:solidFill>
            <a:prstDash val="solid"/>
          </a:ln>
        </p:spPr>
      </p:sp>
      <p:sp>
        <p:nvSpPr>
          <p:cNvPr id="10" name="Text 8"/>
          <p:cNvSpPr txBox="1"/>
          <p:nvPr/>
        </p:nvSpPr>
        <p:spPr>
          <a:xfrm>
            <a:off x="4617720" y="1554480"/>
            <a:ext cx="2926080" cy="68580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4</a:t>
            </a:r>
            <a:endParaRPr lang="en-US" sz="3800" dirty="0"/>
          </a:p>
        </p:txBody>
      </p:sp>
      <p:sp>
        <p:nvSpPr>
          <p:cNvPr id="11" name="Text 9"/>
          <p:cNvSpPr txBox="1"/>
          <p:nvPr/>
        </p:nvSpPr>
        <p:spPr>
          <a:xfrm>
            <a:off x="4617720" y="2240280"/>
            <a:ext cx="2926080" cy="365760"/>
          </a:xfrm>
          <a:prstGeom prst="rect">
            <a:avLst/>
          </a:prstGeom>
          <a:noFill/>
          <a:ln/>
        </p:spPr>
        <p:txBody>
          <a:bodyPr wrap="square" lIns="0" tIns="0" rIns="0" bIns="0" rtlCol="0" anchor="ctr"/>
          <a:lstStyle/>
          <a:p>
            <a:pPr indent="0" marL="0">
              <a:buNone/>
            </a:pPr>
            <a:r>
              <a:rPr lang="en-US" sz="1500" dirty="0">
                <a:solidFill>
                  <a:schemeClr val="bg1"/>
                </a:solidFill>
              </a:rPr>
              <a:t>research areas</a:t>
            </a:r>
            <a:endParaRPr lang="en-US" sz="1500" dirty="0"/>
          </a:p>
        </p:txBody>
      </p:sp>
      <p:sp>
        <p:nvSpPr>
          <p:cNvPr id="12" name="Stat 3"/>
          <p:cNvSpPr/>
          <p:nvPr/>
        </p:nvSpPr>
        <p:spPr>
          <a:xfrm>
            <a:off x="8138160" y="1508760"/>
            <a:ext cx="3474720" cy="1188720"/>
          </a:xfrm>
          <a:prstGeom prst="roundRect">
            <a:avLst>
              <a:gd name="adj" fmla="val 7692"/>
            </a:avLst>
          </a:prstGeom>
          <a:solidFill>
            <a:schemeClr val="tx2"/>
          </a:solidFill>
          <a:ln w="12700">
            <a:solidFill>
              <a:schemeClr val="tx2"/>
            </a:solidFill>
            <a:prstDash val="solid"/>
          </a:ln>
        </p:spPr>
      </p:sp>
      <p:sp>
        <p:nvSpPr>
          <p:cNvPr id="13" name="Text 11"/>
          <p:cNvSpPr txBox="1"/>
          <p:nvPr/>
        </p:nvSpPr>
        <p:spPr>
          <a:xfrm>
            <a:off x="8412480" y="1554480"/>
            <a:ext cx="2926080" cy="68580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2011-2026</a:t>
            </a:r>
            <a:endParaRPr lang="en-US" sz="3800" dirty="0"/>
          </a:p>
        </p:txBody>
      </p:sp>
      <p:sp>
        <p:nvSpPr>
          <p:cNvPr id="14" name="Text 12"/>
          <p:cNvSpPr txBox="1"/>
          <p:nvPr/>
        </p:nvSpPr>
        <p:spPr>
          <a:xfrm>
            <a:off x="8412480" y="2240280"/>
            <a:ext cx="2926080" cy="365760"/>
          </a:xfrm>
          <a:prstGeom prst="rect">
            <a:avLst/>
          </a:prstGeom>
          <a:noFill/>
          <a:ln/>
        </p:spPr>
        <p:txBody>
          <a:bodyPr wrap="square" lIns="0" tIns="0" rIns="0" bIns="0" rtlCol="0" anchor="ctr"/>
          <a:lstStyle/>
          <a:p>
            <a:pPr indent="0" marL="0">
              <a:buNone/>
            </a:pPr>
            <a:r>
              <a:rPr lang="en-US" sz="1500" dirty="0">
                <a:solidFill>
                  <a:schemeClr val="bg1"/>
                </a:solidFill>
              </a:rPr>
              <a:t>publication span</a:t>
            </a:r>
            <a:endParaRPr lang="en-US" sz="1500" dirty="0"/>
          </a:p>
        </p:txBody>
      </p:sp>
      <p:sp>
        <p:nvSpPr>
          <p:cNvPr id="15" name="Chart card"/>
          <p:cNvSpPr/>
          <p:nvPr/>
        </p:nvSpPr>
        <p:spPr>
          <a:xfrm>
            <a:off x="548640" y="2971800"/>
            <a:ext cx="6583680" cy="3154680"/>
          </a:xfrm>
          <a:prstGeom prst="roundRect">
            <a:avLst>
              <a:gd name="adj" fmla="val 2899"/>
            </a:avLst>
          </a:prstGeom>
          <a:solidFill>
            <a:schemeClr val="bg1"/>
          </a:solidFill>
          <a:ln w="12700">
            <a:solidFill>
              <a:schemeClr val="bg1"/>
            </a:solidFill>
            <a:prstDash val="solid"/>
          </a:ln>
        </p:spPr>
      </p:sp>
      <p:graphicFrame>
        <p:nvGraphicFramePr>
          <p:cNvPr id="16" name="Chart 0" descr=""/>
          <p:cNvGraphicFramePr/>
          <p:nvPr/>
        </p:nvGraphicFramePr>
        <p:xfrm>
          <a:off x="731520" y="3063240"/>
          <a:ext cx="6217920" cy="2971800"/>
        </p:xfrm>
        <a:graphic xmlns:a="http://schemas.openxmlformats.org/drawingml/2006/main">
          <a:graphicData uri="http://schemas.openxmlformats.org/drawingml/2006/chart">
            <c:chart xmlns:c="http://schemas.openxmlformats.org/drawingml/2006/chart" r:id="rId1"/>
          </a:graphicData>
        </a:graphic>
      </p:graphicFrame>
      <p:sp>
        <p:nvSpPr>
          <p:cNvPr id="17" name="Criteria card"/>
          <p:cNvSpPr/>
          <p:nvPr/>
        </p:nvSpPr>
        <p:spPr>
          <a:xfrm>
            <a:off x="7406640" y="2971800"/>
            <a:ext cx="4206240" cy="3154680"/>
          </a:xfrm>
          <a:prstGeom prst="roundRect">
            <a:avLst>
              <a:gd name="adj" fmla="val 2899"/>
            </a:avLst>
          </a:prstGeom>
          <a:solidFill>
            <a:schemeClr val="tx2"/>
          </a:solidFill>
          <a:ln w="12700">
            <a:solidFill>
              <a:schemeClr val="tx2"/>
            </a:solidFill>
            <a:prstDash val="solid"/>
          </a:ln>
        </p:spPr>
      </p:sp>
      <p:sp>
        <p:nvSpPr>
          <p:cNvPr id="18" name="Text 15"/>
          <p:cNvSpPr txBox="1"/>
          <p:nvPr/>
        </p:nvSpPr>
        <p:spPr>
          <a:xfrm>
            <a:off x="7680960" y="3200400"/>
            <a:ext cx="3657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SELECTION CRITERIA</a:t>
            </a:r>
            <a:endParaRPr lang="en-US" sz="1200" dirty="0"/>
          </a:p>
        </p:txBody>
      </p:sp>
      <p:sp>
        <p:nvSpPr>
          <p:cNvPr id="19" name="Text 16"/>
          <p:cNvSpPr txBox="1"/>
          <p:nvPr/>
        </p:nvSpPr>
        <p:spPr>
          <a:xfrm>
            <a:off x="7680960" y="3611880"/>
            <a:ext cx="3657600" cy="17373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chemeClr val="bg1"/>
                </a:solidFill>
              </a:rPr>
              <a:t>Directly linked to a DockFlow component</a:t>
            </a:r>
            <a:endParaRPr lang="en-US" sz="1350" dirty="0"/>
          </a:p>
          <a:p>
            <a:pPr marL="203200" indent="-203200">
              <a:spcAft>
                <a:spcPts val="600"/>
              </a:spcAft>
              <a:buSzPct val="100000"/>
              <a:buChar char="•"/>
            </a:pPr>
            <a:r>
              <a:rPr lang="en-US" sz="1350" dirty="0">
                <a:solidFill>
                  <a:schemeClr val="bg1"/>
                </a:solidFill>
              </a:rPr>
              <a:t>Journal, conference or institutional source</a:t>
            </a:r>
            <a:endParaRPr lang="en-US" sz="1350" dirty="0"/>
          </a:p>
          <a:p>
            <a:pPr marL="203200" indent="-203200">
              <a:spcAft>
                <a:spcPts val="600"/>
              </a:spcAft>
              <a:buSzPct val="100000"/>
              <a:buChar char="•"/>
            </a:pPr>
            <a:r>
              <a:rPr lang="en-US" sz="1350" dirty="0">
                <a:solidFill>
                  <a:schemeClr val="bg1"/>
                </a:solidFill>
              </a:rPr>
              <a:t>Recent where possible, plus one foundational paper</a:t>
            </a:r>
            <a:endParaRPr lang="en-US" sz="1350" dirty="0"/>
          </a:p>
          <a:p>
            <a:pPr marL="203200" indent="-203200">
              <a:spcAft>
                <a:spcPts val="600"/>
              </a:spcAft>
              <a:buSzPct val="100000"/>
              <a:buChar char="•"/>
            </a:pPr>
            <a:r>
              <a:rPr lang="en-US" sz="1350" dirty="0">
                <a:solidFill>
                  <a:schemeClr val="bg1"/>
                </a:solidFill>
              </a:rPr>
              <a:t>Covers warehouse, database and messaging topics</a:t>
            </a:r>
            <a:endParaRPr lang="en-US" sz="1350" dirty="0"/>
          </a:p>
        </p:txBody>
      </p:sp>
      <p:sp>
        <p:nvSpPr>
          <p:cNvPr id="20" name="Text 17"/>
          <p:cNvSpPr txBox="1"/>
          <p:nvPr/>
        </p:nvSpPr>
        <p:spPr>
          <a:xfrm>
            <a:off x="7680960" y="5532120"/>
            <a:ext cx="3657600" cy="365760"/>
          </a:xfrm>
          <a:prstGeom prst="rect">
            <a:avLst/>
          </a:prstGeom>
          <a:noFill/>
          <a:ln/>
        </p:spPr>
        <p:txBody>
          <a:bodyPr wrap="square" lIns="0" tIns="0" rIns="0" bIns="0" rtlCol="0" anchor="ctr"/>
          <a:lstStyle/>
          <a:p>
            <a:pPr indent="0" marL="0">
              <a:buNone/>
            </a:pPr>
            <a:r>
              <a:rPr lang="en-US" sz="1250" b="1" dirty="0">
                <a:solidFill>
                  <a:schemeClr val="accent1"/>
                </a:solidFill>
              </a:rPr>
              <a:t>Journal / conference: 5   |   Preprint / thesis: 3</a:t>
            </a:r>
            <a:endParaRPr lang="en-US" sz="12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2  ·  DEPTH &amp; QUALITY OF LITERATURE REVIEW</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Warehouse systems and SQL vs NoSQL</a:t>
            </a:r>
            <a:endParaRPr lang="en-US" sz="3200" dirty="0"/>
          </a:p>
        </p:txBody>
      </p:sp>
      <p:sp>
        <p:nvSpPr>
          <p:cNvPr id="6" name="Source [2]"/>
          <p:cNvSpPr/>
          <p:nvPr/>
        </p:nvSpPr>
        <p:spPr>
          <a:xfrm>
            <a:off x="548640" y="1508760"/>
            <a:ext cx="5440680" cy="2240280"/>
          </a:xfrm>
          <a:prstGeom prst="roundRect">
            <a:avLst>
              <a:gd name="adj" fmla="val 4082"/>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7" name="Ref pill [2]"/>
          <p:cNvSpPr/>
          <p:nvPr/>
        </p:nvSpPr>
        <p:spPr>
          <a:xfrm>
            <a:off x="822960" y="1709928"/>
            <a:ext cx="548640" cy="310896"/>
          </a:xfrm>
          <a:prstGeom prst="roundRect">
            <a:avLst>
              <a:gd name="adj" fmla="val 50000"/>
            </a:avLst>
          </a:prstGeom>
          <a:solidFill>
            <a:schemeClr val="accent1"/>
          </a:solidFill>
          <a:ln w="12700">
            <a:solidFill>
              <a:schemeClr val="accent1"/>
            </a:solidFill>
            <a:prstDash val="solid"/>
          </a:ln>
        </p:spPr>
      </p:sp>
      <p:sp>
        <p:nvSpPr>
          <p:cNvPr id="8" name="Text 6"/>
          <p:cNvSpPr txBox="1"/>
          <p:nvPr/>
        </p:nvSpPr>
        <p:spPr>
          <a:xfrm>
            <a:off x="822960" y="1709928"/>
            <a:ext cx="548640" cy="310896"/>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9" name="Text 7"/>
          <p:cNvSpPr txBox="1"/>
          <p:nvPr/>
        </p:nvSpPr>
        <p:spPr>
          <a:xfrm>
            <a:off x="1554480" y="1691640"/>
            <a:ext cx="4206240" cy="347472"/>
          </a:xfrm>
          <a:prstGeom prst="rect">
            <a:avLst/>
          </a:prstGeom>
          <a:noFill/>
          <a:ln/>
        </p:spPr>
        <p:txBody>
          <a:bodyPr wrap="square" lIns="0" tIns="0" rIns="0" bIns="0" rtlCol="0" anchor="ctr"/>
          <a:lstStyle/>
          <a:p>
            <a:pPr indent="0" marL="0">
              <a:buNone/>
            </a:pPr>
            <a:r>
              <a:rPr lang="en-US" sz="1400" b="1" dirty="0">
                <a:solidFill>
                  <a:schemeClr val="tx1"/>
                </a:solidFill>
              </a:rPr>
              <a:t>Redżeb (2024), Springer</a:t>
            </a:r>
            <a:endParaRPr lang="en-US" sz="1400" dirty="0"/>
          </a:p>
        </p:txBody>
      </p:sp>
      <p:sp>
        <p:nvSpPr>
          <p:cNvPr id="10" name="Text 8"/>
          <p:cNvSpPr txBox="1"/>
          <p:nvPr/>
        </p:nvSpPr>
        <p:spPr>
          <a:xfrm>
            <a:off x="822960" y="216712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STUDIED</a:t>
            </a:r>
            <a:endParaRPr lang="en-US" sz="1050" dirty="0"/>
          </a:p>
        </p:txBody>
      </p:sp>
      <p:sp>
        <p:nvSpPr>
          <p:cNvPr id="11" name="Text 9"/>
          <p:cNvSpPr txBox="1"/>
          <p:nvPr/>
        </p:nvSpPr>
        <p:spPr>
          <a:xfrm>
            <a:off x="822960" y="2395728"/>
            <a:ext cx="4892040" cy="457200"/>
          </a:xfrm>
          <a:prstGeom prst="rect">
            <a:avLst/>
          </a:prstGeom>
          <a:noFill/>
          <a:ln/>
        </p:spPr>
        <p:txBody>
          <a:bodyPr wrap="square" lIns="0" tIns="0" rIns="0" bIns="0" rtlCol="0" anchor="t"/>
          <a:lstStyle/>
          <a:p>
            <a:pPr indent="0" marL="0">
              <a:buNone/>
            </a:pPr>
            <a:r>
              <a:rPr lang="en-US" sz="1250" dirty="0">
                <a:solidFill>
                  <a:schemeClr val="accent3"/>
                </a:solidFill>
              </a:rPr>
              <a:t>Innovative warehouse management methods for omni-channel retail.</a:t>
            </a:r>
            <a:endParaRPr lang="en-US" sz="1250" dirty="0"/>
          </a:p>
        </p:txBody>
      </p:sp>
      <p:sp>
        <p:nvSpPr>
          <p:cNvPr id="12" name="Text 10"/>
          <p:cNvSpPr txBox="1"/>
          <p:nvPr/>
        </p:nvSpPr>
        <p:spPr>
          <a:xfrm>
            <a:off x="822960" y="289864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FOUND</a:t>
            </a:r>
            <a:endParaRPr lang="en-US" sz="1050" dirty="0"/>
          </a:p>
        </p:txBody>
      </p:sp>
      <p:sp>
        <p:nvSpPr>
          <p:cNvPr id="13" name="Text 11"/>
          <p:cNvSpPr txBox="1"/>
          <p:nvPr/>
        </p:nvSpPr>
        <p:spPr>
          <a:xfrm>
            <a:off x="822960" y="3127248"/>
            <a:ext cx="4892040" cy="502920"/>
          </a:xfrm>
          <a:prstGeom prst="rect">
            <a:avLst/>
          </a:prstGeom>
          <a:noFill/>
          <a:ln/>
        </p:spPr>
        <p:txBody>
          <a:bodyPr wrap="square" lIns="0" tIns="0" rIns="0" bIns="0" rtlCol="0" anchor="t"/>
          <a:lstStyle/>
          <a:p>
            <a:pPr indent="0" marL="0">
              <a:buNone/>
            </a:pPr>
            <a:r>
              <a:rPr lang="en-US" sz="1250" dirty="0">
                <a:solidFill>
                  <a:schemeClr val="tx1"/>
                </a:solidFill>
              </a:rPr>
              <a:t>Covers adapting warehouse operations, plus IoT and RFID in warehouse systems.</a:t>
            </a:r>
            <a:endParaRPr lang="en-US" sz="1250" dirty="0"/>
          </a:p>
        </p:txBody>
      </p:sp>
      <p:sp>
        <p:nvSpPr>
          <p:cNvPr id="14" name="Source [3]"/>
          <p:cNvSpPr/>
          <p:nvPr/>
        </p:nvSpPr>
        <p:spPr>
          <a:xfrm>
            <a:off x="6172200" y="1508760"/>
            <a:ext cx="5440680" cy="2240280"/>
          </a:xfrm>
          <a:prstGeom prst="roundRect">
            <a:avLst>
              <a:gd name="adj" fmla="val 4082"/>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5" name="Ref pill [3]"/>
          <p:cNvSpPr/>
          <p:nvPr/>
        </p:nvSpPr>
        <p:spPr>
          <a:xfrm>
            <a:off x="6446520" y="1709928"/>
            <a:ext cx="548640" cy="310896"/>
          </a:xfrm>
          <a:prstGeom prst="roundRect">
            <a:avLst>
              <a:gd name="adj" fmla="val 50000"/>
            </a:avLst>
          </a:prstGeom>
          <a:solidFill>
            <a:schemeClr val="accent1"/>
          </a:solidFill>
          <a:ln w="12700">
            <a:solidFill>
              <a:schemeClr val="accent1"/>
            </a:solidFill>
            <a:prstDash val="solid"/>
          </a:ln>
        </p:spPr>
      </p:sp>
      <p:sp>
        <p:nvSpPr>
          <p:cNvPr id="16" name="Text 14"/>
          <p:cNvSpPr txBox="1"/>
          <p:nvPr/>
        </p:nvSpPr>
        <p:spPr>
          <a:xfrm>
            <a:off x="6446520" y="1709928"/>
            <a:ext cx="548640" cy="310896"/>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7" name="Text 15"/>
          <p:cNvSpPr txBox="1"/>
          <p:nvPr/>
        </p:nvSpPr>
        <p:spPr>
          <a:xfrm>
            <a:off x="7178040" y="1691640"/>
            <a:ext cx="4206240" cy="347472"/>
          </a:xfrm>
          <a:prstGeom prst="rect">
            <a:avLst/>
          </a:prstGeom>
          <a:noFill/>
          <a:ln/>
        </p:spPr>
        <p:txBody>
          <a:bodyPr wrap="square" lIns="0" tIns="0" rIns="0" bIns="0" rtlCol="0" anchor="ctr"/>
          <a:lstStyle/>
          <a:p>
            <a:pPr indent="0" marL="0">
              <a:buNone/>
            </a:pPr>
            <a:r>
              <a:rPr lang="en-US" sz="1400" b="1" dirty="0">
                <a:solidFill>
                  <a:schemeClr val="tx1"/>
                </a:solidFill>
              </a:rPr>
              <a:t>Persson, Chalmers bachelor thesis</a:t>
            </a:r>
            <a:endParaRPr lang="en-US" sz="1400" dirty="0"/>
          </a:p>
        </p:txBody>
      </p:sp>
      <p:sp>
        <p:nvSpPr>
          <p:cNvPr id="18" name="Text 16"/>
          <p:cNvSpPr txBox="1"/>
          <p:nvPr/>
        </p:nvSpPr>
        <p:spPr>
          <a:xfrm>
            <a:off x="6446520" y="216712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STUDIED</a:t>
            </a:r>
            <a:endParaRPr lang="en-US" sz="1050" dirty="0"/>
          </a:p>
        </p:txBody>
      </p:sp>
      <p:sp>
        <p:nvSpPr>
          <p:cNvPr id="19" name="Text 17"/>
          <p:cNvSpPr txBox="1"/>
          <p:nvPr/>
        </p:nvSpPr>
        <p:spPr>
          <a:xfrm>
            <a:off x="6446520" y="2395728"/>
            <a:ext cx="4892040" cy="457200"/>
          </a:xfrm>
          <a:prstGeom prst="rect">
            <a:avLst/>
          </a:prstGeom>
          <a:noFill/>
          <a:ln/>
        </p:spPr>
        <p:txBody>
          <a:bodyPr wrap="square" lIns="0" tIns="0" rIns="0" bIns="0" rtlCol="0" anchor="t"/>
          <a:lstStyle/>
          <a:p>
            <a:pPr indent="0" marL="0">
              <a:buNone/>
            </a:pPr>
            <a:r>
              <a:rPr lang="en-US" sz="1250" dirty="0">
                <a:solidFill>
                  <a:schemeClr val="accent3"/>
                </a:solidFill>
              </a:rPr>
              <a:t>How warehouse management systems improve logistics, through a systematic literature review.</a:t>
            </a:r>
            <a:endParaRPr lang="en-US" sz="1250" dirty="0"/>
          </a:p>
        </p:txBody>
      </p:sp>
      <p:sp>
        <p:nvSpPr>
          <p:cNvPr id="20" name="Text 18"/>
          <p:cNvSpPr txBox="1"/>
          <p:nvPr/>
        </p:nvSpPr>
        <p:spPr>
          <a:xfrm>
            <a:off x="6446520" y="289864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FOUND</a:t>
            </a:r>
            <a:endParaRPr lang="en-US" sz="1050" dirty="0"/>
          </a:p>
        </p:txBody>
      </p:sp>
      <p:sp>
        <p:nvSpPr>
          <p:cNvPr id="21" name="Text 19"/>
          <p:cNvSpPr txBox="1"/>
          <p:nvPr/>
        </p:nvSpPr>
        <p:spPr>
          <a:xfrm>
            <a:off x="6446520" y="3127248"/>
            <a:ext cx="4892040" cy="502920"/>
          </a:xfrm>
          <a:prstGeom prst="rect">
            <a:avLst/>
          </a:prstGeom>
          <a:noFill/>
          <a:ln/>
        </p:spPr>
        <p:txBody>
          <a:bodyPr wrap="square" lIns="0" tIns="0" rIns="0" bIns="0" rtlCol="0" anchor="t"/>
          <a:lstStyle/>
          <a:p>
            <a:pPr indent="0" marL="0">
              <a:buNone/>
            </a:pPr>
            <a:r>
              <a:rPr lang="en-US" sz="1250" dirty="0">
                <a:solidFill>
                  <a:schemeClr val="tx1"/>
                </a:solidFill>
              </a:rPr>
              <a:t>WMS simplify processes and use real-time information; integration is a key challenge.</a:t>
            </a:r>
            <a:endParaRPr lang="en-US" sz="1250" dirty="0"/>
          </a:p>
        </p:txBody>
      </p:sp>
      <p:sp>
        <p:nvSpPr>
          <p:cNvPr id="22" name="Source [6]"/>
          <p:cNvSpPr/>
          <p:nvPr/>
        </p:nvSpPr>
        <p:spPr>
          <a:xfrm>
            <a:off x="548640" y="3931920"/>
            <a:ext cx="5440680" cy="2240280"/>
          </a:xfrm>
          <a:prstGeom prst="roundRect">
            <a:avLst>
              <a:gd name="adj" fmla="val 4082"/>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3" name="Ref pill [6]"/>
          <p:cNvSpPr/>
          <p:nvPr/>
        </p:nvSpPr>
        <p:spPr>
          <a:xfrm>
            <a:off x="822960" y="4133088"/>
            <a:ext cx="548640" cy="310896"/>
          </a:xfrm>
          <a:prstGeom prst="roundRect">
            <a:avLst>
              <a:gd name="adj" fmla="val 50000"/>
            </a:avLst>
          </a:prstGeom>
          <a:solidFill>
            <a:schemeClr val="accent1"/>
          </a:solidFill>
          <a:ln w="12700">
            <a:solidFill>
              <a:schemeClr val="accent1"/>
            </a:solidFill>
            <a:prstDash val="solid"/>
          </a:ln>
        </p:spPr>
      </p:sp>
      <p:sp>
        <p:nvSpPr>
          <p:cNvPr id="24" name="Text 22"/>
          <p:cNvSpPr txBox="1"/>
          <p:nvPr/>
        </p:nvSpPr>
        <p:spPr>
          <a:xfrm>
            <a:off x="822960" y="4133088"/>
            <a:ext cx="548640" cy="310896"/>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25" name="Text 23"/>
          <p:cNvSpPr txBox="1"/>
          <p:nvPr/>
        </p:nvSpPr>
        <p:spPr>
          <a:xfrm>
            <a:off x="1554480" y="4114800"/>
            <a:ext cx="4206240" cy="347472"/>
          </a:xfrm>
          <a:prstGeom prst="rect">
            <a:avLst/>
          </a:prstGeom>
          <a:noFill/>
          <a:ln/>
        </p:spPr>
        <p:txBody>
          <a:bodyPr wrap="square" lIns="0" tIns="0" rIns="0" bIns="0" rtlCol="0" anchor="ctr"/>
          <a:lstStyle/>
          <a:p>
            <a:pPr indent="0" marL="0">
              <a:buNone/>
            </a:pPr>
            <a:r>
              <a:rPr lang="en-US" sz="1400" b="1" dirty="0">
                <a:solidFill>
                  <a:schemeClr val="tx1"/>
                </a:solidFill>
              </a:rPr>
              <a:t>Future Internet (2026)</a:t>
            </a:r>
            <a:endParaRPr lang="en-US" sz="1400" dirty="0"/>
          </a:p>
        </p:txBody>
      </p:sp>
      <p:sp>
        <p:nvSpPr>
          <p:cNvPr id="26" name="Text 24"/>
          <p:cNvSpPr txBox="1"/>
          <p:nvPr/>
        </p:nvSpPr>
        <p:spPr>
          <a:xfrm>
            <a:off x="822960" y="459028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STUDIED</a:t>
            </a:r>
            <a:endParaRPr lang="en-US" sz="1050" dirty="0"/>
          </a:p>
        </p:txBody>
      </p:sp>
      <p:sp>
        <p:nvSpPr>
          <p:cNvPr id="27" name="Text 25"/>
          <p:cNvSpPr txBox="1"/>
          <p:nvPr/>
        </p:nvSpPr>
        <p:spPr>
          <a:xfrm>
            <a:off x="822960" y="4818888"/>
            <a:ext cx="4892040" cy="457200"/>
          </a:xfrm>
          <a:prstGeom prst="rect">
            <a:avLst/>
          </a:prstGeom>
          <a:noFill/>
          <a:ln/>
        </p:spPr>
        <p:txBody>
          <a:bodyPr wrap="square" lIns="0" tIns="0" rIns="0" bIns="0" rtlCol="0" anchor="t"/>
          <a:lstStyle/>
          <a:p>
            <a:pPr indent="0" marL="0">
              <a:buNone/>
            </a:pPr>
            <a:r>
              <a:rPr lang="en-US" sz="1250" dirty="0">
                <a:solidFill>
                  <a:schemeClr val="accent3"/>
                </a:solidFill>
              </a:rPr>
              <a:t>SQL (indexed and not) vs a document database under read, write and mixed loads.</a:t>
            </a:r>
            <a:endParaRPr lang="en-US" sz="1250" dirty="0"/>
          </a:p>
        </p:txBody>
      </p:sp>
      <p:sp>
        <p:nvSpPr>
          <p:cNvPr id="28" name="Text 26"/>
          <p:cNvSpPr txBox="1"/>
          <p:nvPr/>
        </p:nvSpPr>
        <p:spPr>
          <a:xfrm>
            <a:off x="822960" y="532180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FOUND</a:t>
            </a:r>
            <a:endParaRPr lang="en-US" sz="1050" dirty="0"/>
          </a:p>
        </p:txBody>
      </p:sp>
      <p:sp>
        <p:nvSpPr>
          <p:cNvPr id="29" name="Text 27"/>
          <p:cNvSpPr txBox="1"/>
          <p:nvPr/>
        </p:nvSpPr>
        <p:spPr>
          <a:xfrm>
            <a:off x="822960" y="5550408"/>
            <a:ext cx="4892040" cy="502920"/>
          </a:xfrm>
          <a:prstGeom prst="rect">
            <a:avLst/>
          </a:prstGeom>
          <a:noFill/>
          <a:ln/>
        </p:spPr>
        <p:txBody>
          <a:bodyPr wrap="square" lIns="0" tIns="0" rIns="0" bIns="0" rtlCol="0" anchor="t"/>
          <a:lstStyle/>
          <a:p>
            <a:pPr indent="0" marL="0">
              <a:buNone/>
            </a:pPr>
            <a:r>
              <a:rPr lang="en-US" sz="1250" dirty="0">
                <a:solidFill>
                  <a:schemeClr val="tx1"/>
                </a:solidFill>
              </a:rPr>
              <a:t>Indexing matters for reads; the document store did better on write-heavy loads.</a:t>
            </a:r>
            <a:endParaRPr lang="en-US" sz="1250" dirty="0"/>
          </a:p>
        </p:txBody>
      </p:sp>
      <p:sp>
        <p:nvSpPr>
          <p:cNvPr id="30" name="Source [7]"/>
          <p:cNvSpPr/>
          <p:nvPr/>
        </p:nvSpPr>
        <p:spPr>
          <a:xfrm>
            <a:off x="6172200" y="3931920"/>
            <a:ext cx="5440680" cy="2240280"/>
          </a:xfrm>
          <a:prstGeom prst="roundRect">
            <a:avLst>
              <a:gd name="adj" fmla="val 4082"/>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31" name="Ref pill [7]"/>
          <p:cNvSpPr/>
          <p:nvPr/>
        </p:nvSpPr>
        <p:spPr>
          <a:xfrm>
            <a:off x="6446520" y="4133088"/>
            <a:ext cx="548640" cy="310896"/>
          </a:xfrm>
          <a:prstGeom prst="roundRect">
            <a:avLst>
              <a:gd name="adj" fmla="val 50000"/>
            </a:avLst>
          </a:prstGeom>
          <a:solidFill>
            <a:schemeClr val="accent1"/>
          </a:solidFill>
          <a:ln w="12700">
            <a:solidFill>
              <a:schemeClr val="accent1"/>
            </a:solidFill>
            <a:prstDash val="solid"/>
          </a:ln>
        </p:spPr>
      </p:sp>
      <p:sp>
        <p:nvSpPr>
          <p:cNvPr id="32" name="Text 30"/>
          <p:cNvSpPr txBox="1"/>
          <p:nvPr/>
        </p:nvSpPr>
        <p:spPr>
          <a:xfrm>
            <a:off x="6446520" y="4133088"/>
            <a:ext cx="548640" cy="310896"/>
          </a:xfrm>
          <a:prstGeom prst="rect">
            <a:avLst/>
          </a:prstGeom>
          <a:no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33" name="Text 31"/>
          <p:cNvSpPr txBox="1"/>
          <p:nvPr/>
        </p:nvSpPr>
        <p:spPr>
          <a:xfrm>
            <a:off x="7178040" y="4114800"/>
            <a:ext cx="4206240" cy="347472"/>
          </a:xfrm>
          <a:prstGeom prst="rect">
            <a:avLst/>
          </a:prstGeom>
          <a:noFill/>
          <a:ln/>
        </p:spPr>
        <p:txBody>
          <a:bodyPr wrap="square" lIns="0" tIns="0" rIns="0" bIns="0" rtlCol="0" anchor="ctr"/>
          <a:lstStyle/>
          <a:p>
            <a:pPr indent="0" marL="0">
              <a:buNone/>
            </a:pPr>
            <a:r>
              <a:rPr lang="en-US" sz="1400" b="1" dirty="0">
                <a:solidFill>
                  <a:schemeClr val="tx1"/>
                </a:solidFill>
              </a:rPr>
              <a:t>EasyChair Preprint 4475 (2020)</a:t>
            </a:r>
            <a:endParaRPr lang="en-US" sz="1400" dirty="0"/>
          </a:p>
        </p:txBody>
      </p:sp>
      <p:sp>
        <p:nvSpPr>
          <p:cNvPr id="34" name="Text 32"/>
          <p:cNvSpPr txBox="1"/>
          <p:nvPr/>
        </p:nvSpPr>
        <p:spPr>
          <a:xfrm>
            <a:off x="6446520" y="459028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STUDIED</a:t>
            </a:r>
            <a:endParaRPr lang="en-US" sz="1050" dirty="0"/>
          </a:p>
        </p:txBody>
      </p:sp>
      <p:sp>
        <p:nvSpPr>
          <p:cNvPr id="35" name="Text 33"/>
          <p:cNvSpPr txBox="1"/>
          <p:nvPr/>
        </p:nvSpPr>
        <p:spPr>
          <a:xfrm>
            <a:off x="6446520" y="4818888"/>
            <a:ext cx="4892040" cy="457200"/>
          </a:xfrm>
          <a:prstGeom prst="rect">
            <a:avLst/>
          </a:prstGeom>
          <a:noFill/>
          <a:ln/>
        </p:spPr>
        <p:txBody>
          <a:bodyPr wrap="square" lIns="0" tIns="0" rIns="0" bIns="0" rtlCol="0" anchor="t"/>
          <a:lstStyle/>
          <a:p>
            <a:pPr indent="0" marL="0">
              <a:buNone/>
            </a:pPr>
            <a:r>
              <a:rPr lang="en-US" sz="1250" dirty="0">
                <a:solidFill>
                  <a:schemeClr val="accent3"/>
                </a:solidFill>
              </a:rPr>
              <a:t>MongoDB vs MySQL on insert, read, update and delete operations.</a:t>
            </a:r>
            <a:endParaRPr lang="en-US" sz="1250" dirty="0"/>
          </a:p>
        </p:txBody>
      </p:sp>
      <p:sp>
        <p:nvSpPr>
          <p:cNvPr id="36" name="Text 34"/>
          <p:cNvSpPr txBox="1"/>
          <p:nvPr/>
        </p:nvSpPr>
        <p:spPr>
          <a:xfrm>
            <a:off x="6446520" y="532180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FOUND</a:t>
            </a:r>
            <a:endParaRPr lang="en-US" sz="1050" dirty="0"/>
          </a:p>
        </p:txBody>
      </p:sp>
      <p:sp>
        <p:nvSpPr>
          <p:cNvPr id="37" name="Text 35"/>
          <p:cNvSpPr txBox="1"/>
          <p:nvPr/>
        </p:nvSpPr>
        <p:spPr>
          <a:xfrm>
            <a:off x="6446520" y="5550408"/>
            <a:ext cx="4892040" cy="502920"/>
          </a:xfrm>
          <a:prstGeom prst="rect">
            <a:avLst/>
          </a:prstGeom>
          <a:noFill/>
          <a:ln/>
        </p:spPr>
        <p:txBody>
          <a:bodyPr wrap="square" lIns="0" tIns="0" rIns="0" bIns="0" rtlCol="0" anchor="t"/>
          <a:lstStyle/>
          <a:p>
            <a:pPr indent="0" marL="0">
              <a:buNone/>
            </a:pPr>
            <a:r>
              <a:rPr lang="en-US" sz="1250" dirty="0">
                <a:solidFill>
                  <a:schemeClr val="tx1"/>
                </a:solidFill>
              </a:rPr>
              <a:t>MongoDB was faster on inserts, updates and deletes; reads were close. Authors favoured MongoDB.</a:t>
            </a:r>
            <a:endParaRPr lang="en-US" sz="12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2  ·  DEPTH &amp; QUALITY OF LITERATURE REVIEW</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Polyglot persistence and event streaming</a:t>
            </a:r>
            <a:endParaRPr lang="en-US" sz="3200" dirty="0"/>
          </a:p>
        </p:txBody>
      </p:sp>
      <p:sp>
        <p:nvSpPr>
          <p:cNvPr id="6" name="Source [4]"/>
          <p:cNvSpPr/>
          <p:nvPr/>
        </p:nvSpPr>
        <p:spPr>
          <a:xfrm>
            <a:off x="548640" y="1508760"/>
            <a:ext cx="5440680" cy="2240280"/>
          </a:xfrm>
          <a:prstGeom prst="roundRect">
            <a:avLst>
              <a:gd name="adj" fmla="val 4082"/>
            </a:avLst>
          </a:prstGeom>
          <a:solidFill>
            <a:schemeClr val="tx2"/>
          </a:solidFill>
          <a:ln w="12700">
            <a:solidFill>
              <a:schemeClr val="tx2"/>
            </a:solidFill>
            <a:prstDash val="solid"/>
          </a:ln>
        </p:spPr>
      </p:sp>
      <p:sp>
        <p:nvSpPr>
          <p:cNvPr id="7" name="Ref pill [4]"/>
          <p:cNvSpPr/>
          <p:nvPr/>
        </p:nvSpPr>
        <p:spPr>
          <a:xfrm>
            <a:off x="822960" y="1709928"/>
            <a:ext cx="548640" cy="310896"/>
          </a:xfrm>
          <a:prstGeom prst="roundRect">
            <a:avLst>
              <a:gd name="adj" fmla="val 50000"/>
            </a:avLst>
          </a:prstGeom>
          <a:solidFill>
            <a:schemeClr val="accent1"/>
          </a:solidFill>
          <a:ln w="12700">
            <a:solidFill>
              <a:schemeClr val="accent1"/>
            </a:solidFill>
            <a:prstDash val="solid"/>
          </a:ln>
        </p:spPr>
      </p:sp>
      <p:sp>
        <p:nvSpPr>
          <p:cNvPr id="8" name="Text 6"/>
          <p:cNvSpPr txBox="1"/>
          <p:nvPr/>
        </p:nvSpPr>
        <p:spPr>
          <a:xfrm>
            <a:off x="822960" y="1709928"/>
            <a:ext cx="548640" cy="310896"/>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9" name="Text 7"/>
          <p:cNvSpPr txBox="1"/>
          <p:nvPr/>
        </p:nvSpPr>
        <p:spPr>
          <a:xfrm>
            <a:off x="1554480" y="1691640"/>
            <a:ext cx="4206240" cy="347472"/>
          </a:xfrm>
          <a:prstGeom prst="rect">
            <a:avLst/>
          </a:prstGeom>
          <a:noFill/>
          <a:ln/>
        </p:spPr>
        <p:txBody>
          <a:bodyPr wrap="square" lIns="0" tIns="0" rIns="0" bIns="0" rtlCol="0" anchor="ctr"/>
          <a:lstStyle/>
          <a:p>
            <a:pPr indent="0" marL="0">
              <a:buNone/>
            </a:pPr>
            <a:r>
              <a:rPr lang="en-US" sz="1400" b="1" dirty="0">
                <a:solidFill>
                  <a:schemeClr val="bg1"/>
                </a:solidFill>
              </a:rPr>
              <a:t>Kazanavičius et al. (2022), Applied Sciences</a:t>
            </a:r>
            <a:endParaRPr lang="en-US" sz="1400" dirty="0"/>
          </a:p>
        </p:txBody>
      </p:sp>
      <p:sp>
        <p:nvSpPr>
          <p:cNvPr id="10" name="Text 8"/>
          <p:cNvSpPr txBox="1"/>
          <p:nvPr/>
        </p:nvSpPr>
        <p:spPr>
          <a:xfrm>
            <a:off x="822960" y="216712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STUDIED</a:t>
            </a:r>
            <a:endParaRPr lang="en-US" sz="1050" dirty="0"/>
          </a:p>
        </p:txBody>
      </p:sp>
      <p:sp>
        <p:nvSpPr>
          <p:cNvPr id="11" name="Text 9"/>
          <p:cNvSpPr txBox="1"/>
          <p:nvPr/>
        </p:nvSpPr>
        <p:spPr>
          <a:xfrm>
            <a:off x="822960" y="2395728"/>
            <a:ext cx="4892040" cy="457200"/>
          </a:xfrm>
          <a:prstGeom prst="rect">
            <a:avLst/>
          </a:prstGeom>
          <a:noFill/>
          <a:ln/>
        </p:spPr>
        <p:txBody>
          <a:bodyPr wrap="square" lIns="0" tIns="0" rIns="0" bIns="0" rtlCol="0" anchor="t"/>
          <a:lstStyle/>
          <a:p>
            <a:pPr indent="0" marL="0">
              <a:buNone/>
            </a:pPr>
            <a:r>
              <a:rPr lang="en-US" sz="1250" dirty="0">
                <a:solidFill>
                  <a:schemeClr val="accent4"/>
                </a:solidFill>
              </a:rPr>
              <a:t>Moving a mainframe database to multi-model polyglot persistence in microservices.</a:t>
            </a:r>
            <a:endParaRPr lang="en-US" sz="1250" dirty="0"/>
          </a:p>
        </p:txBody>
      </p:sp>
      <p:sp>
        <p:nvSpPr>
          <p:cNvPr id="12" name="Text 10"/>
          <p:cNvSpPr txBox="1"/>
          <p:nvPr/>
        </p:nvSpPr>
        <p:spPr>
          <a:xfrm>
            <a:off x="822960" y="289864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FOUND</a:t>
            </a:r>
            <a:endParaRPr lang="en-US" sz="1050" dirty="0"/>
          </a:p>
        </p:txBody>
      </p:sp>
      <p:sp>
        <p:nvSpPr>
          <p:cNvPr id="13" name="Text 11"/>
          <p:cNvSpPr txBox="1"/>
          <p:nvPr/>
        </p:nvSpPr>
        <p:spPr>
          <a:xfrm>
            <a:off x="822960" y="3127248"/>
            <a:ext cx="4892040" cy="502920"/>
          </a:xfrm>
          <a:prstGeom prst="rect">
            <a:avLst/>
          </a:prstGeom>
          <a:noFill/>
          <a:ln/>
        </p:spPr>
        <p:txBody>
          <a:bodyPr wrap="square" lIns="0" tIns="0" rIns="0" bIns="0" rtlCol="0" anchor="t"/>
          <a:lstStyle/>
          <a:p>
            <a:pPr indent="0" marL="0">
              <a:buNone/>
            </a:pPr>
            <a:r>
              <a:rPr lang="en-US" sz="1250" dirty="0">
                <a:solidFill>
                  <a:schemeClr val="bg1"/>
                </a:solidFill>
              </a:rPr>
              <a:t>Proposed a migration approach; compared data quality using ISO/IEC 25012.</a:t>
            </a:r>
            <a:endParaRPr lang="en-US" sz="1250" dirty="0"/>
          </a:p>
        </p:txBody>
      </p:sp>
      <p:sp>
        <p:nvSpPr>
          <p:cNvPr id="14" name="Source [5]"/>
          <p:cNvSpPr/>
          <p:nvPr/>
        </p:nvSpPr>
        <p:spPr>
          <a:xfrm>
            <a:off x="6172200" y="1508760"/>
            <a:ext cx="5440680" cy="2240280"/>
          </a:xfrm>
          <a:prstGeom prst="roundRect">
            <a:avLst>
              <a:gd name="adj" fmla="val 4082"/>
            </a:avLst>
          </a:prstGeom>
          <a:solidFill>
            <a:schemeClr val="tx2"/>
          </a:solidFill>
          <a:ln w="12700">
            <a:solidFill>
              <a:schemeClr val="tx2"/>
            </a:solidFill>
            <a:prstDash val="solid"/>
          </a:ln>
        </p:spPr>
      </p:sp>
      <p:sp>
        <p:nvSpPr>
          <p:cNvPr id="15" name="Ref pill [5]"/>
          <p:cNvSpPr/>
          <p:nvPr/>
        </p:nvSpPr>
        <p:spPr>
          <a:xfrm>
            <a:off x="6446520" y="1709928"/>
            <a:ext cx="548640" cy="310896"/>
          </a:xfrm>
          <a:prstGeom prst="roundRect">
            <a:avLst>
              <a:gd name="adj" fmla="val 50000"/>
            </a:avLst>
          </a:prstGeom>
          <a:solidFill>
            <a:schemeClr val="accent1"/>
          </a:solidFill>
          <a:ln w="12700">
            <a:solidFill>
              <a:schemeClr val="accent1"/>
            </a:solidFill>
            <a:prstDash val="solid"/>
          </a:ln>
        </p:spPr>
      </p:sp>
      <p:sp>
        <p:nvSpPr>
          <p:cNvPr id="16" name="Text 14"/>
          <p:cNvSpPr txBox="1"/>
          <p:nvPr/>
        </p:nvSpPr>
        <p:spPr>
          <a:xfrm>
            <a:off x="6446520" y="1709928"/>
            <a:ext cx="548640" cy="310896"/>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17" name="Text 15"/>
          <p:cNvSpPr txBox="1"/>
          <p:nvPr/>
        </p:nvSpPr>
        <p:spPr>
          <a:xfrm>
            <a:off x="7178040" y="1691640"/>
            <a:ext cx="4206240" cy="347472"/>
          </a:xfrm>
          <a:prstGeom prst="rect">
            <a:avLst/>
          </a:prstGeom>
          <a:noFill/>
          <a:ln/>
        </p:spPr>
        <p:txBody>
          <a:bodyPr wrap="square" lIns="0" tIns="0" rIns="0" bIns="0" rtlCol="0" anchor="ctr"/>
          <a:lstStyle/>
          <a:p>
            <a:pPr indent="0" marL="0">
              <a:buNone/>
            </a:pPr>
            <a:r>
              <a:rPr lang="en-US" sz="1400" b="1" dirty="0">
                <a:solidFill>
                  <a:schemeClr val="bg1"/>
                </a:solidFill>
              </a:rPr>
              <a:t>Halili et al. (2025), arXiv</a:t>
            </a:r>
            <a:endParaRPr lang="en-US" sz="1400" dirty="0"/>
          </a:p>
        </p:txBody>
      </p:sp>
      <p:sp>
        <p:nvSpPr>
          <p:cNvPr id="18" name="Text 16"/>
          <p:cNvSpPr txBox="1"/>
          <p:nvPr/>
        </p:nvSpPr>
        <p:spPr>
          <a:xfrm>
            <a:off x="6446520" y="216712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STUDIED</a:t>
            </a:r>
            <a:endParaRPr lang="en-US" sz="1050" dirty="0"/>
          </a:p>
        </p:txBody>
      </p:sp>
      <p:sp>
        <p:nvSpPr>
          <p:cNvPr id="19" name="Text 17"/>
          <p:cNvSpPr txBox="1"/>
          <p:nvPr/>
        </p:nvSpPr>
        <p:spPr>
          <a:xfrm>
            <a:off x="6446520" y="2395728"/>
            <a:ext cx="4892040" cy="457200"/>
          </a:xfrm>
          <a:prstGeom prst="rect">
            <a:avLst/>
          </a:prstGeom>
          <a:noFill/>
          <a:ln/>
        </p:spPr>
        <p:txBody>
          <a:bodyPr wrap="square" lIns="0" tIns="0" rIns="0" bIns="0" rtlCol="0" anchor="t"/>
          <a:lstStyle/>
          <a:p>
            <a:pPr indent="0" marL="0">
              <a:buNone/>
            </a:pPr>
            <a:r>
              <a:rPr lang="en-US" sz="1250" dirty="0">
                <a:solidFill>
                  <a:schemeClr val="accent4"/>
                </a:solidFill>
              </a:rPr>
              <a:t>Polyglot persistence in microservices across relational, document, key-value, column-family and graph databases.</a:t>
            </a:r>
            <a:endParaRPr lang="en-US" sz="1250" dirty="0"/>
          </a:p>
        </p:txBody>
      </p:sp>
      <p:sp>
        <p:nvSpPr>
          <p:cNvPr id="20" name="Text 18"/>
          <p:cNvSpPr txBox="1"/>
          <p:nvPr/>
        </p:nvSpPr>
        <p:spPr>
          <a:xfrm>
            <a:off x="6446520" y="289864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FOUND</a:t>
            </a:r>
            <a:endParaRPr lang="en-US" sz="1050" dirty="0"/>
          </a:p>
        </p:txBody>
      </p:sp>
      <p:sp>
        <p:nvSpPr>
          <p:cNvPr id="21" name="Text 19"/>
          <p:cNvSpPr txBox="1"/>
          <p:nvPr/>
        </p:nvSpPr>
        <p:spPr>
          <a:xfrm>
            <a:off x="6446520" y="3127248"/>
            <a:ext cx="4892040" cy="502920"/>
          </a:xfrm>
          <a:prstGeom prst="rect">
            <a:avLst/>
          </a:prstGeom>
          <a:noFill/>
          <a:ln/>
        </p:spPr>
        <p:txBody>
          <a:bodyPr wrap="square" lIns="0" tIns="0" rIns="0" bIns="0" rtlCol="0" anchor="t"/>
          <a:lstStyle/>
          <a:p>
            <a:pPr indent="0" marL="0">
              <a:buNone/>
            </a:pPr>
            <a:r>
              <a:rPr lang="en-US" sz="1250" dirty="0">
                <a:solidFill>
                  <a:schemeClr val="bg1"/>
                </a:solidFill>
              </a:rPr>
              <a:t>More adaptability and domain fit, but more governance and operational complexity.</a:t>
            </a:r>
            <a:endParaRPr lang="en-US" sz="1250" dirty="0"/>
          </a:p>
        </p:txBody>
      </p:sp>
      <p:sp>
        <p:nvSpPr>
          <p:cNvPr id="22" name="Source [8]"/>
          <p:cNvSpPr/>
          <p:nvPr/>
        </p:nvSpPr>
        <p:spPr>
          <a:xfrm>
            <a:off x="548640" y="3931920"/>
            <a:ext cx="5440680" cy="2240280"/>
          </a:xfrm>
          <a:prstGeom prst="roundRect">
            <a:avLst>
              <a:gd name="adj" fmla="val 4082"/>
            </a:avLst>
          </a:prstGeom>
          <a:solidFill>
            <a:schemeClr val="tx2"/>
          </a:solidFill>
          <a:ln w="12700">
            <a:solidFill>
              <a:schemeClr val="tx2"/>
            </a:solidFill>
            <a:prstDash val="solid"/>
          </a:ln>
        </p:spPr>
      </p:sp>
      <p:sp>
        <p:nvSpPr>
          <p:cNvPr id="23" name="Ref pill [8]"/>
          <p:cNvSpPr/>
          <p:nvPr/>
        </p:nvSpPr>
        <p:spPr>
          <a:xfrm>
            <a:off x="822960" y="4133088"/>
            <a:ext cx="548640" cy="310896"/>
          </a:xfrm>
          <a:prstGeom prst="roundRect">
            <a:avLst>
              <a:gd name="adj" fmla="val 50000"/>
            </a:avLst>
          </a:prstGeom>
          <a:solidFill>
            <a:schemeClr val="accent1"/>
          </a:solidFill>
          <a:ln w="12700">
            <a:solidFill>
              <a:schemeClr val="accent1"/>
            </a:solidFill>
            <a:prstDash val="solid"/>
          </a:ln>
        </p:spPr>
      </p:sp>
      <p:sp>
        <p:nvSpPr>
          <p:cNvPr id="24" name="Text 22"/>
          <p:cNvSpPr txBox="1"/>
          <p:nvPr/>
        </p:nvSpPr>
        <p:spPr>
          <a:xfrm>
            <a:off x="822960" y="4133088"/>
            <a:ext cx="548640" cy="310896"/>
          </a:xfrm>
          <a:prstGeom prst="rect">
            <a:avLst/>
          </a:prstGeom>
          <a:noFill/>
          <a:ln/>
        </p:spPr>
        <p:txBody>
          <a:bodyPr wrap="square" lIns="0" tIns="0" rIns="0" bIns="0" rtlCol="0" anchor="ctr"/>
          <a:lstStyle/>
          <a:p>
            <a:pPr algn="ctr" indent="0" marL="0">
              <a:buNone/>
            </a:pPr>
            <a:r>
              <a:rPr lang="en-US" sz="1200" b="1" dirty="0">
                <a:solidFill>
                  <a:schemeClr val="tx1"/>
                </a:solidFill>
              </a:rPr>
              <a:t>[8]</a:t>
            </a:r>
            <a:endParaRPr lang="en-US" sz="1200" dirty="0"/>
          </a:p>
        </p:txBody>
      </p:sp>
      <p:sp>
        <p:nvSpPr>
          <p:cNvPr id="25" name="Text 23"/>
          <p:cNvSpPr txBox="1"/>
          <p:nvPr/>
        </p:nvSpPr>
        <p:spPr>
          <a:xfrm>
            <a:off x="1554480" y="4114800"/>
            <a:ext cx="4206240" cy="347472"/>
          </a:xfrm>
          <a:prstGeom prst="rect">
            <a:avLst/>
          </a:prstGeom>
          <a:noFill/>
          <a:ln/>
        </p:spPr>
        <p:txBody>
          <a:bodyPr wrap="square" lIns="0" tIns="0" rIns="0" bIns="0" rtlCol="0" anchor="ctr"/>
          <a:lstStyle/>
          <a:p>
            <a:pPr indent="0" marL="0">
              <a:buNone/>
            </a:pPr>
            <a:r>
              <a:rPr lang="en-US" sz="1400" b="1" dirty="0">
                <a:solidFill>
                  <a:schemeClr val="bg1"/>
                </a:solidFill>
              </a:rPr>
              <a:t>Pllana &amp; Krasniqi (2019), UBT Conference</a:t>
            </a:r>
            <a:endParaRPr lang="en-US" sz="1400" dirty="0"/>
          </a:p>
        </p:txBody>
      </p:sp>
      <p:sp>
        <p:nvSpPr>
          <p:cNvPr id="26" name="Text 24"/>
          <p:cNvSpPr txBox="1"/>
          <p:nvPr/>
        </p:nvSpPr>
        <p:spPr>
          <a:xfrm>
            <a:off x="822960" y="459028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STUDIED</a:t>
            </a:r>
            <a:endParaRPr lang="en-US" sz="1050" dirty="0"/>
          </a:p>
        </p:txBody>
      </p:sp>
      <p:sp>
        <p:nvSpPr>
          <p:cNvPr id="27" name="Text 25"/>
          <p:cNvSpPr txBox="1"/>
          <p:nvPr/>
        </p:nvSpPr>
        <p:spPr>
          <a:xfrm>
            <a:off x="822960" y="4818888"/>
            <a:ext cx="4892040" cy="457200"/>
          </a:xfrm>
          <a:prstGeom prst="rect">
            <a:avLst/>
          </a:prstGeom>
          <a:noFill/>
          <a:ln/>
        </p:spPr>
        <p:txBody>
          <a:bodyPr wrap="square" lIns="0" tIns="0" rIns="0" bIns="0" rtlCol="0" anchor="t"/>
          <a:lstStyle/>
          <a:p>
            <a:pPr indent="0" marL="0">
              <a:buNone/>
            </a:pPr>
            <a:r>
              <a:rPr lang="en-US" sz="1250" dirty="0">
                <a:solidFill>
                  <a:schemeClr val="accent4"/>
                </a:solidFill>
              </a:rPr>
              <a:t>Microservices where each service can use its own data store.</a:t>
            </a:r>
            <a:endParaRPr lang="en-US" sz="1250" dirty="0"/>
          </a:p>
        </p:txBody>
      </p:sp>
      <p:sp>
        <p:nvSpPr>
          <p:cNvPr id="28" name="Text 26"/>
          <p:cNvSpPr txBox="1"/>
          <p:nvPr/>
        </p:nvSpPr>
        <p:spPr>
          <a:xfrm>
            <a:off x="822960" y="532180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FOUND</a:t>
            </a:r>
            <a:endParaRPr lang="en-US" sz="1050" dirty="0"/>
          </a:p>
        </p:txBody>
      </p:sp>
      <p:sp>
        <p:nvSpPr>
          <p:cNvPr id="29" name="Text 27"/>
          <p:cNvSpPr txBox="1"/>
          <p:nvPr/>
        </p:nvSpPr>
        <p:spPr>
          <a:xfrm>
            <a:off x="822960" y="5550408"/>
            <a:ext cx="4892040" cy="502920"/>
          </a:xfrm>
          <a:prstGeom prst="rect">
            <a:avLst/>
          </a:prstGeom>
          <a:noFill/>
          <a:ln/>
        </p:spPr>
        <p:txBody>
          <a:bodyPr wrap="square" lIns="0" tIns="0" rIns="0" bIns="0" rtlCol="0" anchor="t"/>
          <a:lstStyle/>
          <a:p>
            <a:pPr indent="0" marL="0">
              <a:buNone/>
            </a:pPr>
            <a:r>
              <a:rPr lang="en-US" sz="1250" dirty="0">
                <a:solidFill>
                  <a:schemeClr val="bg1"/>
                </a:solidFill>
              </a:rPr>
              <a:t>Presents microservices as a route to polyglot persistence.</a:t>
            </a:r>
            <a:endParaRPr lang="en-US" sz="1250" dirty="0"/>
          </a:p>
        </p:txBody>
      </p:sp>
      <p:sp>
        <p:nvSpPr>
          <p:cNvPr id="30" name="Source [1]"/>
          <p:cNvSpPr/>
          <p:nvPr/>
        </p:nvSpPr>
        <p:spPr>
          <a:xfrm>
            <a:off x="6172200" y="3931920"/>
            <a:ext cx="5440680" cy="2240280"/>
          </a:xfrm>
          <a:prstGeom prst="roundRect">
            <a:avLst>
              <a:gd name="adj" fmla="val 4082"/>
            </a:avLst>
          </a:prstGeom>
          <a:solidFill>
            <a:schemeClr val="tx2"/>
          </a:solidFill>
          <a:ln w="12700">
            <a:solidFill>
              <a:schemeClr val="tx2"/>
            </a:solidFill>
            <a:prstDash val="solid"/>
          </a:ln>
        </p:spPr>
      </p:sp>
      <p:sp>
        <p:nvSpPr>
          <p:cNvPr id="31" name="Ref pill [1]"/>
          <p:cNvSpPr/>
          <p:nvPr/>
        </p:nvSpPr>
        <p:spPr>
          <a:xfrm>
            <a:off x="6446520" y="4133088"/>
            <a:ext cx="548640" cy="310896"/>
          </a:xfrm>
          <a:prstGeom prst="roundRect">
            <a:avLst>
              <a:gd name="adj" fmla="val 50000"/>
            </a:avLst>
          </a:prstGeom>
          <a:solidFill>
            <a:schemeClr val="accent1"/>
          </a:solidFill>
          <a:ln w="12700">
            <a:solidFill>
              <a:schemeClr val="accent1"/>
            </a:solidFill>
            <a:prstDash val="solid"/>
          </a:ln>
        </p:spPr>
      </p:sp>
      <p:sp>
        <p:nvSpPr>
          <p:cNvPr id="32" name="Text 30"/>
          <p:cNvSpPr txBox="1"/>
          <p:nvPr/>
        </p:nvSpPr>
        <p:spPr>
          <a:xfrm>
            <a:off x="6446520" y="4133088"/>
            <a:ext cx="548640" cy="310896"/>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33" name="Text 31"/>
          <p:cNvSpPr txBox="1"/>
          <p:nvPr/>
        </p:nvSpPr>
        <p:spPr>
          <a:xfrm>
            <a:off x="7178040" y="4114800"/>
            <a:ext cx="4206240" cy="347472"/>
          </a:xfrm>
          <a:prstGeom prst="rect">
            <a:avLst/>
          </a:prstGeom>
          <a:noFill/>
          <a:ln/>
        </p:spPr>
        <p:txBody>
          <a:bodyPr wrap="square" lIns="0" tIns="0" rIns="0" bIns="0" rtlCol="0" anchor="ctr"/>
          <a:lstStyle/>
          <a:p>
            <a:pPr indent="0" marL="0">
              <a:buNone/>
            </a:pPr>
            <a:r>
              <a:rPr lang="en-US" sz="1400" b="1" dirty="0">
                <a:solidFill>
                  <a:schemeClr val="bg1"/>
                </a:solidFill>
              </a:rPr>
              <a:t>Kreps, Narkhede &amp; Rao (2011), NetDB</a:t>
            </a:r>
            <a:endParaRPr lang="en-US" sz="1400" dirty="0"/>
          </a:p>
        </p:txBody>
      </p:sp>
      <p:sp>
        <p:nvSpPr>
          <p:cNvPr id="34" name="Text 32"/>
          <p:cNvSpPr txBox="1"/>
          <p:nvPr/>
        </p:nvSpPr>
        <p:spPr>
          <a:xfrm>
            <a:off x="6446520" y="459028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STUDIED</a:t>
            </a:r>
            <a:endParaRPr lang="en-US" sz="1050" dirty="0"/>
          </a:p>
        </p:txBody>
      </p:sp>
      <p:sp>
        <p:nvSpPr>
          <p:cNvPr id="35" name="Text 33"/>
          <p:cNvSpPr txBox="1"/>
          <p:nvPr/>
        </p:nvSpPr>
        <p:spPr>
          <a:xfrm>
            <a:off x="6446520" y="4818888"/>
            <a:ext cx="4892040" cy="457200"/>
          </a:xfrm>
          <a:prstGeom prst="rect">
            <a:avLst/>
          </a:prstGeom>
          <a:noFill/>
          <a:ln/>
        </p:spPr>
        <p:txBody>
          <a:bodyPr wrap="square" lIns="0" tIns="0" rIns="0" bIns="0" rtlCol="0" anchor="t"/>
          <a:lstStyle/>
          <a:p>
            <a:pPr indent="0" marL="0">
              <a:buNone/>
            </a:pPr>
            <a:r>
              <a:rPr lang="en-US" sz="1250" dirty="0">
                <a:solidFill>
                  <a:schemeClr val="accent4"/>
                </a:solidFill>
              </a:rPr>
              <a:t>Kafka, a distributed messaging system for high-volume log data.</a:t>
            </a:r>
            <a:endParaRPr lang="en-US" sz="1250" dirty="0"/>
          </a:p>
        </p:txBody>
      </p:sp>
      <p:sp>
        <p:nvSpPr>
          <p:cNvPr id="36" name="Text 34"/>
          <p:cNvSpPr txBox="1"/>
          <p:nvPr/>
        </p:nvSpPr>
        <p:spPr>
          <a:xfrm>
            <a:off x="6446520" y="5321808"/>
            <a:ext cx="27432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FOUND</a:t>
            </a:r>
            <a:endParaRPr lang="en-US" sz="1050" dirty="0"/>
          </a:p>
        </p:txBody>
      </p:sp>
      <p:sp>
        <p:nvSpPr>
          <p:cNvPr id="37" name="Text 35"/>
          <p:cNvSpPr txBox="1"/>
          <p:nvPr/>
        </p:nvSpPr>
        <p:spPr>
          <a:xfrm>
            <a:off x="6446520" y="5550408"/>
            <a:ext cx="4892040" cy="502920"/>
          </a:xfrm>
          <a:prstGeom prst="rect">
            <a:avLst/>
          </a:prstGeom>
          <a:noFill/>
          <a:ln/>
        </p:spPr>
        <p:txBody>
          <a:bodyPr wrap="square" lIns="0" tIns="0" rIns="0" bIns="0" rtlCol="0" anchor="t"/>
          <a:lstStyle/>
          <a:p>
            <a:pPr indent="0" marL="0">
              <a:buNone/>
            </a:pPr>
            <a:r>
              <a:rPr lang="en-US" sz="1250" dirty="0">
                <a:solidFill>
                  <a:schemeClr val="bg1"/>
                </a:solidFill>
              </a:rPr>
              <a:t>Low-latency delivery; beat two popular messaging systems in tests; used in production at LinkedIn.</a:t>
            </a:r>
            <a:endParaRPr lang="en-US" sz="12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3  ·  CRITICAL ANALYSIS &amp; SYNTHESIS</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Critical analysis: strengths and limits</a:t>
            </a:r>
            <a:endParaRPr lang="en-US" sz="3200" dirty="0"/>
          </a:p>
        </p:txBody>
      </p:sp>
      <p:graphicFrame>
        <p:nvGraphicFramePr>
          <p:cNvPr id="9" name="Critical analysis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743200"/>
                <a:gridCol w="3566160"/>
                <a:gridCol w="4754880"/>
              </a:tblGrid>
              <a:tr h="457200">
                <a:tc>
                  <a:txBody>
                    <a:bodyPr/>
                    <a:lstStyle/>
                    <a:p>
                      <a:pPr algn="l" indent="0" marL="0">
                        <a:buNone/>
                      </a:pPr>
                      <a:r>
                        <a:rPr lang="en-US" sz="1300" b="1" dirty="0">
                          <a:solidFill>
                            <a:srgbClr val="FFFFFF"/>
                          </a:solidFill>
                        </a:rPr>
                        <a:t>Source</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300" b="1" dirty="0">
                          <a:solidFill>
                            <a:srgbClr val="FFFFFF"/>
                          </a:solidFill>
                        </a:rPr>
                        <a:t>Strength</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300" b="1" dirty="0">
                          <a:solidFill>
                            <a:srgbClr val="FFFFFF"/>
                          </a:solidFill>
                        </a:rPr>
                        <a:t>Limitation for DockFlow</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r>
              <a:tr h="502920">
                <a:tc>
                  <a:txBody>
                    <a:bodyPr/>
                    <a:lstStyle/>
                    <a:p>
                      <a:pPr indent="0" marL="0">
                        <a:buNone/>
                      </a:pPr>
                      <a:r>
                        <a:rPr lang="en-US" sz="1150" b="1" dirty="0">
                          <a:solidFill>
                            <a:srgbClr val="1B2A41"/>
                          </a:solidFill>
                        </a:rPr>
                        <a:t>[1]  Kreps et al., 2011</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Tested in production at scale; clear design</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Built for log data, not warehouse events; delivery is at-least-once, so duplicates must be handled</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[2]  Redżeb, 2024</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Covers current WMS directions: IoT and RFID</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Focus is on technology and hardware, with little on database design</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[3]  Persson, thesis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Systematic method; broad view of WMS benefits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A bachelor thesis that reviews literature; no system is built</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[4]  Kazanavičius et al., 2022</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Uses a recognised data-quality standard</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Case is a mainframe migration, not a warehouse</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[5]  Halili et al., 2025</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Compares five database types on several criteria</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General treatment; not specific to a warehouse and delivery system</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[6]  Future Internet, 2026</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Controlled, containerized, reproducible tests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Single-node setup; shows trends, not absolute numbers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[7]  EasyChair preprint, 2020</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Simple, repeatable comparison of basic operations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Reports only operation speed; says nothing on consistency or transactions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2A41"/>
                          </a:solidFill>
                        </a:rPr>
                        <a:t>[8]  Pllana &amp; Krasniqi, 2019</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150" dirty="0">
                          <a:solidFill>
                            <a:srgbClr val="1B2A41"/>
                          </a:solidFill>
                        </a:rPr>
                        <a:t>Explains why services can own separate data stores</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Conceptual overview; no measured results in the abstract</a:t>
                      </a:r>
                      <a:endParaRPr lang="en-US" sz="11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3  ·  CRITICAL ANALYSIS &amp; SYNTHESIS</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Synthesis: what the sources say together</a:t>
            </a:r>
            <a:endParaRPr lang="en-US" sz="3200" dirty="0"/>
          </a:p>
        </p:txBody>
      </p:sp>
      <p:sp>
        <p:nvSpPr>
          <p:cNvPr id="6" name="Theme 1"/>
          <p:cNvSpPr/>
          <p:nvPr/>
        </p:nvSpPr>
        <p:spPr>
          <a:xfrm>
            <a:off x="548640" y="1508760"/>
            <a:ext cx="2560320" cy="2606040"/>
          </a:xfrm>
          <a:prstGeom prst="roundRect">
            <a:avLst>
              <a:gd name="adj" fmla="val 3571"/>
            </a:avLst>
          </a:prstGeom>
          <a:solidFill>
            <a:schemeClr val="tx2"/>
          </a:solidFill>
          <a:ln w="12700">
            <a:solidFill>
              <a:schemeClr val="tx2"/>
            </a:solidFill>
            <a:prstDash val="solid"/>
          </a:ln>
        </p:spPr>
      </p:sp>
      <p:sp>
        <p:nvSpPr>
          <p:cNvPr id="7" name="WMS add value circle"/>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8" name="Image 0" descr="WMS add value icon">    </p:cNvPr>
          <p:cNvPicPr>
            <a:picLocks noChangeAspect="1"/>
          </p:cNvPicPr>
          <p:nvPr/>
        </p:nvPicPr>
        <p:blipFill>
          <a:blip r:embed="rId1"/>
          <a:stretch>
            <a:fillRect/>
          </a:stretch>
        </p:blipFill>
        <p:spPr>
          <a:xfrm>
            <a:off x="963778" y="1832458"/>
            <a:ext cx="358445" cy="358445"/>
          </a:xfrm>
          <a:prstGeom prst="rect">
            <a:avLst/>
          </a:prstGeom>
        </p:spPr>
      </p:pic>
      <p:sp>
        <p:nvSpPr>
          <p:cNvPr id="9" name="Text 6"/>
          <p:cNvSpPr txBox="1"/>
          <p:nvPr/>
        </p:nvSpPr>
        <p:spPr>
          <a:xfrm>
            <a:off x="822960" y="2468880"/>
            <a:ext cx="2057400" cy="594360"/>
          </a:xfrm>
          <a:prstGeom prst="rect">
            <a:avLst/>
          </a:prstGeom>
          <a:noFill/>
          <a:ln/>
        </p:spPr>
        <p:txBody>
          <a:bodyPr wrap="square" lIns="0" tIns="0" rIns="0" bIns="0" rtlCol="0" anchor="t"/>
          <a:lstStyle/>
          <a:p>
            <a:pPr indent="0" marL="0">
              <a:buNone/>
            </a:pPr>
            <a:r>
              <a:rPr lang="en-US" sz="1600" b="1" dirty="0">
                <a:solidFill>
                  <a:schemeClr val="bg1"/>
                </a:solidFill>
              </a:rPr>
              <a:t>WMS add value</a:t>
            </a:r>
            <a:endParaRPr lang="en-US" sz="1600" dirty="0"/>
          </a:p>
        </p:txBody>
      </p:sp>
      <p:sp>
        <p:nvSpPr>
          <p:cNvPr id="10" name="Text 7"/>
          <p:cNvSpPr txBox="1"/>
          <p:nvPr/>
        </p:nvSpPr>
        <p:spPr>
          <a:xfrm>
            <a:off x="822960" y="3063240"/>
            <a:ext cx="2057400" cy="274320"/>
          </a:xfrm>
          <a:prstGeom prst="rect">
            <a:avLst/>
          </a:prstGeom>
          <a:noFill/>
          <a:ln/>
        </p:spPr>
        <p:txBody>
          <a:bodyPr wrap="square" lIns="0" tIns="0" rIns="0" bIns="0" rtlCol="0" anchor="ctr"/>
          <a:lstStyle/>
          <a:p>
            <a:pPr indent="0" marL="0">
              <a:buNone/>
            </a:pPr>
            <a:r>
              <a:rPr lang="en-US" sz="1200" b="1" dirty="0">
                <a:solidFill>
                  <a:schemeClr val="accent1"/>
                </a:solidFill>
              </a:rPr>
              <a:t>[2] [3]</a:t>
            </a:r>
            <a:endParaRPr lang="en-US" sz="1200" dirty="0"/>
          </a:p>
        </p:txBody>
      </p:sp>
      <p:sp>
        <p:nvSpPr>
          <p:cNvPr id="11" name="Text 8"/>
          <p:cNvSpPr txBox="1"/>
          <p:nvPr/>
        </p:nvSpPr>
        <p:spPr>
          <a:xfrm>
            <a:off x="822960" y="3383280"/>
            <a:ext cx="2057400" cy="685800"/>
          </a:xfrm>
          <a:prstGeom prst="rect">
            <a:avLst/>
          </a:prstGeom>
          <a:noFill/>
          <a:ln/>
        </p:spPr>
        <p:txBody>
          <a:bodyPr wrap="square" lIns="0" tIns="0" rIns="0" bIns="0" rtlCol="0" anchor="t"/>
          <a:lstStyle/>
          <a:p>
            <a:pPr indent="0" marL="0">
              <a:buNone/>
            </a:pPr>
            <a:r>
              <a:rPr lang="en-US" sz="1250" dirty="0">
                <a:solidFill>
                  <a:schemeClr val="accent4"/>
                </a:solidFill>
              </a:rPr>
              <a:t>Real-time information and efficiency gains, but integration is hard.</a:t>
            </a:r>
            <a:endParaRPr lang="en-US" sz="1250" dirty="0"/>
          </a:p>
        </p:txBody>
      </p:sp>
      <p:sp>
        <p:nvSpPr>
          <p:cNvPr id="12" name="Theme 2"/>
          <p:cNvSpPr/>
          <p:nvPr/>
        </p:nvSpPr>
        <p:spPr>
          <a:xfrm>
            <a:off x="3383280" y="1508760"/>
            <a:ext cx="2560320" cy="2606040"/>
          </a:xfrm>
          <a:prstGeom prst="roundRect">
            <a:avLst>
              <a:gd name="adj" fmla="val 3571"/>
            </a:avLst>
          </a:prstGeom>
          <a:solidFill>
            <a:schemeClr val="tx2"/>
          </a:solidFill>
          <a:ln w="12700">
            <a:solidFill>
              <a:schemeClr val="tx2"/>
            </a:solidFill>
            <a:prstDash val="solid"/>
          </a:ln>
        </p:spPr>
      </p:sp>
      <p:sp>
        <p:nvSpPr>
          <p:cNvPr id="13" name="No single best database circle"/>
          <p:cNvSpPr/>
          <p:nvPr/>
        </p:nvSpPr>
        <p:spPr>
          <a:xfrm>
            <a:off x="3657600" y="1691640"/>
            <a:ext cx="640080" cy="640080"/>
          </a:xfrm>
          <a:prstGeom prst="ellipse">
            <a:avLst/>
          </a:prstGeom>
          <a:solidFill>
            <a:schemeClr val="accent1"/>
          </a:solidFill>
          <a:ln w="12700">
            <a:solidFill>
              <a:schemeClr val="accent1"/>
            </a:solidFill>
            <a:prstDash val="solid"/>
          </a:ln>
        </p:spPr>
      </p:sp>
      <p:pic>
        <p:nvPicPr>
          <p:cNvPr id="14" name="Image 1" descr="No single best database icon">    </p:cNvPr>
          <p:cNvPicPr>
            <a:picLocks noChangeAspect="1"/>
          </p:cNvPicPr>
          <p:nvPr/>
        </p:nvPicPr>
        <p:blipFill>
          <a:blip r:embed="rId2"/>
          <a:stretch>
            <a:fillRect/>
          </a:stretch>
        </p:blipFill>
        <p:spPr>
          <a:xfrm>
            <a:off x="3798418" y="1832458"/>
            <a:ext cx="358445" cy="358445"/>
          </a:xfrm>
          <a:prstGeom prst="rect">
            <a:avLst/>
          </a:prstGeom>
        </p:spPr>
      </p:pic>
      <p:sp>
        <p:nvSpPr>
          <p:cNvPr id="15" name="Text 11"/>
          <p:cNvSpPr txBox="1"/>
          <p:nvPr/>
        </p:nvSpPr>
        <p:spPr>
          <a:xfrm>
            <a:off x="3657600" y="2468880"/>
            <a:ext cx="2057400" cy="594360"/>
          </a:xfrm>
          <a:prstGeom prst="rect">
            <a:avLst/>
          </a:prstGeom>
          <a:noFill/>
          <a:ln/>
        </p:spPr>
        <p:txBody>
          <a:bodyPr wrap="square" lIns="0" tIns="0" rIns="0" bIns="0" rtlCol="0" anchor="t"/>
          <a:lstStyle/>
          <a:p>
            <a:pPr indent="0" marL="0">
              <a:buNone/>
            </a:pPr>
            <a:r>
              <a:rPr lang="en-US" sz="1600" b="1" dirty="0">
                <a:solidFill>
                  <a:schemeClr val="bg1"/>
                </a:solidFill>
              </a:rPr>
              <a:t>No single best database</a:t>
            </a:r>
            <a:endParaRPr lang="en-US" sz="1600" dirty="0"/>
          </a:p>
        </p:txBody>
      </p:sp>
      <p:sp>
        <p:nvSpPr>
          <p:cNvPr id="16" name="Text 12"/>
          <p:cNvSpPr txBox="1"/>
          <p:nvPr/>
        </p:nvSpPr>
        <p:spPr>
          <a:xfrm>
            <a:off x="3657600" y="3063240"/>
            <a:ext cx="2057400" cy="274320"/>
          </a:xfrm>
          <a:prstGeom prst="rect">
            <a:avLst/>
          </a:prstGeom>
          <a:noFill/>
          <a:ln/>
        </p:spPr>
        <p:txBody>
          <a:bodyPr wrap="square" lIns="0" tIns="0" rIns="0" bIns="0" rtlCol="0" anchor="ctr"/>
          <a:lstStyle/>
          <a:p>
            <a:pPr indent="0" marL="0">
              <a:buNone/>
            </a:pPr>
            <a:r>
              <a:rPr lang="en-US" sz="1200" b="1" dirty="0">
                <a:solidFill>
                  <a:schemeClr val="accent1"/>
                </a:solidFill>
              </a:rPr>
              <a:t>[6] [7]</a:t>
            </a:r>
            <a:endParaRPr lang="en-US" sz="1200" dirty="0"/>
          </a:p>
        </p:txBody>
      </p:sp>
      <p:sp>
        <p:nvSpPr>
          <p:cNvPr id="17" name="Text 13"/>
          <p:cNvSpPr txBox="1"/>
          <p:nvPr/>
        </p:nvSpPr>
        <p:spPr>
          <a:xfrm>
            <a:off x="3657600" y="3383280"/>
            <a:ext cx="2057400" cy="685800"/>
          </a:xfrm>
          <a:prstGeom prst="rect">
            <a:avLst/>
          </a:prstGeom>
          <a:noFill/>
          <a:ln/>
        </p:spPr>
        <p:txBody>
          <a:bodyPr wrap="square" lIns="0" tIns="0" rIns="0" bIns="0" rtlCol="0" anchor="t"/>
          <a:lstStyle/>
          <a:p>
            <a:pPr indent="0" marL="0">
              <a:buNone/>
            </a:pPr>
            <a:r>
              <a:rPr lang="en-US" sz="1250" dirty="0">
                <a:solidFill>
                  <a:schemeClr val="accent4"/>
                </a:solidFill>
              </a:rPr>
              <a:t>The better choice depends on the workload.</a:t>
            </a:r>
            <a:endParaRPr lang="en-US" sz="1250" dirty="0"/>
          </a:p>
        </p:txBody>
      </p:sp>
      <p:sp>
        <p:nvSpPr>
          <p:cNvPr id="18" name="Theme 3"/>
          <p:cNvSpPr/>
          <p:nvPr/>
        </p:nvSpPr>
        <p:spPr>
          <a:xfrm>
            <a:off x="6217920" y="1508760"/>
            <a:ext cx="2560320" cy="2606040"/>
          </a:xfrm>
          <a:prstGeom prst="roundRect">
            <a:avLst>
              <a:gd name="adj" fmla="val 3571"/>
            </a:avLst>
          </a:prstGeom>
          <a:solidFill>
            <a:schemeClr val="tx2"/>
          </a:solidFill>
          <a:ln w="12700">
            <a:solidFill>
              <a:schemeClr val="tx2"/>
            </a:solidFill>
            <a:prstDash val="solid"/>
          </a:ln>
        </p:spPr>
      </p:sp>
      <p:sp>
        <p:nvSpPr>
          <p:cNvPr id="19" name="Polyglot has a price circle"/>
          <p:cNvSpPr/>
          <p:nvPr/>
        </p:nvSpPr>
        <p:spPr>
          <a:xfrm>
            <a:off x="6492240" y="1691640"/>
            <a:ext cx="640080" cy="640080"/>
          </a:xfrm>
          <a:prstGeom prst="ellipse">
            <a:avLst/>
          </a:prstGeom>
          <a:solidFill>
            <a:schemeClr val="accent1"/>
          </a:solidFill>
          <a:ln w="12700">
            <a:solidFill>
              <a:schemeClr val="accent1"/>
            </a:solidFill>
            <a:prstDash val="solid"/>
          </a:ln>
        </p:spPr>
      </p:sp>
      <p:pic>
        <p:nvPicPr>
          <p:cNvPr id="20" name="Image 2" descr="Polyglot has a price icon">    </p:cNvPr>
          <p:cNvPicPr>
            <a:picLocks noChangeAspect="1"/>
          </p:cNvPicPr>
          <p:nvPr/>
        </p:nvPicPr>
        <p:blipFill>
          <a:blip r:embed="rId3"/>
          <a:stretch>
            <a:fillRect/>
          </a:stretch>
        </p:blipFill>
        <p:spPr>
          <a:xfrm>
            <a:off x="6633058" y="1832458"/>
            <a:ext cx="358445" cy="358445"/>
          </a:xfrm>
          <a:prstGeom prst="rect">
            <a:avLst/>
          </a:prstGeom>
        </p:spPr>
      </p:pic>
      <p:sp>
        <p:nvSpPr>
          <p:cNvPr id="21" name="Text 16"/>
          <p:cNvSpPr txBox="1"/>
          <p:nvPr/>
        </p:nvSpPr>
        <p:spPr>
          <a:xfrm>
            <a:off x="6492240" y="2468880"/>
            <a:ext cx="2057400" cy="594360"/>
          </a:xfrm>
          <a:prstGeom prst="rect">
            <a:avLst/>
          </a:prstGeom>
          <a:noFill/>
          <a:ln/>
        </p:spPr>
        <p:txBody>
          <a:bodyPr wrap="square" lIns="0" tIns="0" rIns="0" bIns="0" rtlCol="0" anchor="t"/>
          <a:lstStyle/>
          <a:p>
            <a:pPr indent="0" marL="0">
              <a:buNone/>
            </a:pPr>
            <a:r>
              <a:rPr lang="en-US" sz="1600" b="1" dirty="0">
                <a:solidFill>
                  <a:schemeClr val="bg1"/>
                </a:solidFill>
              </a:rPr>
              <a:t>Polyglot has a price</a:t>
            </a:r>
            <a:endParaRPr lang="en-US" sz="1600" dirty="0"/>
          </a:p>
        </p:txBody>
      </p:sp>
      <p:sp>
        <p:nvSpPr>
          <p:cNvPr id="22" name="Text 17"/>
          <p:cNvSpPr txBox="1"/>
          <p:nvPr/>
        </p:nvSpPr>
        <p:spPr>
          <a:xfrm>
            <a:off x="6492240" y="3063240"/>
            <a:ext cx="2057400" cy="274320"/>
          </a:xfrm>
          <a:prstGeom prst="rect">
            <a:avLst/>
          </a:prstGeom>
          <a:noFill/>
          <a:ln/>
        </p:spPr>
        <p:txBody>
          <a:bodyPr wrap="square" lIns="0" tIns="0" rIns="0" bIns="0" rtlCol="0" anchor="ctr"/>
          <a:lstStyle/>
          <a:p>
            <a:pPr indent="0" marL="0">
              <a:buNone/>
            </a:pPr>
            <a:r>
              <a:rPr lang="en-US" sz="1200" b="1" dirty="0">
                <a:solidFill>
                  <a:schemeClr val="accent1"/>
                </a:solidFill>
              </a:rPr>
              <a:t>[4] [5] [8]</a:t>
            </a:r>
            <a:endParaRPr lang="en-US" sz="1200" dirty="0"/>
          </a:p>
        </p:txBody>
      </p:sp>
      <p:sp>
        <p:nvSpPr>
          <p:cNvPr id="23" name="Text 18"/>
          <p:cNvSpPr txBox="1"/>
          <p:nvPr/>
        </p:nvSpPr>
        <p:spPr>
          <a:xfrm>
            <a:off x="6492240" y="3383280"/>
            <a:ext cx="2057400" cy="685800"/>
          </a:xfrm>
          <a:prstGeom prst="rect">
            <a:avLst/>
          </a:prstGeom>
          <a:noFill/>
          <a:ln/>
        </p:spPr>
        <p:txBody>
          <a:bodyPr wrap="square" lIns="0" tIns="0" rIns="0" bIns="0" rtlCol="0" anchor="t"/>
          <a:lstStyle/>
          <a:p>
            <a:pPr indent="0" marL="0">
              <a:buNone/>
            </a:pPr>
            <a:r>
              <a:rPr lang="en-US" sz="1250" dirty="0">
                <a:solidFill>
                  <a:schemeClr val="accent4"/>
                </a:solidFill>
              </a:rPr>
              <a:t>Better fit per service, but more complexity to manage.</a:t>
            </a:r>
            <a:endParaRPr lang="en-US" sz="1250" dirty="0"/>
          </a:p>
        </p:txBody>
      </p:sp>
      <p:sp>
        <p:nvSpPr>
          <p:cNvPr id="24" name="Theme 4"/>
          <p:cNvSpPr/>
          <p:nvPr/>
        </p:nvSpPr>
        <p:spPr>
          <a:xfrm>
            <a:off x="9052560" y="1508760"/>
            <a:ext cx="2560320" cy="2606040"/>
          </a:xfrm>
          <a:prstGeom prst="roundRect">
            <a:avLst>
              <a:gd name="adj" fmla="val 3571"/>
            </a:avLst>
          </a:prstGeom>
          <a:solidFill>
            <a:schemeClr val="tx2"/>
          </a:solidFill>
          <a:ln w="12700">
            <a:solidFill>
              <a:schemeClr val="tx2"/>
            </a:solidFill>
            <a:prstDash val="solid"/>
          </a:ln>
        </p:spPr>
      </p:sp>
      <p:sp>
        <p:nvSpPr>
          <p:cNvPr id="25" name="Events decouple services circle"/>
          <p:cNvSpPr/>
          <p:nvPr/>
        </p:nvSpPr>
        <p:spPr>
          <a:xfrm>
            <a:off x="9326880" y="1691640"/>
            <a:ext cx="640080" cy="640080"/>
          </a:xfrm>
          <a:prstGeom prst="ellipse">
            <a:avLst/>
          </a:prstGeom>
          <a:solidFill>
            <a:schemeClr val="accent1"/>
          </a:solidFill>
          <a:ln w="12700">
            <a:solidFill>
              <a:schemeClr val="accent1"/>
            </a:solidFill>
            <a:prstDash val="solid"/>
          </a:ln>
        </p:spPr>
      </p:sp>
      <p:pic>
        <p:nvPicPr>
          <p:cNvPr id="26" name="Image 3" descr="Events decouple services icon">    </p:cNvPr>
          <p:cNvPicPr>
            <a:picLocks noChangeAspect="1"/>
          </p:cNvPicPr>
          <p:nvPr/>
        </p:nvPicPr>
        <p:blipFill>
          <a:blip r:embed="rId4"/>
          <a:stretch>
            <a:fillRect/>
          </a:stretch>
        </p:blipFill>
        <p:spPr>
          <a:xfrm>
            <a:off x="9467698" y="1832458"/>
            <a:ext cx="358445" cy="358445"/>
          </a:xfrm>
          <a:prstGeom prst="rect">
            <a:avLst/>
          </a:prstGeom>
        </p:spPr>
      </p:pic>
      <p:sp>
        <p:nvSpPr>
          <p:cNvPr id="27" name="Text 21"/>
          <p:cNvSpPr txBox="1"/>
          <p:nvPr/>
        </p:nvSpPr>
        <p:spPr>
          <a:xfrm>
            <a:off x="9326880" y="2468880"/>
            <a:ext cx="2057400" cy="594360"/>
          </a:xfrm>
          <a:prstGeom prst="rect">
            <a:avLst/>
          </a:prstGeom>
          <a:noFill/>
          <a:ln/>
        </p:spPr>
        <p:txBody>
          <a:bodyPr wrap="square" lIns="0" tIns="0" rIns="0" bIns="0" rtlCol="0" anchor="t"/>
          <a:lstStyle/>
          <a:p>
            <a:pPr indent="0" marL="0">
              <a:buNone/>
            </a:pPr>
            <a:r>
              <a:rPr lang="en-US" sz="1600" b="1" dirty="0">
                <a:solidFill>
                  <a:schemeClr val="bg1"/>
                </a:solidFill>
              </a:rPr>
              <a:t>Events decouple services</a:t>
            </a:r>
            <a:endParaRPr lang="en-US" sz="1600" dirty="0"/>
          </a:p>
        </p:txBody>
      </p:sp>
      <p:sp>
        <p:nvSpPr>
          <p:cNvPr id="28" name="Text 22"/>
          <p:cNvSpPr txBox="1"/>
          <p:nvPr/>
        </p:nvSpPr>
        <p:spPr>
          <a:xfrm>
            <a:off x="9326880" y="3063240"/>
            <a:ext cx="2057400" cy="274320"/>
          </a:xfrm>
          <a:prstGeom prst="rect">
            <a:avLst/>
          </a:prstGeom>
          <a:noFill/>
          <a:ln/>
        </p:spPr>
        <p:txBody>
          <a:bodyPr wrap="square" lIns="0" tIns="0" rIns="0" bIns="0" rtlCol="0" anchor="ctr"/>
          <a:lstStyle/>
          <a:p>
            <a:pPr indent="0" marL="0">
              <a:buNone/>
            </a:pPr>
            <a:r>
              <a:rPr lang="en-US" sz="1200" b="1" dirty="0">
                <a:solidFill>
                  <a:schemeClr val="accent1"/>
                </a:solidFill>
              </a:rPr>
              <a:t>[1]</a:t>
            </a:r>
            <a:endParaRPr lang="en-US" sz="1200" dirty="0"/>
          </a:p>
        </p:txBody>
      </p:sp>
      <p:sp>
        <p:nvSpPr>
          <p:cNvPr id="29" name="Text 23"/>
          <p:cNvSpPr txBox="1"/>
          <p:nvPr/>
        </p:nvSpPr>
        <p:spPr>
          <a:xfrm>
            <a:off x="9326880" y="3383280"/>
            <a:ext cx="2057400" cy="685800"/>
          </a:xfrm>
          <a:prstGeom prst="rect">
            <a:avLst/>
          </a:prstGeom>
          <a:noFill/>
          <a:ln/>
        </p:spPr>
        <p:txBody>
          <a:bodyPr wrap="square" lIns="0" tIns="0" rIns="0" bIns="0" rtlCol="0" anchor="t"/>
          <a:lstStyle/>
          <a:p>
            <a:pPr indent="0" marL="0">
              <a:buNone/>
            </a:pPr>
            <a:r>
              <a:rPr lang="en-US" sz="1250" dirty="0">
                <a:solidFill>
                  <a:schemeClr val="accent4"/>
                </a:solidFill>
              </a:rPr>
              <a:t>Kafka moves data between services with low latency.</a:t>
            </a:r>
            <a:endParaRPr lang="en-US" sz="1250" dirty="0"/>
          </a:p>
        </p:txBody>
      </p:sp>
      <p:sp>
        <p:nvSpPr>
          <p:cNvPr id="30" name="Disagree strip"/>
          <p:cNvSpPr/>
          <p:nvPr/>
        </p:nvSpPr>
        <p:spPr>
          <a:xfrm>
            <a:off x="548640" y="4297680"/>
            <a:ext cx="11064240" cy="868680"/>
          </a:xfrm>
          <a:prstGeom prst="roundRect">
            <a:avLst>
              <a:gd name="adj" fmla="val 10526"/>
            </a:avLst>
          </a:prstGeom>
          <a:solidFill>
            <a:schemeClr val="accent1"/>
          </a:solidFill>
          <a:ln w="12700">
            <a:solidFill>
              <a:schemeClr val="accent1"/>
            </a:solidFill>
            <a:prstDash val="solid"/>
          </a:ln>
        </p:spPr>
      </p:sp>
      <p:sp>
        <p:nvSpPr>
          <p:cNvPr id="31" name="Text 25"/>
          <p:cNvSpPr txBox="1"/>
          <p:nvPr/>
        </p:nvSpPr>
        <p:spPr>
          <a:xfrm>
            <a:off x="822960" y="4297680"/>
            <a:ext cx="10515600" cy="868680"/>
          </a:xfrm>
          <a:prstGeom prst="rect">
            <a:avLst/>
          </a:prstGeom>
          <a:noFill/>
          <a:ln/>
        </p:spPr>
        <p:txBody>
          <a:bodyPr wrap="square" lIns="0" tIns="0" rIns="0" bIns="0" rtlCol="0" anchor="ctr"/>
          <a:lstStyle/>
          <a:p>
            <a:pPr indent="0" marL="0">
              <a:buNone/>
            </a:pPr>
            <a:r>
              <a:rPr lang="en-US" sz="1100" b="1" spc="200" kern="0" dirty="0">
                <a:solidFill>
                  <a:schemeClr val="tx1"/>
                </a:solidFill>
              </a:rPr>
              <a:t>WHERE STUDIES DIFFER   </a:t>
            </a:r>
            <a:pPr indent="0" marL="0">
              <a:buNone/>
            </a:pPr>
            <a:r>
              <a:rPr lang="en-US" sz="1500" b="1" dirty="0">
                <a:solidFill>
                  <a:schemeClr val="tx1"/>
                </a:solidFill>
              </a:rPr>
              <a:t>[7] favours MongoDB overall, while [6] finds the winner depends on indexing and workload. We follow [6].</a:t>
            </a:r>
            <a:endParaRPr lang="en-US" sz="1100" dirty="0"/>
          </a:p>
        </p:txBody>
      </p:sp>
      <p:sp>
        <p:nvSpPr>
          <p:cNvPr id="32" name="Implication strip"/>
          <p:cNvSpPr/>
          <p:nvPr/>
        </p:nvSpPr>
        <p:spPr>
          <a:xfrm>
            <a:off x="548640" y="5349240"/>
            <a:ext cx="11064240" cy="777240"/>
          </a:xfrm>
          <a:prstGeom prst="roundRect">
            <a:avLst>
              <a:gd name="adj" fmla="val 11765"/>
            </a:avLst>
          </a:prstGeom>
          <a:solidFill>
            <a:schemeClr val="tx2"/>
          </a:solidFill>
          <a:ln w="12700">
            <a:solidFill>
              <a:schemeClr val="tx2"/>
            </a:solidFill>
            <a:prstDash val="solid"/>
          </a:ln>
        </p:spPr>
      </p:sp>
      <p:sp>
        <p:nvSpPr>
          <p:cNvPr id="33" name="Text 27"/>
          <p:cNvSpPr txBox="1"/>
          <p:nvPr/>
        </p:nvSpPr>
        <p:spPr>
          <a:xfrm>
            <a:off x="822960" y="5349240"/>
            <a:ext cx="10515600" cy="777240"/>
          </a:xfrm>
          <a:prstGeom prst="rect">
            <a:avLst/>
          </a:prstGeom>
          <a:noFill/>
          <a:ln/>
        </p:spPr>
        <p:txBody>
          <a:bodyPr wrap="square" lIns="0" tIns="0" rIns="0" bIns="0" rtlCol="0" anchor="ctr"/>
          <a:lstStyle/>
          <a:p>
            <a:pPr indent="0" marL="0">
              <a:buNone/>
            </a:pPr>
            <a:r>
              <a:rPr lang="en-US" sz="1100" b="1" spc="200" kern="0" dirty="0">
                <a:solidFill>
                  <a:srgbClr val="F2A541"/>
                </a:solidFill>
              </a:rPr>
              <a:t>FOR DOCKFLOW   </a:t>
            </a:r>
            <a:pPr indent="0" marL="0">
              <a:buNone/>
            </a:pPr>
            <a:r>
              <a:rPr lang="en-US" sz="1500" dirty="0">
                <a:solidFill>
                  <a:srgbClr val="FFFFFF"/>
                </a:solidFill>
              </a:rPr>
              <a:t>MySQL for stock and orders, MongoDB for flexible delivery updates, Kafka for shipment events, each with a narrow job.</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4  ·  GAP ANALYSIS THROUGH LITERATURE</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Gaps in the literature and our response</a:t>
            </a:r>
            <a:endParaRPr lang="en-US" sz="3200" dirty="0"/>
          </a:p>
        </p:txBody>
      </p:sp>
      <p:graphicFrame>
        <p:nvGraphicFramePr>
          <p:cNvPr id="11" name="Gap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377440"/>
                <a:gridCol w="4480560"/>
                <a:gridCol w="4206240"/>
              </a:tblGrid>
              <a:tr h="457200">
                <a:tc>
                  <a:txBody>
                    <a:bodyPr/>
                    <a:lstStyle/>
                    <a:p>
                      <a:pPr algn="l" indent="0" marL="0">
                        <a:buNone/>
                      </a:pPr>
                      <a:r>
                        <a:rPr lang="en-US" sz="1300" b="1" dirty="0">
                          <a:solidFill>
                            <a:srgbClr val="FFFFFF"/>
                          </a:solidFill>
                        </a:rPr>
                        <a:t>Gap</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300" b="1" dirty="0">
                          <a:solidFill>
                            <a:srgbClr val="FFFFFF"/>
                          </a:solidFill>
                        </a:rPr>
                        <a:t>What the literature shows</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300" b="1" dirty="0">
                          <a:solidFill>
                            <a:srgbClr val="1B2A41"/>
                          </a:solidFill>
                        </a:rPr>
                        <a:t>How DockFlow responds</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914400">
                <a:tc>
                  <a:txBody>
                    <a:bodyPr/>
                    <a:lstStyle/>
                    <a:p>
                      <a:pPr indent="0" marL="0">
                        <a:buNone/>
                      </a:pPr>
                      <a:r>
                        <a:rPr lang="en-US" sz="1300" b="1" dirty="0">
                          <a:solidFill>
                            <a:srgbClr val="1B2A41"/>
                          </a:solidFill>
                        </a:rPr>
                        <a:t>Gap 1</a:t>
                      </a:r>
                      <a:endParaRPr lang="en-US" sz="1300" dirty="0"/>
                    </a:p>
                    <a:p>
                      <a:pPr indent="0" marL="0">
                        <a:buNone/>
                      </a:pPr>
                      <a:r>
                        <a:rPr lang="en-US" sz="1300" b="1" dirty="0">
                          <a:solidFill>
                            <a:srgbClr val="1B2A41"/>
                          </a:solidFill>
                        </a:rPr>
                        <a:t>Data design in WMS</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rPr>
                        <a:t>WMS studies [2] [3] focus on IoT, RFID and implementation; database design is not their focus.</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b="1" dirty="0">
                          <a:solidFill>
                            <a:srgbClr val="1B2A41"/>
                          </a:solidFill>
                        </a:rPr>
                        <a:t>Database-first design: clothes tracked by size, color and location in MySQL.</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914400">
                <a:tc>
                  <a:txBody>
                    <a:bodyPr/>
                    <a:lstStyle/>
                    <a:p>
                      <a:pPr indent="0" marL="0">
                        <a:buNone/>
                      </a:pPr>
                      <a:r>
                        <a:rPr lang="en-US" sz="1300" b="1" dirty="0">
                          <a:solidFill>
                            <a:srgbClr val="1B2A41"/>
                          </a:solidFill>
                        </a:rPr>
                        <a:t>Gap 2</a:t>
                      </a:r>
                      <a:endParaRPr lang="en-US" sz="1300" dirty="0"/>
                    </a:p>
                    <a:p>
                      <a:pPr indent="0" marL="0">
                        <a:buNone/>
                      </a:pPr>
                      <a:r>
                        <a:rPr lang="en-US" sz="1300" b="1" dirty="0">
                          <a:solidFill>
                            <a:srgbClr val="1B2A41"/>
                          </a:solidFill>
                        </a:rPr>
                        <a:t>Polyglot in warehouses</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rPr>
                        <a:t>Polyglot studies [4] [5] [8] are general or migration-based, not warehouse and delivery.</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b="1" dirty="0">
                          <a:solidFill>
                            <a:srgbClr val="1B2A41"/>
                          </a:solidFill>
                        </a:rPr>
                        <a:t>MySQL for stock and orders, MongoDB for delivery updates, in one system.</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914400">
                <a:tc>
                  <a:txBody>
                    <a:bodyPr/>
                    <a:lstStyle/>
                    <a:p>
                      <a:pPr indent="0" marL="0">
                        <a:buNone/>
                      </a:pPr>
                      <a:r>
                        <a:rPr lang="en-US" sz="1300" b="1" dirty="0">
                          <a:solidFill>
                            <a:srgbClr val="1B2A41"/>
                          </a:solidFill>
                        </a:rPr>
                        <a:t>Gap 3</a:t>
                      </a:r>
                      <a:endParaRPr lang="en-US" sz="1300" dirty="0"/>
                    </a:p>
                    <a:p>
                      <a:pPr indent="0" marL="0">
                        <a:buNone/>
                      </a:pPr>
                      <a:r>
                        <a:rPr lang="en-US" sz="1300" b="1" dirty="0">
                          <a:solidFill>
                            <a:srgbClr val="1B2A41"/>
                          </a:solidFill>
                        </a:rPr>
                        <a:t>Kafka for shipments</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rPr>
                        <a:t>Kafka evidence [1] concerns log processing, not shipment events.</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b="1" dirty="0">
                          <a:solidFill>
                            <a:srgbClr val="1B2A41"/>
                          </a:solidFill>
                        </a:rPr>
                        <a:t>Kafka passes shipment events between the order and delivery services.</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914400">
                <a:tc>
                  <a:txBody>
                    <a:bodyPr/>
                    <a:lstStyle/>
                    <a:p>
                      <a:pPr indent="0" marL="0">
                        <a:buNone/>
                      </a:pPr>
                      <a:r>
                        <a:rPr lang="en-US" sz="1300" b="1" dirty="0">
                          <a:solidFill>
                            <a:srgbClr val="1B2A41"/>
                          </a:solidFill>
                        </a:rPr>
                        <a:t>Gap 4</a:t>
                      </a:r>
                      <a:endParaRPr lang="en-US" sz="1300" dirty="0"/>
                    </a:p>
                    <a:p>
                      <a:pPr indent="0" marL="0">
                        <a:buNone/>
                      </a:pPr>
                      <a:r>
                        <a:rPr lang="en-US" sz="1300" b="1" dirty="0">
                          <a:solidFill>
                            <a:srgbClr val="1B2A41"/>
                          </a:solidFill>
                        </a:rPr>
                        <a:t>Evidence on trade-offs</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rPr>
                        <a:t>Benchmarks [6] [7] are single-node or basic operations; consistency across stores is not examined.</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b="1" dirty="0">
                          <a:solidFill>
                            <a:srgbClr val="1B2A41"/>
                          </a:solidFill>
                        </a:rPr>
                        <a:t>Not yet addressed. DockFlow is a working course project; benchmarking is future work.</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bl>
          </a:graphicData>
        </a:graphic>
      </p:graphicFrame>
      <p:sp>
        <p:nvSpPr>
          <p:cNvPr id="7" name="Scope note"/>
          <p:cNvSpPr/>
          <p:nvPr/>
        </p:nvSpPr>
        <p:spPr>
          <a:xfrm>
            <a:off x="548640" y="5760720"/>
            <a:ext cx="11064240" cy="502920"/>
          </a:xfrm>
          <a:prstGeom prst="roundRect">
            <a:avLst>
              <a:gd name="adj" fmla="val 18182"/>
            </a:avLst>
          </a:prstGeom>
          <a:solidFill>
            <a:schemeClr val="tx1"/>
          </a:solidFill>
          <a:ln w="12700">
            <a:solidFill>
              <a:schemeClr val="tx1"/>
            </a:solidFill>
            <a:prstDash val="solid"/>
          </a:ln>
        </p:spPr>
      </p:sp>
      <p:sp>
        <p:nvSpPr>
          <p:cNvPr id="8" name="Text 5"/>
          <p:cNvSpPr txBox="1"/>
          <p:nvPr/>
        </p:nvSpPr>
        <p:spPr>
          <a:xfrm>
            <a:off x="822960" y="5760720"/>
            <a:ext cx="10515600" cy="502920"/>
          </a:xfrm>
          <a:prstGeom prst="rect">
            <a:avLst/>
          </a:prstGeom>
          <a:noFill/>
          <a:ln/>
        </p:spPr>
        <p:txBody>
          <a:bodyPr wrap="square" lIns="0" tIns="0" rIns="0" bIns="0" rtlCol="0" anchor="ctr"/>
          <a:lstStyle/>
          <a:p>
            <a:pPr indent="0" marL="0">
              <a:buNone/>
            </a:pPr>
            <a:r>
              <a:rPr lang="en-US" sz="1350" dirty="0">
                <a:solidFill>
                  <a:schemeClr val="bg1"/>
                </a:solidFill>
              </a:rPr>
              <a:t>Gaps are based on the eight sources reviewed here; a wider review may reveal more.</a:t>
            </a:r>
            <a:endParaRPr lang="en-US" sz="13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4  ·  GAP ANALYSIS THROUGH LITERATURE</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Where DockFlow fits</a:t>
            </a:r>
            <a:endParaRPr lang="en-US" sz="3200" dirty="0"/>
          </a:p>
        </p:txBody>
      </p:sp>
      <p:sp>
        <p:nvSpPr>
          <p:cNvPr id="6" name="Position strip"/>
          <p:cNvSpPr/>
          <p:nvPr/>
        </p:nvSpPr>
        <p:spPr>
          <a:xfrm>
            <a:off x="548640" y="1508760"/>
            <a:ext cx="11064240" cy="1051560"/>
          </a:xfrm>
          <a:prstGeom prst="roundRect">
            <a:avLst>
              <a:gd name="adj" fmla="val 8696"/>
            </a:avLst>
          </a:prstGeom>
          <a:solidFill>
            <a:schemeClr val="accent1"/>
          </a:solidFill>
          <a:ln w="12700">
            <a:solidFill>
              <a:schemeClr val="accent1"/>
            </a:solidFill>
            <a:prstDash val="solid"/>
          </a:ln>
        </p:spPr>
      </p:sp>
      <p:sp>
        <p:nvSpPr>
          <p:cNvPr id="7" name="Text 5"/>
          <p:cNvSpPr txBox="1"/>
          <p:nvPr/>
        </p:nvSpPr>
        <p:spPr>
          <a:xfrm>
            <a:off x="868680" y="1508760"/>
            <a:ext cx="10424160" cy="1051560"/>
          </a:xfrm>
          <a:prstGeom prst="rect">
            <a:avLst/>
          </a:prstGeom>
          <a:noFill/>
          <a:ln/>
        </p:spPr>
        <p:txBody>
          <a:bodyPr wrap="square" lIns="0" tIns="0" rIns="0" bIns="0" rtlCol="0" anchor="ctr"/>
          <a:lstStyle/>
          <a:p>
            <a:pPr indent="0" marL="0">
              <a:buNone/>
            </a:pPr>
            <a:r>
              <a:rPr lang="en-US" sz="1800" b="1" dirty="0">
                <a:solidFill>
                  <a:schemeClr val="tx1"/>
                </a:solidFill>
              </a:rPr>
              <a:t>Existing work covers warehouse systems, SQL vs NoSQL, polyglot persistence and Kafka separately. DockFlow brings them together for a clothing warehouse and its deliveries.</a:t>
            </a:r>
            <a:endParaRPr lang="en-US" sz="1800" dirty="0"/>
          </a:p>
        </p:txBody>
      </p:sp>
      <p:sp>
        <p:nvSpPr>
          <p:cNvPr id="8" name="Position 1"/>
          <p:cNvSpPr/>
          <p:nvPr/>
        </p:nvSpPr>
        <p:spPr>
          <a:xfrm>
            <a:off x="548640" y="2834640"/>
            <a:ext cx="3474720" cy="3291840"/>
          </a:xfrm>
          <a:prstGeom prst="roundRect">
            <a:avLst>
              <a:gd name="adj" fmla="val 2778"/>
            </a:avLst>
          </a:prstGeom>
          <a:solidFill>
            <a:schemeClr val="tx2"/>
          </a:solidFill>
          <a:ln w="12700">
            <a:solidFill>
              <a:schemeClr val="tx2"/>
            </a:solidFill>
            <a:prstDash val="solid"/>
          </a:ln>
        </p:spPr>
      </p:sp>
      <p:sp>
        <p:nvSpPr>
          <p:cNvPr id="9" name="What we built circle"/>
          <p:cNvSpPr/>
          <p:nvPr/>
        </p:nvSpPr>
        <p:spPr>
          <a:xfrm>
            <a:off x="822960" y="3063240"/>
            <a:ext cx="640080" cy="640080"/>
          </a:xfrm>
          <a:prstGeom prst="ellipse">
            <a:avLst/>
          </a:prstGeom>
          <a:solidFill>
            <a:schemeClr val="accent1"/>
          </a:solidFill>
          <a:ln w="12700">
            <a:solidFill>
              <a:schemeClr val="accent1"/>
            </a:solidFill>
            <a:prstDash val="solid"/>
          </a:ln>
        </p:spPr>
      </p:sp>
      <p:pic>
        <p:nvPicPr>
          <p:cNvPr id="10" name="Image 0" descr="What we built icon">    </p:cNvPr>
          <p:cNvPicPr>
            <a:picLocks noChangeAspect="1"/>
          </p:cNvPicPr>
          <p:nvPr/>
        </p:nvPicPr>
        <p:blipFill>
          <a:blip r:embed="rId1"/>
          <a:stretch>
            <a:fillRect/>
          </a:stretch>
        </p:blipFill>
        <p:spPr>
          <a:xfrm>
            <a:off x="963778" y="3204058"/>
            <a:ext cx="358445" cy="358445"/>
          </a:xfrm>
          <a:prstGeom prst="rect">
            <a:avLst/>
          </a:prstGeom>
        </p:spPr>
      </p:pic>
      <p:sp>
        <p:nvSpPr>
          <p:cNvPr id="11" name="Text 8"/>
          <p:cNvSpPr txBox="1"/>
          <p:nvPr/>
        </p:nvSpPr>
        <p:spPr>
          <a:xfrm>
            <a:off x="1645920" y="3063240"/>
            <a:ext cx="2194560" cy="640080"/>
          </a:xfrm>
          <a:prstGeom prst="rect">
            <a:avLst/>
          </a:prstGeom>
          <a:noFill/>
          <a:ln/>
        </p:spPr>
        <p:txBody>
          <a:bodyPr wrap="square" lIns="0" tIns="0" rIns="0" bIns="0" rtlCol="0" anchor="ctr"/>
          <a:lstStyle/>
          <a:p>
            <a:pPr indent="0" marL="0">
              <a:buNone/>
            </a:pPr>
            <a:r>
              <a:rPr lang="en-US" sz="1700" b="1" dirty="0">
                <a:solidFill>
                  <a:schemeClr val="bg1"/>
                </a:solidFill>
              </a:rPr>
              <a:t>What we built</a:t>
            </a:r>
            <a:endParaRPr lang="en-US" sz="1700" dirty="0"/>
          </a:p>
        </p:txBody>
      </p:sp>
      <p:sp>
        <p:nvSpPr>
          <p:cNvPr id="12" name="Text 9"/>
          <p:cNvSpPr txBox="1"/>
          <p:nvPr/>
        </p:nvSpPr>
        <p:spPr>
          <a:xfrm>
            <a:off x="868680" y="3931920"/>
            <a:ext cx="2880360" cy="20116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chemeClr val="accent4"/>
                </a:solidFill>
              </a:rPr>
              <a:t>Working course project</a:t>
            </a:r>
            <a:endParaRPr lang="en-US" sz="1350" dirty="0"/>
          </a:p>
          <a:p>
            <a:pPr marL="203200" indent="-203200">
              <a:spcAft>
                <a:spcPts val="800"/>
              </a:spcAft>
              <a:buSzPct val="100000"/>
              <a:buChar char="•"/>
            </a:pPr>
            <a:r>
              <a:rPr lang="en-US" sz="1350" dirty="0">
                <a:solidFill>
                  <a:schemeClr val="accent4"/>
                </a:solidFill>
              </a:rPr>
              <a:t>MySQL, MongoDB and Kafka together</a:t>
            </a:r>
            <a:endParaRPr lang="en-US" sz="1350" dirty="0"/>
          </a:p>
          <a:p>
            <a:pPr marL="203200" indent="-203200">
              <a:spcAft>
                <a:spcPts val="800"/>
              </a:spcAft>
              <a:buSzPct val="100000"/>
              <a:buChar char="•"/>
            </a:pPr>
            <a:r>
              <a:rPr lang="en-US" sz="1350" dirty="0">
                <a:solidFill>
                  <a:schemeClr val="accent4"/>
                </a:solidFill>
              </a:rPr>
              <a:t>Men's, women's and kids' clothes by size, color and location</a:t>
            </a:r>
            <a:endParaRPr lang="en-US" sz="1350" dirty="0"/>
          </a:p>
        </p:txBody>
      </p:sp>
      <p:sp>
        <p:nvSpPr>
          <p:cNvPr id="13" name="Position 2"/>
          <p:cNvSpPr/>
          <p:nvPr/>
        </p:nvSpPr>
        <p:spPr>
          <a:xfrm>
            <a:off x="4343400" y="2834640"/>
            <a:ext cx="3474720" cy="3291840"/>
          </a:xfrm>
          <a:prstGeom prst="roundRect">
            <a:avLst>
              <a:gd name="adj" fmla="val 2778"/>
            </a:avLst>
          </a:prstGeom>
          <a:solidFill>
            <a:schemeClr val="tx2"/>
          </a:solidFill>
          <a:ln w="12700">
            <a:solidFill>
              <a:schemeClr val="tx2"/>
            </a:solidFill>
            <a:prstDash val="solid"/>
          </a:ln>
        </p:spPr>
      </p:sp>
      <p:sp>
        <p:nvSpPr>
          <p:cNvPr id="14" name="What we do not claim circle"/>
          <p:cNvSpPr/>
          <p:nvPr/>
        </p:nvSpPr>
        <p:spPr>
          <a:xfrm>
            <a:off x="4617720" y="3063240"/>
            <a:ext cx="640080" cy="640080"/>
          </a:xfrm>
          <a:prstGeom prst="ellipse">
            <a:avLst/>
          </a:prstGeom>
          <a:solidFill>
            <a:schemeClr val="accent1"/>
          </a:solidFill>
          <a:ln w="12700">
            <a:solidFill>
              <a:schemeClr val="accent1"/>
            </a:solidFill>
            <a:prstDash val="solid"/>
          </a:ln>
        </p:spPr>
      </p:sp>
      <p:pic>
        <p:nvPicPr>
          <p:cNvPr id="15" name="Image 1" descr="What we do not claim icon">    </p:cNvPr>
          <p:cNvPicPr>
            <a:picLocks noChangeAspect="1"/>
          </p:cNvPicPr>
          <p:nvPr/>
        </p:nvPicPr>
        <p:blipFill>
          <a:blip r:embed="rId2"/>
          <a:stretch>
            <a:fillRect/>
          </a:stretch>
        </p:blipFill>
        <p:spPr>
          <a:xfrm>
            <a:off x="4758538" y="3204058"/>
            <a:ext cx="358445" cy="358445"/>
          </a:xfrm>
          <a:prstGeom prst="rect">
            <a:avLst/>
          </a:prstGeom>
        </p:spPr>
      </p:pic>
      <p:sp>
        <p:nvSpPr>
          <p:cNvPr id="16" name="Text 12"/>
          <p:cNvSpPr txBox="1"/>
          <p:nvPr/>
        </p:nvSpPr>
        <p:spPr>
          <a:xfrm>
            <a:off x="5440680" y="3063240"/>
            <a:ext cx="2194560" cy="640080"/>
          </a:xfrm>
          <a:prstGeom prst="rect">
            <a:avLst/>
          </a:prstGeom>
          <a:noFill/>
          <a:ln/>
        </p:spPr>
        <p:txBody>
          <a:bodyPr wrap="square" lIns="0" tIns="0" rIns="0" bIns="0" rtlCol="0" anchor="ctr"/>
          <a:lstStyle/>
          <a:p>
            <a:pPr indent="0" marL="0">
              <a:buNone/>
            </a:pPr>
            <a:r>
              <a:rPr lang="en-US" sz="1700" b="1" dirty="0">
                <a:solidFill>
                  <a:schemeClr val="bg1"/>
                </a:solidFill>
              </a:rPr>
              <a:t>What we do not claim</a:t>
            </a:r>
            <a:endParaRPr lang="en-US" sz="1700" dirty="0"/>
          </a:p>
        </p:txBody>
      </p:sp>
      <p:sp>
        <p:nvSpPr>
          <p:cNvPr id="17" name="Text 13"/>
          <p:cNvSpPr txBox="1"/>
          <p:nvPr/>
        </p:nvSpPr>
        <p:spPr>
          <a:xfrm>
            <a:off x="4663440" y="3931920"/>
            <a:ext cx="2880360" cy="20116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chemeClr val="accent4"/>
                </a:solidFill>
              </a:rPr>
              <a:t>No real courier GPS or payments</a:t>
            </a:r>
            <a:endParaRPr lang="en-US" sz="1350" dirty="0"/>
          </a:p>
          <a:p>
            <a:pPr marL="203200" indent="-203200">
              <a:spcAft>
                <a:spcPts val="800"/>
              </a:spcAft>
              <a:buSzPct val="100000"/>
              <a:buChar char="•"/>
            </a:pPr>
            <a:r>
              <a:rPr lang="en-US" sz="1350" dirty="0">
                <a:solidFill>
                  <a:schemeClr val="accent4"/>
                </a:solidFill>
              </a:rPr>
              <a:t>No performance benchmark yet</a:t>
            </a:r>
            <a:endParaRPr lang="en-US" sz="1350" dirty="0"/>
          </a:p>
          <a:p>
            <a:pPr marL="203200" indent="-203200">
              <a:spcAft>
                <a:spcPts val="800"/>
              </a:spcAft>
              <a:buSzPct val="100000"/>
              <a:buChar char="•"/>
            </a:pPr>
            <a:r>
              <a:rPr lang="en-US" sz="1350" dirty="0">
                <a:solidFill>
                  <a:schemeClr val="accent4"/>
                </a:solidFill>
              </a:rPr>
              <a:t>CI/CD and full C4 diagrams still to do</a:t>
            </a:r>
            <a:endParaRPr lang="en-US" sz="1350" dirty="0"/>
          </a:p>
        </p:txBody>
      </p:sp>
      <p:sp>
        <p:nvSpPr>
          <p:cNvPr id="18" name="Position 3"/>
          <p:cNvSpPr/>
          <p:nvPr/>
        </p:nvSpPr>
        <p:spPr>
          <a:xfrm>
            <a:off x="8138160" y="2834640"/>
            <a:ext cx="3474720" cy="3291840"/>
          </a:xfrm>
          <a:prstGeom prst="roundRect">
            <a:avLst>
              <a:gd name="adj" fmla="val 2778"/>
            </a:avLst>
          </a:prstGeom>
          <a:solidFill>
            <a:schemeClr val="tx2"/>
          </a:solidFill>
          <a:ln w="12700">
            <a:solidFill>
              <a:schemeClr val="tx2"/>
            </a:solidFill>
            <a:prstDash val="solid"/>
          </a:ln>
        </p:spPr>
      </p:sp>
      <p:sp>
        <p:nvSpPr>
          <p:cNvPr id="19" name="Suggested next steps circle"/>
          <p:cNvSpPr/>
          <p:nvPr/>
        </p:nvSpPr>
        <p:spPr>
          <a:xfrm>
            <a:off x="8412480" y="3063240"/>
            <a:ext cx="640080" cy="640080"/>
          </a:xfrm>
          <a:prstGeom prst="ellipse">
            <a:avLst/>
          </a:prstGeom>
          <a:solidFill>
            <a:schemeClr val="accent1"/>
          </a:solidFill>
          <a:ln w="12700">
            <a:solidFill>
              <a:schemeClr val="accent1"/>
            </a:solidFill>
            <a:prstDash val="solid"/>
          </a:ln>
        </p:spPr>
      </p:sp>
      <p:pic>
        <p:nvPicPr>
          <p:cNvPr id="20" name="Image 2" descr="Suggested next steps icon">    </p:cNvPr>
          <p:cNvPicPr>
            <a:picLocks noChangeAspect="1"/>
          </p:cNvPicPr>
          <p:nvPr/>
        </p:nvPicPr>
        <p:blipFill>
          <a:blip r:embed="rId3"/>
          <a:stretch>
            <a:fillRect/>
          </a:stretch>
        </p:blipFill>
        <p:spPr>
          <a:xfrm>
            <a:off x="8553298" y="3204058"/>
            <a:ext cx="358445" cy="358445"/>
          </a:xfrm>
          <a:prstGeom prst="rect">
            <a:avLst/>
          </a:prstGeom>
        </p:spPr>
      </p:pic>
      <p:sp>
        <p:nvSpPr>
          <p:cNvPr id="21" name="Text 16"/>
          <p:cNvSpPr txBox="1"/>
          <p:nvPr/>
        </p:nvSpPr>
        <p:spPr>
          <a:xfrm>
            <a:off x="9235440" y="3063240"/>
            <a:ext cx="2194560" cy="640080"/>
          </a:xfrm>
          <a:prstGeom prst="rect">
            <a:avLst/>
          </a:prstGeom>
          <a:noFill/>
          <a:ln/>
        </p:spPr>
        <p:txBody>
          <a:bodyPr wrap="square" lIns="0" tIns="0" rIns="0" bIns="0" rtlCol="0" anchor="ctr"/>
          <a:lstStyle/>
          <a:p>
            <a:pPr indent="0" marL="0">
              <a:buNone/>
            </a:pPr>
            <a:r>
              <a:rPr lang="en-US" sz="1700" b="1" dirty="0">
                <a:solidFill>
                  <a:schemeClr val="bg1"/>
                </a:solidFill>
              </a:rPr>
              <a:t>Suggested next steps</a:t>
            </a:r>
            <a:endParaRPr lang="en-US" sz="1700" dirty="0"/>
          </a:p>
        </p:txBody>
      </p:sp>
      <p:sp>
        <p:nvSpPr>
          <p:cNvPr id="22" name="Text 17"/>
          <p:cNvSpPr txBox="1"/>
          <p:nvPr/>
        </p:nvSpPr>
        <p:spPr>
          <a:xfrm>
            <a:off x="8458200" y="3931920"/>
            <a:ext cx="2880360" cy="20116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chemeClr val="accent4"/>
                </a:solidFill>
              </a:rPr>
              <a:t>Benchmark MySQL and MongoDB on DockFlow workloads</a:t>
            </a:r>
            <a:endParaRPr lang="en-US" sz="1350" dirty="0"/>
          </a:p>
          <a:p>
            <a:pPr marL="203200" indent="-203200">
              <a:spcAft>
                <a:spcPts val="800"/>
              </a:spcAft>
              <a:buSzPct val="100000"/>
              <a:buChar char="•"/>
            </a:pPr>
            <a:r>
              <a:rPr lang="en-US" sz="1350" dirty="0">
                <a:solidFill>
                  <a:schemeClr val="accent4"/>
                </a:solidFill>
              </a:rPr>
              <a:t>Test duplicate shipment events with Kafka</a:t>
            </a:r>
            <a:endParaRPr lang="en-US" sz="1350" dirty="0"/>
          </a:p>
          <a:p>
            <a:pPr marL="203200" indent="-203200">
              <a:spcAft>
                <a:spcPts val="800"/>
              </a:spcAft>
              <a:buSzPct val="100000"/>
              <a:buChar char="•"/>
            </a:pPr>
            <a:r>
              <a:rPr lang="en-US" sz="1350" dirty="0">
                <a:solidFill>
                  <a:schemeClr val="accent4"/>
                </a:solidFill>
              </a:rPr>
              <a:t>Widen the review: event streaming and 3PL</a:t>
            </a:r>
            <a:endParaRPr lang="en-US" sz="13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5  ·  PRESENTATION</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References</a:t>
            </a:r>
            <a:endParaRPr lang="en-US" sz="3200" dirty="0"/>
          </a:p>
        </p:txBody>
      </p:sp>
      <p:sp>
        <p:nvSpPr>
          <p:cNvPr id="6" name="Reference card"/>
          <p:cNvSpPr/>
          <p:nvPr/>
        </p:nvSpPr>
        <p:spPr>
          <a:xfrm>
            <a:off x="548640" y="1508760"/>
            <a:ext cx="11064240" cy="4617720"/>
          </a:xfrm>
          <a:prstGeom prst="roundRect">
            <a:avLst>
              <a:gd name="adj" fmla="val 1980"/>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7" name="Text 5"/>
          <p:cNvSpPr txBox="1"/>
          <p:nvPr/>
        </p:nvSpPr>
        <p:spPr>
          <a:xfrm>
            <a:off x="868680" y="1737360"/>
            <a:ext cx="10424160" cy="4160520"/>
          </a:xfrm>
          <a:prstGeom prst="rect">
            <a:avLst/>
          </a:prstGeom>
          <a:noFill/>
          <a:ln/>
        </p:spPr>
        <p:txBody>
          <a:bodyPr wrap="square" lIns="0" tIns="0" rIns="0" bIns="0" rtlCol="0" anchor="t"/>
          <a:lstStyle/>
          <a:p>
            <a:pPr indent="0" marL="0">
              <a:spcAft>
                <a:spcPts val="700"/>
              </a:spcAft>
              <a:buNone/>
            </a:pPr>
            <a:r>
              <a:rPr lang="en-US" sz="1250" dirty="0">
                <a:solidFill>
                  <a:schemeClr val="tx1"/>
                </a:solidFill>
              </a:rPr>
              <a:t>[1]  J. Kreps, N. Narkhede and J. Rao, "Kafka: a distributed messaging system for log processing," NetDB'11, Athens, Greece, 2011.</a:t>
            </a:r>
            <a:endParaRPr lang="en-US" sz="1250" dirty="0"/>
          </a:p>
          <a:p>
            <a:pPr indent="0" marL="0">
              <a:spcAft>
                <a:spcPts val="700"/>
              </a:spcAft>
              <a:buNone/>
            </a:pPr>
            <a:r>
              <a:rPr lang="en-US" sz="1250" dirty="0">
                <a:solidFill>
                  <a:schemeClr val="tx1"/>
                </a:solidFill>
              </a:rPr>
              <a:t>[2]  K. Redżeb, "Innovative Methods in Warehouse Management: A Comprehensive Review," in Technology: Toward Business Sustainability (ICBT 2023), LNNS vol. 925, Springer, Cham, 2024.</a:t>
            </a:r>
            <a:endParaRPr lang="en-US" sz="1250" dirty="0"/>
          </a:p>
          <a:p>
            <a:pPr indent="0" marL="0">
              <a:spcAft>
                <a:spcPts val="700"/>
              </a:spcAft>
              <a:buNone/>
            </a:pPr>
            <a:r>
              <a:rPr lang="en-US" sz="1250" dirty="0">
                <a:solidFill>
                  <a:schemeClr val="tx1"/>
                </a:solidFill>
              </a:rPr>
              <a:t>[3]  Persson, "The effective integration and optimization of Warehouse Management Systems: A Systematic Literature Review," Bachelor thesis, Chalmers University of Technology.</a:t>
            </a:r>
            <a:endParaRPr lang="en-US" sz="1250" dirty="0"/>
          </a:p>
          <a:p>
            <a:pPr indent="0" marL="0">
              <a:spcAft>
                <a:spcPts val="700"/>
              </a:spcAft>
              <a:buNone/>
            </a:pPr>
            <a:r>
              <a:rPr lang="en-US" sz="1250" dirty="0">
                <a:solidFill>
                  <a:schemeClr val="tx1"/>
                </a:solidFill>
              </a:rPr>
              <a:t>[4]  J. Kazanavičius et al., "An approach to migrate a monolith database into multi-model polyglot persistence based on microservice architecture: A case study for mainframe database," Applied Sciences, vol. 12, art. 6189, 2022.</a:t>
            </a:r>
            <a:endParaRPr lang="en-US" sz="1250" dirty="0"/>
          </a:p>
          <a:p>
            <a:pPr indent="0" marL="0">
              <a:spcAft>
                <a:spcPts val="700"/>
              </a:spcAft>
              <a:buNone/>
            </a:pPr>
            <a:r>
              <a:rPr lang="en-US" sz="1250" dirty="0">
                <a:solidFill>
                  <a:schemeClr val="tx1"/>
                </a:solidFill>
              </a:rPr>
              <a:t>[5]  F. Halili, A. Nuhiji and D. Mustafai-Veliu, "Polyglot Persistence in Microservices: Managing Data Diversity in Distributed Systems," arXiv:2509.08014, 2025.</a:t>
            </a:r>
            <a:endParaRPr lang="en-US" sz="1250" dirty="0"/>
          </a:p>
          <a:p>
            <a:pPr indent="0" marL="0">
              <a:spcAft>
                <a:spcPts val="700"/>
              </a:spcAft>
              <a:buNone/>
            </a:pPr>
            <a:r>
              <a:rPr lang="en-US" sz="1250" dirty="0">
                <a:solidFill>
                  <a:schemeClr val="tx1"/>
                </a:solidFill>
              </a:rPr>
              <a:t>[6]  "Benchmarking SQL and NoSQL Persistence in Microservices Under Variable Workloads," Future Internet, vol. 18, art. 53, 2026.</a:t>
            </a:r>
            <a:endParaRPr lang="en-US" sz="1250" dirty="0"/>
          </a:p>
          <a:p>
            <a:pPr indent="0" marL="0">
              <a:spcAft>
                <a:spcPts val="700"/>
              </a:spcAft>
              <a:buNone/>
            </a:pPr>
            <a:r>
              <a:rPr lang="en-US" sz="1250" dirty="0">
                <a:solidFill>
                  <a:schemeClr val="tx1"/>
                </a:solidFill>
              </a:rPr>
              <a:t>[7]  "MongoDB vs MySQL: A Comparative Study of MongoDB and MySQL Based on Their Performance," EasyChair Preprint 4475, Oct. 2020.</a:t>
            </a:r>
            <a:endParaRPr lang="en-US" sz="1250" dirty="0"/>
          </a:p>
          <a:p>
            <a:pPr indent="0" marL="0">
              <a:spcAft>
                <a:spcPts val="700"/>
              </a:spcAft>
              <a:buNone/>
            </a:pPr>
            <a:r>
              <a:rPr lang="en-US" sz="1250" dirty="0">
                <a:solidFill>
                  <a:schemeClr val="tx1"/>
                </a:solidFill>
              </a:rPr>
              <a:t>[8]  B. Pllana and G. Krasniqi, "Towards Polyglot Persistence: The Use of Various Data Storages with Microservices Architecture," UBT International Conference, 2019.</a:t>
            </a:r>
            <a:endParaRPr lang="en-US" sz="12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5  ·  PRESENTATION</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Summary: DockFlow Review 2</a:t>
            </a:r>
            <a:endParaRPr lang="en-US" sz="3200" dirty="0"/>
          </a:p>
        </p:txBody>
      </p:sp>
      <p:sp>
        <p:nvSpPr>
          <p:cNvPr id="6" name="Summary 1"/>
          <p:cNvSpPr/>
          <p:nvPr/>
        </p:nvSpPr>
        <p:spPr>
          <a:xfrm>
            <a:off x="548640" y="1554480"/>
            <a:ext cx="2560320" cy="2834640"/>
          </a:xfrm>
          <a:prstGeom prst="roundRect">
            <a:avLst>
              <a:gd name="adj" fmla="val 3571"/>
            </a:avLst>
          </a:prstGeom>
          <a:solidFill>
            <a:schemeClr val="tx2"/>
          </a:solidFill>
          <a:ln w="12700">
            <a:solidFill>
              <a:schemeClr val="tx2"/>
            </a:solidFill>
            <a:prstDash val="solid"/>
          </a:ln>
        </p:spPr>
      </p:sp>
      <p:sp>
        <p:nvSpPr>
          <p:cNvPr id="7" name="Relevant circle"/>
          <p:cNvSpPr/>
          <p:nvPr/>
        </p:nvSpPr>
        <p:spPr>
          <a:xfrm>
            <a:off x="822960" y="1783080"/>
            <a:ext cx="685800" cy="685800"/>
          </a:xfrm>
          <a:prstGeom prst="ellipse">
            <a:avLst/>
          </a:prstGeom>
          <a:solidFill>
            <a:schemeClr val="accent1"/>
          </a:solidFill>
          <a:ln w="12700">
            <a:solidFill>
              <a:schemeClr val="accent1"/>
            </a:solidFill>
            <a:prstDash val="solid"/>
          </a:ln>
        </p:spPr>
      </p:sp>
      <p:pic>
        <p:nvPicPr>
          <p:cNvPr id="8" name="Image 0" descr="Relevant icon">    </p:cNvPr>
          <p:cNvPicPr>
            <a:picLocks noChangeAspect="1"/>
          </p:cNvPicPr>
          <p:nvPr/>
        </p:nvPicPr>
        <p:blipFill>
          <a:blip r:embed="rId1"/>
          <a:stretch>
            <a:fillRect/>
          </a:stretch>
        </p:blipFill>
        <p:spPr>
          <a:xfrm>
            <a:off x="973836" y="1933956"/>
            <a:ext cx="384048" cy="384048"/>
          </a:xfrm>
          <a:prstGeom prst="rect">
            <a:avLst/>
          </a:prstGeom>
        </p:spPr>
      </p:pic>
      <p:sp>
        <p:nvSpPr>
          <p:cNvPr id="9" name="Text 6"/>
          <p:cNvSpPr txBox="1"/>
          <p:nvPr/>
        </p:nvSpPr>
        <p:spPr>
          <a:xfrm>
            <a:off x="822960" y="2651760"/>
            <a:ext cx="210312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Relevant</a:t>
            </a:r>
            <a:endParaRPr lang="en-US" sz="2200" dirty="0"/>
          </a:p>
        </p:txBody>
      </p:sp>
      <p:sp>
        <p:nvSpPr>
          <p:cNvPr id="10" name="Text 7"/>
          <p:cNvSpPr txBox="1"/>
          <p:nvPr/>
        </p:nvSpPr>
        <p:spPr>
          <a:xfrm>
            <a:off x="822960" y="3200400"/>
            <a:ext cx="2057400" cy="1097280"/>
          </a:xfrm>
          <a:prstGeom prst="rect">
            <a:avLst/>
          </a:prstGeom>
          <a:noFill/>
          <a:ln/>
        </p:spPr>
        <p:txBody>
          <a:bodyPr wrap="square" lIns="0" tIns="0" rIns="0" bIns="0" rtlCol="0" anchor="t"/>
          <a:lstStyle/>
          <a:p>
            <a:pPr indent="0" marL="0">
              <a:buNone/>
            </a:pPr>
            <a:r>
              <a:rPr lang="en-US" sz="1350" dirty="0">
                <a:solidFill>
                  <a:schemeClr val="accent4"/>
                </a:solidFill>
              </a:rPr>
              <a:t>Every source maps to a DockFlow component.</a:t>
            </a:r>
            <a:endParaRPr lang="en-US" sz="1350" dirty="0"/>
          </a:p>
        </p:txBody>
      </p:sp>
      <p:sp>
        <p:nvSpPr>
          <p:cNvPr id="11" name="Summary 2"/>
          <p:cNvSpPr/>
          <p:nvPr/>
        </p:nvSpPr>
        <p:spPr>
          <a:xfrm>
            <a:off x="3383280" y="1554480"/>
            <a:ext cx="2560320" cy="2834640"/>
          </a:xfrm>
          <a:prstGeom prst="roundRect">
            <a:avLst>
              <a:gd name="adj" fmla="val 3571"/>
            </a:avLst>
          </a:prstGeom>
          <a:solidFill>
            <a:schemeClr val="tx2"/>
          </a:solidFill>
          <a:ln w="12700">
            <a:solidFill>
              <a:schemeClr val="tx2"/>
            </a:solidFill>
            <a:prstDash val="solid"/>
          </a:ln>
        </p:spPr>
      </p:sp>
      <p:sp>
        <p:nvSpPr>
          <p:cNvPr id="12" name="In depth circle"/>
          <p:cNvSpPr/>
          <p:nvPr/>
        </p:nvSpPr>
        <p:spPr>
          <a:xfrm>
            <a:off x="3657600" y="1783080"/>
            <a:ext cx="685800" cy="685800"/>
          </a:xfrm>
          <a:prstGeom prst="ellipse">
            <a:avLst/>
          </a:prstGeom>
          <a:solidFill>
            <a:schemeClr val="accent1"/>
          </a:solidFill>
          <a:ln w="12700">
            <a:solidFill>
              <a:schemeClr val="accent1"/>
            </a:solidFill>
            <a:prstDash val="solid"/>
          </a:ln>
        </p:spPr>
      </p:sp>
      <p:pic>
        <p:nvPicPr>
          <p:cNvPr id="13" name="Image 1" descr="In depth icon">    </p:cNvPr>
          <p:cNvPicPr>
            <a:picLocks noChangeAspect="1"/>
          </p:cNvPicPr>
          <p:nvPr/>
        </p:nvPicPr>
        <p:blipFill>
          <a:blip r:embed="rId2"/>
          <a:stretch>
            <a:fillRect/>
          </a:stretch>
        </p:blipFill>
        <p:spPr>
          <a:xfrm>
            <a:off x="3808476" y="1933956"/>
            <a:ext cx="384048" cy="384048"/>
          </a:xfrm>
          <a:prstGeom prst="rect">
            <a:avLst/>
          </a:prstGeom>
        </p:spPr>
      </p:pic>
      <p:sp>
        <p:nvSpPr>
          <p:cNvPr id="14" name="Text 10"/>
          <p:cNvSpPr txBox="1"/>
          <p:nvPr/>
        </p:nvSpPr>
        <p:spPr>
          <a:xfrm>
            <a:off x="3657600" y="2651760"/>
            <a:ext cx="210312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In depth</a:t>
            </a:r>
            <a:endParaRPr lang="en-US" sz="2200" dirty="0"/>
          </a:p>
        </p:txBody>
      </p:sp>
      <p:sp>
        <p:nvSpPr>
          <p:cNvPr id="15" name="Text 11"/>
          <p:cNvSpPr txBox="1"/>
          <p:nvPr/>
        </p:nvSpPr>
        <p:spPr>
          <a:xfrm>
            <a:off x="3657600" y="3200400"/>
            <a:ext cx="2057400" cy="1097280"/>
          </a:xfrm>
          <a:prstGeom prst="rect">
            <a:avLst/>
          </a:prstGeom>
          <a:noFill/>
          <a:ln/>
        </p:spPr>
        <p:txBody>
          <a:bodyPr wrap="square" lIns="0" tIns="0" rIns="0" bIns="0" rtlCol="0" anchor="t"/>
          <a:lstStyle/>
          <a:p>
            <a:pPr indent="0" marL="0">
              <a:buNone/>
            </a:pPr>
            <a:r>
              <a:rPr lang="en-US" sz="1350" dirty="0">
                <a:solidFill>
                  <a:schemeClr val="accent4"/>
                </a:solidFill>
              </a:rPr>
              <a:t>8 sources, 4 areas, 2011 to 2026, each summarized.</a:t>
            </a:r>
            <a:endParaRPr lang="en-US" sz="1350" dirty="0"/>
          </a:p>
        </p:txBody>
      </p:sp>
      <p:sp>
        <p:nvSpPr>
          <p:cNvPr id="16" name="Summary 3"/>
          <p:cNvSpPr/>
          <p:nvPr/>
        </p:nvSpPr>
        <p:spPr>
          <a:xfrm>
            <a:off x="6217920" y="1554480"/>
            <a:ext cx="2560320" cy="2834640"/>
          </a:xfrm>
          <a:prstGeom prst="roundRect">
            <a:avLst>
              <a:gd name="adj" fmla="val 3571"/>
            </a:avLst>
          </a:prstGeom>
          <a:solidFill>
            <a:schemeClr val="tx2"/>
          </a:solidFill>
          <a:ln w="12700">
            <a:solidFill>
              <a:schemeClr val="tx2"/>
            </a:solidFill>
            <a:prstDash val="solid"/>
          </a:ln>
        </p:spPr>
      </p:sp>
      <p:sp>
        <p:nvSpPr>
          <p:cNvPr id="17" name="Critical circle"/>
          <p:cNvSpPr/>
          <p:nvPr/>
        </p:nvSpPr>
        <p:spPr>
          <a:xfrm>
            <a:off x="6492240" y="1783080"/>
            <a:ext cx="685800" cy="685800"/>
          </a:xfrm>
          <a:prstGeom prst="ellipse">
            <a:avLst/>
          </a:prstGeom>
          <a:solidFill>
            <a:schemeClr val="accent1"/>
          </a:solidFill>
          <a:ln w="12700">
            <a:solidFill>
              <a:schemeClr val="accent1"/>
            </a:solidFill>
            <a:prstDash val="solid"/>
          </a:ln>
        </p:spPr>
      </p:sp>
      <p:pic>
        <p:nvPicPr>
          <p:cNvPr id="18" name="Image 2" descr="Critical icon">    </p:cNvPr>
          <p:cNvPicPr>
            <a:picLocks noChangeAspect="1"/>
          </p:cNvPicPr>
          <p:nvPr/>
        </p:nvPicPr>
        <p:blipFill>
          <a:blip r:embed="rId3"/>
          <a:stretch>
            <a:fillRect/>
          </a:stretch>
        </p:blipFill>
        <p:spPr>
          <a:xfrm>
            <a:off x="6643116" y="1933956"/>
            <a:ext cx="384048" cy="384048"/>
          </a:xfrm>
          <a:prstGeom prst="rect">
            <a:avLst/>
          </a:prstGeom>
        </p:spPr>
      </p:pic>
      <p:sp>
        <p:nvSpPr>
          <p:cNvPr id="19" name="Text 14"/>
          <p:cNvSpPr txBox="1"/>
          <p:nvPr/>
        </p:nvSpPr>
        <p:spPr>
          <a:xfrm>
            <a:off x="6492240" y="2651760"/>
            <a:ext cx="210312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Critical</a:t>
            </a:r>
            <a:endParaRPr lang="en-US" sz="2200" dirty="0"/>
          </a:p>
        </p:txBody>
      </p:sp>
      <p:sp>
        <p:nvSpPr>
          <p:cNvPr id="20" name="Text 15"/>
          <p:cNvSpPr txBox="1"/>
          <p:nvPr/>
        </p:nvSpPr>
        <p:spPr>
          <a:xfrm>
            <a:off x="6492240" y="3200400"/>
            <a:ext cx="2057400" cy="1097280"/>
          </a:xfrm>
          <a:prstGeom prst="rect">
            <a:avLst/>
          </a:prstGeom>
          <a:noFill/>
          <a:ln/>
        </p:spPr>
        <p:txBody>
          <a:bodyPr wrap="square" lIns="0" tIns="0" rIns="0" bIns="0" rtlCol="0" anchor="t"/>
          <a:lstStyle/>
          <a:p>
            <a:pPr indent="0" marL="0">
              <a:buNone/>
            </a:pPr>
            <a:r>
              <a:rPr lang="en-US" sz="1350" dirty="0">
                <a:solidFill>
                  <a:schemeClr val="accent4"/>
                </a:solidFill>
              </a:rPr>
              <a:t>Strengths, limits and a contrast between studies.</a:t>
            </a:r>
            <a:endParaRPr lang="en-US" sz="1350" dirty="0"/>
          </a:p>
        </p:txBody>
      </p:sp>
      <p:sp>
        <p:nvSpPr>
          <p:cNvPr id="21" name="Summary 4"/>
          <p:cNvSpPr/>
          <p:nvPr/>
        </p:nvSpPr>
        <p:spPr>
          <a:xfrm>
            <a:off x="9052560" y="1554480"/>
            <a:ext cx="2560320" cy="2834640"/>
          </a:xfrm>
          <a:prstGeom prst="roundRect">
            <a:avLst>
              <a:gd name="adj" fmla="val 3571"/>
            </a:avLst>
          </a:prstGeom>
          <a:solidFill>
            <a:schemeClr val="tx2"/>
          </a:solidFill>
          <a:ln w="12700">
            <a:solidFill>
              <a:schemeClr val="tx2"/>
            </a:solidFill>
            <a:prstDash val="solid"/>
          </a:ln>
        </p:spPr>
      </p:sp>
      <p:sp>
        <p:nvSpPr>
          <p:cNvPr id="22" name="Gap-driven circle"/>
          <p:cNvSpPr/>
          <p:nvPr/>
        </p:nvSpPr>
        <p:spPr>
          <a:xfrm>
            <a:off x="9326880" y="1783080"/>
            <a:ext cx="685800" cy="685800"/>
          </a:xfrm>
          <a:prstGeom prst="ellipse">
            <a:avLst/>
          </a:prstGeom>
          <a:solidFill>
            <a:schemeClr val="accent1"/>
          </a:solidFill>
          <a:ln w="12700">
            <a:solidFill>
              <a:schemeClr val="accent1"/>
            </a:solidFill>
            <a:prstDash val="solid"/>
          </a:ln>
        </p:spPr>
      </p:sp>
      <p:pic>
        <p:nvPicPr>
          <p:cNvPr id="23" name="Image 3" descr="Gap-driven icon">    </p:cNvPr>
          <p:cNvPicPr>
            <a:picLocks noChangeAspect="1"/>
          </p:cNvPicPr>
          <p:nvPr/>
        </p:nvPicPr>
        <p:blipFill>
          <a:blip r:embed="rId4"/>
          <a:stretch>
            <a:fillRect/>
          </a:stretch>
        </p:blipFill>
        <p:spPr>
          <a:xfrm>
            <a:off x="9477756" y="1933956"/>
            <a:ext cx="384048" cy="384048"/>
          </a:xfrm>
          <a:prstGeom prst="rect">
            <a:avLst/>
          </a:prstGeom>
        </p:spPr>
      </p:pic>
      <p:sp>
        <p:nvSpPr>
          <p:cNvPr id="24" name="Text 18"/>
          <p:cNvSpPr txBox="1"/>
          <p:nvPr/>
        </p:nvSpPr>
        <p:spPr>
          <a:xfrm>
            <a:off x="9326880" y="2651760"/>
            <a:ext cx="210312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Gap-driven</a:t>
            </a:r>
            <a:endParaRPr lang="en-US" sz="2200" dirty="0"/>
          </a:p>
        </p:txBody>
      </p:sp>
      <p:sp>
        <p:nvSpPr>
          <p:cNvPr id="25" name="Text 19"/>
          <p:cNvSpPr txBox="1"/>
          <p:nvPr/>
        </p:nvSpPr>
        <p:spPr>
          <a:xfrm>
            <a:off x="9326880" y="3200400"/>
            <a:ext cx="2057400" cy="1097280"/>
          </a:xfrm>
          <a:prstGeom prst="rect">
            <a:avLst/>
          </a:prstGeom>
          <a:noFill/>
          <a:ln/>
        </p:spPr>
        <p:txBody>
          <a:bodyPr wrap="square" lIns="0" tIns="0" rIns="0" bIns="0" rtlCol="0" anchor="t"/>
          <a:lstStyle/>
          <a:p>
            <a:pPr indent="0" marL="0">
              <a:buNone/>
            </a:pPr>
            <a:r>
              <a:rPr lang="en-US" sz="1350" dirty="0">
                <a:solidFill>
                  <a:schemeClr val="accent4"/>
                </a:solidFill>
              </a:rPr>
              <a:t>4 gaps, each linked to what DockFlow does.</a:t>
            </a:r>
            <a:endParaRPr lang="en-US" sz="1350" dirty="0"/>
          </a:p>
        </p:txBody>
      </p:sp>
      <p:sp>
        <p:nvSpPr>
          <p:cNvPr id="26" name="Text 20"/>
          <p:cNvSpPr txBox="1"/>
          <p:nvPr/>
        </p:nvSpPr>
        <p:spPr>
          <a:xfrm>
            <a:off x="548640" y="4754880"/>
            <a:ext cx="54864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Thank you</a:t>
            </a:r>
            <a:endParaRPr lang="en-US" sz="4400" dirty="0"/>
          </a:p>
        </p:txBody>
      </p:sp>
      <p:sp>
        <p:nvSpPr>
          <p:cNvPr id="27" name="Text 21"/>
          <p:cNvSpPr txBox="1"/>
          <p:nvPr/>
        </p:nvSpPr>
        <p:spPr>
          <a:xfrm>
            <a:off x="548640" y="5577840"/>
            <a:ext cx="5943600" cy="365760"/>
          </a:xfrm>
          <a:prstGeom prst="rect">
            <a:avLst/>
          </a:prstGeom>
          <a:noFill/>
          <a:ln/>
        </p:spPr>
        <p:txBody>
          <a:bodyPr wrap="square" lIns="0" tIns="0" rIns="0" bIns="0" rtlCol="0" anchor="ctr"/>
          <a:lstStyle/>
          <a:p>
            <a:pPr indent="0" marL="0">
              <a:buNone/>
            </a:pPr>
            <a:r>
              <a:rPr lang="en-US" sz="1700" dirty="0">
                <a:solidFill>
                  <a:schemeClr val="accent4"/>
                </a:solidFill>
              </a:rPr>
              <a:t>We are happy to take your questions.</a:t>
            </a:r>
            <a:endParaRPr lang="en-US" sz="1700" dirty="0"/>
          </a:p>
        </p:txBody>
      </p:sp>
      <p:sp>
        <p:nvSpPr>
          <p:cNvPr id="28" name="Text 22"/>
          <p:cNvSpPr txBox="1"/>
          <p:nvPr/>
        </p:nvSpPr>
        <p:spPr>
          <a:xfrm>
            <a:off x="6583680" y="5029200"/>
            <a:ext cx="5029200" cy="822960"/>
          </a:xfrm>
          <a:prstGeom prst="rect">
            <a:avLst/>
          </a:prstGeom>
          <a:noFill/>
          <a:ln/>
        </p:spPr>
        <p:txBody>
          <a:bodyPr wrap="square" lIns="0" tIns="0" rIns="0" bIns="0" rtlCol="0" anchor="t"/>
          <a:lstStyle/>
          <a:p>
            <a:pPr algn="r" indent="0" marL="0">
              <a:buNone/>
            </a:pPr>
            <a:r>
              <a:rPr lang="en-US" sz="1400" dirty="0">
                <a:solidFill>
                  <a:schemeClr val="accent4"/>
                </a:solidFill>
              </a:rPr>
              <a:t>U. Sindhuja  •  P. Bhagya Sri  •  S. Rishitha Reddy</a:t>
            </a:r>
            <a:endParaRPr lang="en-US" sz="1400" dirty="0"/>
          </a:p>
          <a:p>
            <a:pPr algn="r" indent="0" marL="0">
              <a:buNone/>
            </a:pPr>
            <a:r>
              <a:rPr lang="en-US" sz="1400" dirty="0">
                <a:solidFill>
                  <a:schemeClr val="accent4"/>
                </a:solidFill>
              </a:rPr>
              <a:t>Team No-14  |  Guided by Dr. M. Gayatri</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DockFlow">
  <a:themeElements>
    <a:clrScheme name="DockFlow">
      <a:dk1>
        <a:srgbClr val="1B2A41"/>
      </a:dk1>
      <a:lt1>
        <a:srgbClr val="FFFFFF"/>
      </a:lt1>
      <a:dk2>
        <a:srgbClr val="3E5C76"/>
      </a:dk2>
      <a:lt2>
        <a:srgbClr val="F7F9FB"/>
      </a:lt2>
      <a:accent1>
        <a:srgbClr val="F2A541"/>
      </a:accent1>
      <a:accent2>
        <a:srgbClr val="3E5C76"/>
      </a:accent2>
      <a:accent3>
        <a:srgbClr val="5C6B7A"/>
      </a:accent3>
      <a:accent4>
        <a:srgbClr val="D8E1E9"/>
      </a:accent4>
      <a:accent5>
        <a:srgbClr val="9FB2C4"/>
      </a:accent5>
      <a:accent6>
        <a:srgbClr val="2E7D6B"/>
      </a:accent6>
      <a:hlink>
        <a:srgbClr val="3E5C76"/>
      </a:hlink>
      <a:folHlink>
        <a:srgbClr val="5C6B7A"/>
      </a:folHlink>
    </a:clrScheme>
    <a:fontScheme name="Dock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DockFlow - Review 2</dc:title>
  <dc:subject>PptxGenJS Presentation</dc:subject>
  <dc:creator>Team 14, Section 13</dc:creator>
  <cp:lastModifiedBy>Team 14, Section 13</cp:lastModifiedBy>
  <cp:revision>1</cp:revision>
  <dcterms:created xsi:type="dcterms:W3CDTF">2026-10-02T11:17:18Z</dcterms:created>
  <dcterms:modified xsi:type="dcterms:W3CDTF">2026-10-02T11:17:18Z</dcterms:modified>
</cp:coreProperties>
</file>